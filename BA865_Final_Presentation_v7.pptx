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hxqVnv4V3bPybiFGwI0aSfiSOJ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8" name="Google Shape;8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7" name="Google Shape;12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1" name="Google Shape;16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3" name="Google Shape;23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66" name="Google Shape;26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72" name="Google Shape;37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55" name="Google Shape;45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5" name="Google Shape;52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26" name="Google Shape;52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3" name="Google Shape;56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64" name="Google Shape;56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4" name="Google Shape;624;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25" name="Google Shape;625;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8" name="Google Shape;67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79" name="Google Shape;679;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0" name="Google Shape;74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41" name="Google Shape;741;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4" name="Google Shape;77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75" name="Google Shape;775;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7" name="Google Shape;84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48" name="Google Shape;848;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28.png"/><Relationship Id="rId13" Type="http://schemas.openxmlformats.org/officeDocument/2006/relationships/image" Target="../media/image26.png"/><Relationship Id="rId12" Type="http://schemas.openxmlformats.org/officeDocument/2006/relationships/image" Target="../media/image31.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30.png"/><Relationship Id="rId9" Type="http://schemas.openxmlformats.org/officeDocument/2006/relationships/image" Target="../media/image29.png"/><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21.png"/><Relationship Id="rId8"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1" name="Shape 11"/>
        <p:cNvGrpSpPr/>
        <p:nvPr/>
      </p:nvGrpSpPr>
      <p:grpSpPr>
        <a:xfrm>
          <a:off x="0" y="0"/>
          <a:ext cx="0" cy="0"/>
          <a:chOff x="0" y="0"/>
          <a:chExt cx="0" cy="0"/>
        </a:xfrm>
      </p:grpSpPr>
      <p:cxnSp>
        <p:nvCxnSpPr>
          <p:cNvPr id="12" name="Google Shape;12;p1"/>
          <p:cNvCxnSpPr/>
          <p:nvPr/>
        </p:nvCxnSpPr>
        <p:spPr>
          <a:xfrm>
            <a:off x="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13" name="Google Shape;13;p1"/>
          <p:cNvCxnSpPr/>
          <p:nvPr/>
        </p:nvCxnSpPr>
        <p:spPr>
          <a:xfrm>
            <a:off x="457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14" name="Google Shape;14;p1"/>
          <p:cNvCxnSpPr/>
          <p:nvPr/>
        </p:nvCxnSpPr>
        <p:spPr>
          <a:xfrm>
            <a:off x="914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15" name="Google Shape;15;p1"/>
          <p:cNvCxnSpPr/>
          <p:nvPr/>
        </p:nvCxnSpPr>
        <p:spPr>
          <a:xfrm>
            <a:off x="1371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16" name="Google Shape;16;p1"/>
          <p:cNvCxnSpPr/>
          <p:nvPr/>
        </p:nvCxnSpPr>
        <p:spPr>
          <a:xfrm>
            <a:off x="1828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17" name="Google Shape;17;p1"/>
          <p:cNvCxnSpPr/>
          <p:nvPr/>
        </p:nvCxnSpPr>
        <p:spPr>
          <a:xfrm>
            <a:off x="2286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18" name="Google Shape;18;p1"/>
          <p:cNvCxnSpPr/>
          <p:nvPr/>
        </p:nvCxnSpPr>
        <p:spPr>
          <a:xfrm>
            <a:off x="2743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19" name="Google Shape;19;p1"/>
          <p:cNvCxnSpPr/>
          <p:nvPr/>
        </p:nvCxnSpPr>
        <p:spPr>
          <a:xfrm>
            <a:off x="3200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20" name="Google Shape;20;p1"/>
          <p:cNvCxnSpPr/>
          <p:nvPr/>
        </p:nvCxnSpPr>
        <p:spPr>
          <a:xfrm>
            <a:off x="3657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21" name="Google Shape;21;p1"/>
          <p:cNvCxnSpPr/>
          <p:nvPr/>
        </p:nvCxnSpPr>
        <p:spPr>
          <a:xfrm>
            <a:off x="4114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22" name="Google Shape;22;p1"/>
          <p:cNvCxnSpPr/>
          <p:nvPr/>
        </p:nvCxnSpPr>
        <p:spPr>
          <a:xfrm>
            <a:off x="4572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23" name="Google Shape;23;p1"/>
          <p:cNvCxnSpPr/>
          <p:nvPr/>
        </p:nvCxnSpPr>
        <p:spPr>
          <a:xfrm>
            <a:off x="5029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24" name="Google Shape;24;p1"/>
          <p:cNvCxnSpPr/>
          <p:nvPr/>
        </p:nvCxnSpPr>
        <p:spPr>
          <a:xfrm>
            <a:off x="5486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25" name="Google Shape;25;p1"/>
          <p:cNvCxnSpPr/>
          <p:nvPr/>
        </p:nvCxnSpPr>
        <p:spPr>
          <a:xfrm>
            <a:off x="5943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26" name="Google Shape;26;p1"/>
          <p:cNvCxnSpPr/>
          <p:nvPr/>
        </p:nvCxnSpPr>
        <p:spPr>
          <a:xfrm>
            <a:off x="6400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27" name="Google Shape;27;p1"/>
          <p:cNvCxnSpPr/>
          <p:nvPr/>
        </p:nvCxnSpPr>
        <p:spPr>
          <a:xfrm>
            <a:off x="6858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28" name="Google Shape;28;p1"/>
          <p:cNvCxnSpPr/>
          <p:nvPr/>
        </p:nvCxnSpPr>
        <p:spPr>
          <a:xfrm>
            <a:off x="7315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29" name="Google Shape;29;p1"/>
          <p:cNvCxnSpPr/>
          <p:nvPr/>
        </p:nvCxnSpPr>
        <p:spPr>
          <a:xfrm>
            <a:off x="7772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30" name="Google Shape;30;p1"/>
          <p:cNvCxnSpPr/>
          <p:nvPr/>
        </p:nvCxnSpPr>
        <p:spPr>
          <a:xfrm>
            <a:off x="8229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31" name="Google Shape;31;p1"/>
          <p:cNvCxnSpPr/>
          <p:nvPr/>
        </p:nvCxnSpPr>
        <p:spPr>
          <a:xfrm>
            <a:off x="8686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32" name="Google Shape;32;p1"/>
          <p:cNvCxnSpPr/>
          <p:nvPr/>
        </p:nvCxnSpPr>
        <p:spPr>
          <a:xfrm>
            <a:off x="9144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33" name="Google Shape;33;p1"/>
          <p:cNvCxnSpPr/>
          <p:nvPr/>
        </p:nvCxnSpPr>
        <p:spPr>
          <a:xfrm>
            <a:off x="9601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34" name="Google Shape;34;p1"/>
          <p:cNvCxnSpPr/>
          <p:nvPr/>
        </p:nvCxnSpPr>
        <p:spPr>
          <a:xfrm>
            <a:off x="10058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35" name="Google Shape;35;p1"/>
          <p:cNvCxnSpPr/>
          <p:nvPr/>
        </p:nvCxnSpPr>
        <p:spPr>
          <a:xfrm>
            <a:off x="10515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36" name="Google Shape;36;p1"/>
          <p:cNvCxnSpPr/>
          <p:nvPr/>
        </p:nvCxnSpPr>
        <p:spPr>
          <a:xfrm>
            <a:off x="10972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37" name="Google Shape;37;p1"/>
          <p:cNvCxnSpPr/>
          <p:nvPr/>
        </p:nvCxnSpPr>
        <p:spPr>
          <a:xfrm>
            <a:off x="11430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38" name="Google Shape;38;p1"/>
          <p:cNvCxnSpPr/>
          <p:nvPr/>
        </p:nvCxnSpPr>
        <p:spPr>
          <a:xfrm>
            <a:off x="11887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39" name="Google Shape;39;p1"/>
          <p:cNvCxnSpPr/>
          <p:nvPr/>
        </p:nvCxnSpPr>
        <p:spPr>
          <a:xfrm>
            <a:off x="0" y="0"/>
            <a:ext cx="12188952" cy="0"/>
          </a:xfrm>
          <a:prstGeom prst="straightConnector1">
            <a:avLst/>
          </a:prstGeom>
          <a:noFill/>
          <a:ln cap="flat" cmpd="sng" w="9525">
            <a:solidFill>
              <a:srgbClr val="2A4870"/>
            </a:solidFill>
            <a:prstDash val="solid"/>
            <a:round/>
            <a:headEnd len="sm" w="sm" type="none"/>
            <a:tailEnd len="sm" w="sm" type="none"/>
          </a:ln>
        </p:spPr>
      </p:cxnSp>
      <p:cxnSp>
        <p:nvCxnSpPr>
          <p:cNvPr id="40" name="Google Shape;40;p1"/>
          <p:cNvCxnSpPr/>
          <p:nvPr/>
        </p:nvCxnSpPr>
        <p:spPr>
          <a:xfrm>
            <a:off x="0" y="4572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41" name="Google Shape;41;p1"/>
          <p:cNvCxnSpPr/>
          <p:nvPr/>
        </p:nvCxnSpPr>
        <p:spPr>
          <a:xfrm>
            <a:off x="0" y="9144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42" name="Google Shape;42;p1"/>
          <p:cNvCxnSpPr/>
          <p:nvPr/>
        </p:nvCxnSpPr>
        <p:spPr>
          <a:xfrm>
            <a:off x="0" y="13716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43" name="Google Shape;43;p1"/>
          <p:cNvCxnSpPr/>
          <p:nvPr/>
        </p:nvCxnSpPr>
        <p:spPr>
          <a:xfrm>
            <a:off x="0" y="18288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44" name="Google Shape;44;p1"/>
          <p:cNvCxnSpPr/>
          <p:nvPr/>
        </p:nvCxnSpPr>
        <p:spPr>
          <a:xfrm>
            <a:off x="0" y="22860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45" name="Google Shape;45;p1"/>
          <p:cNvCxnSpPr/>
          <p:nvPr/>
        </p:nvCxnSpPr>
        <p:spPr>
          <a:xfrm>
            <a:off x="0" y="27432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46" name="Google Shape;46;p1"/>
          <p:cNvCxnSpPr/>
          <p:nvPr/>
        </p:nvCxnSpPr>
        <p:spPr>
          <a:xfrm>
            <a:off x="0" y="32004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47" name="Google Shape;47;p1"/>
          <p:cNvCxnSpPr/>
          <p:nvPr/>
        </p:nvCxnSpPr>
        <p:spPr>
          <a:xfrm>
            <a:off x="0" y="36576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48" name="Google Shape;48;p1"/>
          <p:cNvCxnSpPr/>
          <p:nvPr/>
        </p:nvCxnSpPr>
        <p:spPr>
          <a:xfrm>
            <a:off x="0" y="41148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49" name="Google Shape;49;p1"/>
          <p:cNvCxnSpPr/>
          <p:nvPr/>
        </p:nvCxnSpPr>
        <p:spPr>
          <a:xfrm>
            <a:off x="0" y="45720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50" name="Google Shape;50;p1"/>
          <p:cNvCxnSpPr/>
          <p:nvPr/>
        </p:nvCxnSpPr>
        <p:spPr>
          <a:xfrm>
            <a:off x="0" y="50292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51" name="Google Shape;51;p1"/>
          <p:cNvCxnSpPr/>
          <p:nvPr/>
        </p:nvCxnSpPr>
        <p:spPr>
          <a:xfrm>
            <a:off x="0" y="54864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52" name="Google Shape;52;p1"/>
          <p:cNvCxnSpPr/>
          <p:nvPr/>
        </p:nvCxnSpPr>
        <p:spPr>
          <a:xfrm>
            <a:off x="0" y="59436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53" name="Google Shape;53;p1"/>
          <p:cNvCxnSpPr/>
          <p:nvPr/>
        </p:nvCxnSpPr>
        <p:spPr>
          <a:xfrm>
            <a:off x="0" y="64008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54" name="Google Shape;54;p1"/>
          <p:cNvCxnSpPr/>
          <p:nvPr/>
        </p:nvCxnSpPr>
        <p:spPr>
          <a:xfrm>
            <a:off x="0" y="68580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55" name="Google Shape;55;p1"/>
          <p:cNvCxnSpPr/>
          <p:nvPr/>
        </p:nvCxnSpPr>
        <p:spPr>
          <a:xfrm>
            <a:off x="1828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56" name="Google Shape;56;p1"/>
          <p:cNvCxnSpPr/>
          <p:nvPr/>
        </p:nvCxnSpPr>
        <p:spPr>
          <a:xfrm>
            <a:off x="3657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57" name="Google Shape;57;p1"/>
          <p:cNvCxnSpPr/>
          <p:nvPr/>
        </p:nvCxnSpPr>
        <p:spPr>
          <a:xfrm>
            <a:off x="5486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58" name="Google Shape;58;p1"/>
          <p:cNvCxnSpPr/>
          <p:nvPr/>
        </p:nvCxnSpPr>
        <p:spPr>
          <a:xfrm>
            <a:off x="7315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59" name="Google Shape;59;p1"/>
          <p:cNvCxnSpPr/>
          <p:nvPr/>
        </p:nvCxnSpPr>
        <p:spPr>
          <a:xfrm>
            <a:off x="9144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0" name="Google Shape;60;p1"/>
          <p:cNvCxnSpPr/>
          <p:nvPr/>
        </p:nvCxnSpPr>
        <p:spPr>
          <a:xfrm>
            <a:off x="10972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1" name="Google Shape;61;p1"/>
          <p:cNvCxnSpPr/>
          <p:nvPr/>
        </p:nvCxnSpPr>
        <p:spPr>
          <a:xfrm>
            <a:off x="0" y="13716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62" name="Google Shape;62;p1"/>
          <p:cNvCxnSpPr/>
          <p:nvPr/>
        </p:nvCxnSpPr>
        <p:spPr>
          <a:xfrm>
            <a:off x="0" y="27432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63" name="Google Shape;63;p1"/>
          <p:cNvCxnSpPr/>
          <p:nvPr/>
        </p:nvCxnSpPr>
        <p:spPr>
          <a:xfrm>
            <a:off x="0" y="41148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64" name="Google Shape;64;p1"/>
          <p:cNvCxnSpPr/>
          <p:nvPr/>
        </p:nvCxnSpPr>
        <p:spPr>
          <a:xfrm>
            <a:off x="0" y="54864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65" name="Google Shape;65;p1"/>
          <p:cNvCxnSpPr/>
          <p:nvPr/>
        </p:nvCxnSpPr>
        <p:spPr>
          <a:xfrm>
            <a:off x="502920" y="640080"/>
            <a:ext cx="274320" cy="0"/>
          </a:xfrm>
          <a:prstGeom prst="straightConnector1">
            <a:avLst/>
          </a:prstGeom>
          <a:noFill/>
          <a:ln cap="flat" cmpd="sng" w="12700">
            <a:solidFill>
              <a:srgbClr val="5B9573"/>
            </a:solidFill>
            <a:prstDash val="solid"/>
            <a:round/>
            <a:headEnd len="sm" w="sm" type="none"/>
            <a:tailEnd len="sm" w="sm" type="none"/>
          </a:ln>
        </p:spPr>
      </p:cxnSp>
      <p:cxnSp>
        <p:nvCxnSpPr>
          <p:cNvPr id="66" name="Google Shape;66;p1"/>
          <p:cNvCxnSpPr/>
          <p:nvPr/>
        </p:nvCxnSpPr>
        <p:spPr>
          <a:xfrm>
            <a:off x="640080" y="502920"/>
            <a:ext cx="0" cy="274320"/>
          </a:xfrm>
          <a:prstGeom prst="straightConnector1">
            <a:avLst/>
          </a:prstGeom>
          <a:noFill/>
          <a:ln cap="flat" cmpd="sng" w="12700">
            <a:solidFill>
              <a:srgbClr val="5B9573"/>
            </a:solidFill>
            <a:prstDash val="solid"/>
            <a:round/>
            <a:headEnd len="sm" w="sm" type="none"/>
            <a:tailEnd len="sm" w="sm" type="none"/>
          </a:ln>
        </p:spPr>
      </p:cxnSp>
      <p:sp>
        <p:nvSpPr>
          <p:cNvPr id="67" name="Google Shape;67;p1"/>
          <p:cNvSpPr/>
          <p:nvPr/>
        </p:nvSpPr>
        <p:spPr>
          <a:xfrm>
            <a:off x="617220" y="617220"/>
            <a:ext cx="45720" cy="4572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68" name="Google Shape;68;p1"/>
          <p:cNvCxnSpPr/>
          <p:nvPr/>
        </p:nvCxnSpPr>
        <p:spPr>
          <a:xfrm>
            <a:off x="11411712" y="640080"/>
            <a:ext cx="274320" cy="0"/>
          </a:xfrm>
          <a:prstGeom prst="straightConnector1">
            <a:avLst/>
          </a:prstGeom>
          <a:noFill/>
          <a:ln cap="flat" cmpd="sng" w="12700">
            <a:solidFill>
              <a:srgbClr val="5B9573"/>
            </a:solidFill>
            <a:prstDash val="solid"/>
            <a:round/>
            <a:headEnd len="sm" w="sm" type="none"/>
            <a:tailEnd len="sm" w="sm" type="none"/>
          </a:ln>
        </p:spPr>
      </p:cxnSp>
      <p:cxnSp>
        <p:nvCxnSpPr>
          <p:cNvPr id="69" name="Google Shape;69;p1"/>
          <p:cNvCxnSpPr/>
          <p:nvPr/>
        </p:nvCxnSpPr>
        <p:spPr>
          <a:xfrm>
            <a:off x="11548872" y="502920"/>
            <a:ext cx="0" cy="274320"/>
          </a:xfrm>
          <a:prstGeom prst="straightConnector1">
            <a:avLst/>
          </a:prstGeom>
          <a:noFill/>
          <a:ln cap="flat" cmpd="sng" w="12700">
            <a:solidFill>
              <a:srgbClr val="5B9573"/>
            </a:solidFill>
            <a:prstDash val="solid"/>
            <a:round/>
            <a:headEnd len="sm" w="sm" type="none"/>
            <a:tailEnd len="sm" w="sm" type="none"/>
          </a:ln>
        </p:spPr>
      </p:cxnSp>
      <p:sp>
        <p:nvSpPr>
          <p:cNvPr id="70" name="Google Shape;70;p1"/>
          <p:cNvSpPr/>
          <p:nvPr/>
        </p:nvSpPr>
        <p:spPr>
          <a:xfrm>
            <a:off x="11526012" y="617220"/>
            <a:ext cx="45720" cy="4572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71" name="Google Shape;71;p1"/>
          <p:cNvCxnSpPr/>
          <p:nvPr/>
        </p:nvCxnSpPr>
        <p:spPr>
          <a:xfrm>
            <a:off x="502920" y="6217920"/>
            <a:ext cx="274320" cy="0"/>
          </a:xfrm>
          <a:prstGeom prst="straightConnector1">
            <a:avLst/>
          </a:prstGeom>
          <a:noFill/>
          <a:ln cap="flat" cmpd="sng" w="12700">
            <a:solidFill>
              <a:srgbClr val="5B9573"/>
            </a:solidFill>
            <a:prstDash val="solid"/>
            <a:round/>
            <a:headEnd len="sm" w="sm" type="none"/>
            <a:tailEnd len="sm" w="sm" type="none"/>
          </a:ln>
        </p:spPr>
      </p:cxnSp>
      <p:cxnSp>
        <p:nvCxnSpPr>
          <p:cNvPr id="72" name="Google Shape;72;p1"/>
          <p:cNvCxnSpPr/>
          <p:nvPr/>
        </p:nvCxnSpPr>
        <p:spPr>
          <a:xfrm>
            <a:off x="640080" y="6080760"/>
            <a:ext cx="0" cy="274320"/>
          </a:xfrm>
          <a:prstGeom prst="straightConnector1">
            <a:avLst/>
          </a:prstGeom>
          <a:noFill/>
          <a:ln cap="flat" cmpd="sng" w="12700">
            <a:solidFill>
              <a:srgbClr val="5B9573"/>
            </a:solidFill>
            <a:prstDash val="solid"/>
            <a:round/>
            <a:headEnd len="sm" w="sm" type="none"/>
            <a:tailEnd len="sm" w="sm" type="none"/>
          </a:ln>
        </p:spPr>
      </p:cxnSp>
      <p:sp>
        <p:nvSpPr>
          <p:cNvPr id="73" name="Google Shape;73;p1"/>
          <p:cNvSpPr/>
          <p:nvPr/>
        </p:nvSpPr>
        <p:spPr>
          <a:xfrm>
            <a:off x="617220" y="6195060"/>
            <a:ext cx="45720" cy="4572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74" name="Google Shape;74;p1"/>
          <p:cNvCxnSpPr/>
          <p:nvPr/>
        </p:nvCxnSpPr>
        <p:spPr>
          <a:xfrm>
            <a:off x="11411712" y="6217920"/>
            <a:ext cx="274320" cy="0"/>
          </a:xfrm>
          <a:prstGeom prst="straightConnector1">
            <a:avLst/>
          </a:prstGeom>
          <a:noFill/>
          <a:ln cap="flat" cmpd="sng" w="12700">
            <a:solidFill>
              <a:srgbClr val="5B9573"/>
            </a:solidFill>
            <a:prstDash val="solid"/>
            <a:round/>
            <a:headEnd len="sm" w="sm" type="none"/>
            <a:tailEnd len="sm" w="sm" type="none"/>
          </a:ln>
        </p:spPr>
      </p:cxnSp>
      <p:cxnSp>
        <p:nvCxnSpPr>
          <p:cNvPr id="75" name="Google Shape;75;p1"/>
          <p:cNvCxnSpPr/>
          <p:nvPr/>
        </p:nvCxnSpPr>
        <p:spPr>
          <a:xfrm>
            <a:off x="11548872" y="6080760"/>
            <a:ext cx="0" cy="274320"/>
          </a:xfrm>
          <a:prstGeom prst="straightConnector1">
            <a:avLst/>
          </a:prstGeom>
          <a:noFill/>
          <a:ln cap="flat" cmpd="sng" w="12700">
            <a:solidFill>
              <a:srgbClr val="5B9573"/>
            </a:solidFill>
            <a:prstDash val="solid"/>
            <a:round/>
            <a:headEnd len="sm" w="sm" type="none"/>
            <a:tailEnd len="sm" w="sm" type="none"/>
          </a:ln>
        </p:spPr>
      </p:cxnSp>
      <p:sp>
        <p:nvSpPr>
          <p:cNvPr id="76" name="Google Shape;76;p1"/>
          <p:cNvSpPr/>
          <p:nvPr/>
        </p:nvSpPr>
        <p:spPr>
          <a:xfrm>
            <a:off x="11526012" y="6195060"/>
            <a:ext cx="45720" cy="4572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1"/>
          <p:cNvSpPr/>
          <p:nvPr/>
        </p:nvSpPr>
        <p:spPr>
          <a:xfrm>
            <a:off x="4114800" y="502920"/>
            <a:ext cx="7315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A3"/>
              </a:buClr>
              <a:buSzPts val="800"/>
              <a:buFont typeface="Arial"/>
              <a:buNone/>
            </a:pPr>
            <a:r>
              <a:rPr lang="en-US" sz="800">
                <a:solidFill>
                  <a:srgbClr val="8B95A3"/>
                </a:solidFill>
                <a:latin typeface="Arial"/>
                <a:ea typeface="Arial"/>
                <a:cs typeface="Arial"/>
                <a:sym typeface="Arial"/>
              </a:rPr>
              <a:t>LAT 42.34°N  ·  LON 71.10°W  ·  SENSOR: NAIP RGB</a:t>
            </a:r>
            <a:endParaRPr sz="800">
              <a:solidFill>
                <a:schemeClr val="dk1"/>
              </a:solidFill>
              <a:latin typeface="Calibri"/>
              <a:ea typeface="Calibri"/>
              <a:cs typeface="Calibri"/>
              <a:sym typeface="Calibri"/>
            </a:endParaRPr>
          </a:p>
        </p:txBody>
      </p:sp>
      <p:sp>
        <p:nvSpPr>
          <p:cNvPr id="78" name="Google Shape;78;p1"/>
          <p:cNvSpPr/>
          <p:nvPr/>
        </p:nvSpPr>
        <p:spPr>
          <a:xfrm>
            <a:off x="914400" y="2377440"/>
            <a:ext cx="36576" cy="146304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1"/>
          <p:cNvSpPr/>
          <p:nvPr/>
        </p:nvSpPr>
        <p:spPr>
          <a:xfrm>
            <a:off x="1143000" y="2331720"/>
            <a:ext cx="8229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1000"/>
              <a:buFont typeface="Arial"/>
              <a:buNone/>
            </a:pPr>
            <a:r>
              <a:rPr b="1" lang="en-US" sz="1000">
                <a:solidFill>
                  <a:srgbClr val="5B9573"/>
                </a:solidFill>
                <a:latin typeface="Arial"/>
                <a:ea typeface="Arial"/>
                <a:cs typeface="Arial"/>
                <a:sym typeface="Arial"/>
              </a:rPr>
              <a:t>MASSACHUSETTS BUILT-PARCEL DETECTION</a:t>
            </a:r>
            <a:endParaRPr sz="1000">
              <a:solidFill>
                <a:schemeClr val="dk1"/>
              </a:solidFill>
              <a:latin typeface="Calibri"/>
              <a:ea typeface="Calibri"/>
              <a:cs typeface="Calibri"/>
              <a:sym typeface="Calibri"/>
            </a:endParaRPr>
          </a:p>
        </p:txBody>
      </p:sp>
      <p:sp>
        <p:nvSpPr>
          <p:cNvPr id="80" name="Google Shape;80;p1"/>
          <p:cNvSpPr/>
          <p:nvPr/>
        </p:nvSpPr>
        <p:spPr>
          <a:xfrm>
            <a:off x="1143000" y="2697480"/>
            <a:ext cx="10515600" cy="15544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3800"/>
              <a:buFont typeface="Arial"/>
              <a:buNone/>
            </a:pPr>
            <a:r>
              <a:rPr b="1" lang="en-US" sz="3800">
                <a:solidFill>
                  <a:srgbClr val="FFFFFF"/>
                </a:solidFill>
                <a:latin typeface="Arial"/>
                <a:ea typeface="Arial"/>
                <a:cs typeface="Arial"/>
                <a:sym typeface="Arial"/>
              </a:rPr>
              <a:t>Parcel-Level Built / Not-Built</a:t>
            </a:r>
            <a:endParaRPr sz="3800">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3800"/>
              <a:buFont typeface="Arial"/>
              <a:buNone/>
            </a:pPr>
            <a:r>
              <a:rPr b="1" lang="en-US" sz="3800">
                <a:solidFill>
                  <a:srgbClr val="FFFFFF"/>
                </a:solidFill>
                <a:latin typeface="Arial"/>
                <a:ea typeface="Arial"/>
                <a:cs typeface="Arial"/>
                <a:sym typeface="Arial"/>
              </a:rPr>
              <a:t>Classification from Aerial Imagery</a:t>
            </a:r>
            <a:endParaRPr sz="3800">
              <a:solidFill>
                <a:schemeClr val="dk1"/>
              </a:solidFill>
              <a:latin typeface="Calibri"/>
              <a:ea typeface="Calibri"/>
              <a:cs typeface="Calibri"/>
              <a:sym typeface="Calibri"/>
            </a:endParaRPr>
          </a:p>
        </p:txBody>
      </p:sp>
      <p:sp>
        <p:nvSpPr>
          <p:cNvPr id="81" name="Google Shape;81;p1"/>
          <p:cNvSpPr/>
          <p:nvPr/>
        </p:nvSpPr>
        <p:spPr>
          <a:xfrm>
            <a:off x="1143000" y="4434840"/>
            <a:ext cx="10058400" cy="45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8C5D6"/>
              </a:buClr>
              <a:buSzPts val="1400"/>
              <a:buFont typeface="Arial"/>
              <a:buNone/>
            </a:pPr>
            <a:r>
              <a:rPr i="1" lang="en-US" sz="1400">
                <a:solidFill>
                  <a:srgbClr val="B8C5D6"/>
                </a:solidFill>
                <a:latin typeface="Arial"/>
                <a:ea typeface="Arial"/>
                <a:cs typeface="Arial"/>
                <a:sym typeface="Arial"/>
              </a:rPr>
              <a:t>A Convolutional Neural Network for screening municipal parcel records against current aerial imagery</a:t>
            </a:r>
            <a:endParaRPr sz="1400">
              <a:solidFill>
                <a:schemeClr val="dk1"/>
              </a:solidFill>
              <a:latin typeface="Calibri"/>
              <a:ea typeface="Calibri"/>
              <a:cs typeface="Calibri"/>
              <a:sym typeface="Calibri"/>
            </a:endParaRPr>
          </a:p>
        </p:txBody>
      </p:sp>
      <p:cxnSp>
        <p:nvCxnSpPr>
          <p:cNvPr id="82" name="Google Shape;82;p1"/>
          <p:cNvCxnSpPr/>
          <p:nvPr/>
        </p:nvCxnSpPr>
        <p:spPr>
          <a:xfrm>
            <a:off x="914400" y="5897880"/>
            <a:ext cx="1219199" cy="0"/>
          </a:xfrm>
          <a:prstGeom prst="straightConnector1">
            <a:avLst/>
          </a:prstGeom>
          <a:noFill/>
          <a:ln cap="flat" cmpd="sng" w="15875">
            <a:solidFill>
              <a:srgbClr val="5B9573"/>
            </a:solidFill>
            <a:prstDash val="solid"/>
            <a:round/>
            <a:headEnd len="sm" w="sm" type="none"/>
            <a:tailEnd len="sm" w="sm" type="none"/>
          </a:ln>
        </p:spPr>
      </p:cxnSp>
      <p:sp>
        <p:nvSpPr>
          <p:cNvPr id="83" name="Google Shape;83;p1"/>
          <p:cNvSpPr/>
          <p:nvPr/>
        </p:nvSpPr>
        <p:spPr>
          <a:xfrm>
            <a:off x="914400" y="5989320"/>
            <a:ext cx="274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800"/>
              <a:buFont typeface="Arial"/>
              <a:buNone/>
            </a:pPr>
            <a:r>
              <a:rPr b="1" lang="en-US" sz="800">
                <a:solidFill>
                  <a:srgbClr val="5B9573"/>
                </a:solidFill>
                <a:latin typeface="Arial"/>
                <a:ea typeface="Arial"/>
                <a:cs typeface="Arial"/>
                <a:sym typeface="Arial"/>
              </a:rPr>
              <a:t>DATE</a:t>
            </a:r>
            <a:endParaRPr sz="800">
              <a:solidFill>
                <a:schemeClr val="dk1"/>
              </a:solidFill>
              <a:latin typeface="Calibri"/>
              <a:ea typeface="Calibri"/>
              <a:cs typeface="Calibri"/>
              <a:sym typeface="Calibri"/>
            </a:endParaRPr>
          </a:p>
        </p:txBody>
      </p:sp>
      <p:sp>
        <p:nvSpPr>
          <p:cNvPr id="84" name="Google Shape;84;p1"/>
          <p:cNvSpPr/>
          <p:nvPr/>
        </p:nvSpPr>
        <p:spPr>
          <a:xfrm>
            <a:off x="914400" y="619963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lang="en-US" sz="1100">
                <a:solidFill>
                  <a:srgbClr val="FFFFFF"/>
                </a:solidFill>
                <a:latin typeface="Arial"/>
                <a:ea typeface="Arial"/>
                <a:cs typeface="Arial"/>
                <a:sym typeface="Arial"/>
              </a:rPr>
              <a:t>APRIL 2026</a:t>
            </a:r>
            <a:endParaRPr sz="11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89" name="Shape 89"/>
        <p:cNvGrpSpPr/>
        <p:nvPr/>
      </p:nvGrpSpPr>
      <p:grpSpPr>
        <a:xfrm>
          <a:off x="0" y="0"/>
          <a:ext cx="0" cy="0"/>
          <a:chOff x="0" y="0"/>
          <a:chExt cx="0" cy="0"/>
        </a:xfrm>
      </p:grpSpPr>
      <p:sp>
        <p:nvSpPr>
          <p:cNvPr id="90" name="Google Shape;90;p2"/>
          <p:cNvSpPr/>
          <p:nvPr/>
        </p:nvSpPr>
        <p:spPr>
          <a:xfrm>
            <a:off x="457200" y="365760"/>
            <a:ext cx="320040" cy="18288"/>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2"/>
          <p:cNvSpPr/>
          <p:nvPr/>
        </p:nvSpPr>
        <p:spPr>
          <a:xfrm>
            <a:off x="457200" y="411480"/>
            <a:ext cx="112470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lang="en-US" sz="2800">
                <a:solidFill>
                  <a:srgbClr val="FFFFFF"/>
                </a:solidFill>
                <a:latin typeface="Arial"/>
                <a:ea typeface="Arial"/>
                <a:cs typeface="Arial"/>
                <a:sym typeface="Arial"/>
              </a:rPr>
              <a:t>Executive Summary</a:t>
            </a:r>
            <a:endParaRPr sz="2800">
              <a:solidFill>
                <a:schemeClr val="dk1"/>
              </a:solidFill>
              <a:latin typeface="Calibri"/>
              <a:ea typeface="Calibri"/>
              <a:cs typeface="Calibri"/>
              <a:sym typeface="Calibri"/>
            </a:endParaRPr>
          </a:p>
        </p:txBody>
      </p:sp>
      <p:sp>
        <p:nvSpPr>
          <p:cNvPr id="92" name="Google Shape;92;p2"/>
          <p:cNvSpPr/>
          <p:nvPr/>
        </p:nvSpPr>
        <p:spPr>
          <a:xfrm>
            <a:off x="457200" y="960120"/>
            <a:ext cx="11247000" cy="502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A parcel-level CNN that classifies built vs not built across three Massachusetts study areas</a:t>
            </a:r>
            <a:endParaRPr i="1" sz="1600">
              <a:solidFill>
                <a:srgbClr val="B8C5D6"/>
              </a:solidFill>
              <a:latin typeface="Arial"/>
              <a:ea typeface="Arial"/>
              <a:cs typeface="Arial"/>
              <a:sym typeface="Arial"/>
            </a:endParaRPr>
          </a:p>
          <a:p>
            <a:pPr indent="0" lvl="0" marL="0" marR="0" rtl="0" algn="l">
              <a:lnSpc>
                <a:spcPct val="120000"/>
              </a:lnSpc>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a:t>
            </a:r>
            <a:r>
              <a:rPr i="1" lang="en-US" sz="1600">
                <a:solidFill>
                  <a:srgbClr val="B8C5D6"/>
                </a:solidFill>
              </a:rPr>
              <a:t>Newton / Brookline, Framingham MetroWest, Worcester Edge).</a:t>
            </a:r>
            <a:endParaRPr sz="1600">
              <a:solidFill>
                <a:schemeClr val="dk1"/>
              </a:solidFill>
              <a:latin typeface="Calibri"/>
              <a:ea typeface="Calibri"/>
              <a:cs typeface="Calibri"/>
              <a:sym typeface="Calibri"/>
            </a:endParaRPr>
          </a:p>
        </p:txBody>
      </p:sp>
      <p:grpSp>
        <p:nvGrpSpPr>
          <p:cNvPr id="93" name="Google Shape;93;p2"/>
          <p:cNvGrpSpPr/>
          <p:nvPr/>
        </p:nvGrpSpPr>
        <p:grpSpPr>
          <a:xfrm>
            <a:off x="473440" y="1697379"/>
            <a:ext cx="502920" cy="502920"/>
            <a:chOff x="548640" y="1554480"/>
            <a:chExt cx="502920" cy="502920"/>
          </a:xfrm>
        </p:grpSpPr>
        <p:sp>
          <p:nvSpPr>
            <p:cNvPr id="94" name="Google Shape;94;p2"/>
            <p:cNvSpPr/>
            <p:nvPr/>
          </p:nvSpPr>
          <p:spPr>
            <a:xfrm>
              <a:off x="548640" y="1554480"/>
              <a:ext cx="502920" cy="502920"/>
            </a:xfrm>
            <a:prstGeom prst="rect">
              <a:avLst/>
            </a:prstGeom>
            <a:solidFill>
              <a:srgbClr val="152540"/>
            </a:solidFill>
            <a:ln cap="flat" cmpd="sng" w="12700">
              <a:solidFill>
                <a:srgbClr val="15254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95" name="Google Shape;95;p2"/>
            <p:cNvPicPr preferRelativeResize="0"/>
            <p:nvPr/>
          </p:nvPicPr>
          <p:blipFill rotWithShape="1">
            <a:blip r:embed="rId3">
              <a:alphaModFix/>
            </a:blip>
            <a:srcRect b="0" l="0" r="0" t="0"/>
            <a:stretch/>
          </p:blipFill>
          <p:spPr>
            <a:xfrm>
              <a:off x="640080" y="1645920"/>
              <a:ext cx="320040" cy="320040"/>
            </a:xfrm>
            <a:prstGeom prst="rect">
              <a:avLst/>
            </a:prstGeom>
            <a:noFill/>
            <a:ln>
              <a:noFill/>
            </a:ln>
          </p:spPr>
        </p:pic>
      </p:grpSp>
      <p:sp>
        <p:nvSpPr>
          <p:cNvPr id="96" name="Google Shape;96;p2"/>
          <p:cNvSpPr/>
          <p:nvPr/>
        </p:nvSpPr>
        <p:spPr>
          <a:xfrm>
            <a:off x="1158368" y="1788819"/>
            <a:ext cx="1463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Problem</a:t>
            </a:r>
            <a:endParaRPr sz="1600">
              <a:solidFill>
                <a:schemeClr val="dk1"/>
              </a:solidFill>
              <a:latin typeface="Calibri"/>
              <a:ea typeface="Calibri"/>
              <a:cs typeface="Calibri"/>
              <a:sym typeface="Calibri"/>
            </a:endParaRPr>
          </a:p>
        </p:txBody>
      </p:sp>
      <p:sp>
        <p:nvSpPr>
          <p:cNvPr id="97" name="Google Shape;97;p2"/>
          <p:cNvSpPr/>
          <p:nvPr/>
        </p:nvSpPr>
        <p:spPr>
          <a:xfrm>
            <a:off x="2592288" y="1560218"/>
            <a:ext cx="90159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600"/>
              <a:buFont typeface="Arial"/>
              <a:buNone/>
            </a:pPr>
            <a:r>
              <a:rPr lang="en-US" sz="1600">
                <a:solidFill>
                  <a:schemeClr val="lt2"/>
                </a:solidFill>
                <a:latin typeface="Arial"/>
                <a:ea typeface="Arial"/>
                <a:cs typeface="Arial"/>
                <a:sym typeface="Arial"/>
              </a:rPr>
              <a:t>Massachusetts assessors maintain </a:t>
            </a:r>
            <a:r>
              <a:rPr b="1" lang="en-US" sz="1600">
                <a:solidFill>
                  <a:schemeClr val="lt2"/>
                </a:solidFill>
              </a:rPr>
              <a:t>~90,000 parcel records manually</a:t>
            </a:r>
            <a:r>
              <a:rPr lang="en-US" sz="1600">
                <a:solidFill>
                  <a:schemeClr val="lt2"/>
                </a:solidFill>
                <a:latin typeface="Arial"/>
                <a:ea typeface="Arial"/>
                <a:cs typeface="Arial"/>
                <a:sym typeface="Arial"/>
              </a:rPr>
              <a:t>. Aerial imagery offers an automatable cross-check that does not yet exist in their workflow.</a:t>
            </a:r>
            <a:endParaRPr sz="1600">
              <a:solidFill>
                <a:schemeClr val="lt2"/>
              </a:solidFill>
              <a:latin typeface="Calibri"/>
              <a:ea typeface="Calibri"/>
              <a:cs typeface="Calibri"/>
              <a:sym typeface="Calibri"/>
            </a:endParaRPr>
          </a:p>
        </p:txBody>
      </p:sp>
      <p:cxnSp>
        <p:nvCxnSpPr>
          <p:cNvPr id="98" name="Google Shape;98;p2"/>
          <p:cNvCxnSpPr/>
          <p:nvPr/>
        </p:nvCxnSpPr>
        <p:spPr>
          <a:xfrm>
            <a:off x="1204960" y="2458091"/>
            <a:ext cx="10332600" cy="0"/>
          </a:xfrm>
          <a:prstGeom prst="straightConnector1">
            <a:avLst/>
          </a:prstGeom>
          <a:noFill/>
          <a:ln cap="flat" cmpd="sng" w="9525">
            <a:solidFill>
              <a:srgbClr val="2A4870"/>
            </a:solidFill>
            <a:prstDash val="solid"/>
            <a:round/>
            <a:headEnd len="sm" w="sm" type="none"/>
            <a:tailEnd len="sm" w="sm" type="none"/>
          </a:ln>
        </p:spPr>
      </p:cxnSp>
      <p:grpSp>
        <p:nvGrpSpPr>
          <p:cNvPr id="99" name="Google Shape;99;p2"/>
          <p:cNvGrpSpPr/>
          <p:nvPr/>
        </p:nvGrpSpPr>
        <p:grpSpPr>
          <a:xfrm>
            <a:off x="473440" y="2715882"/>
            <a:ext cx="502920" cy="502920"/>
            <a:chOff x="548640" y="2423160"/>
            <a:chExt cx="502920" cy="502920"/>
          </a:xfrm>
        </p:grpSpPr>
        <p:sp>
          <p:nvSpPr>
            <p:cNvPr id="100" name="Google Shape;100;p2"/>
            <p:cNvSpPr/>
            <p:nvPr/>
          </p:nvSpPr>
          <p:spPr>
            <a:xfrm>
              <a:off x="548640" y="2423160"/>
              <a:ext cx="502920" cy="502920"/>
            </a:xfrm>
            <a:prstGeom prst="rect">
              <a:avLst/>
            </a:prstGeom>
            <a:solidFill>
              <a:srgbClr val="152540"/>
            </a:solidFill>
            <a:ln cap="flat" cmpd="sng" w="12700">
              <a:solidFill>
                <a:srgbClr val="15254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1" name="Google Shape;101;p2"/>
            <p:cNvPicPr preferRelativeResize="0"/>
            <p:nvPr/>
          </p:nvPicPr>
          <p:blipFill rotWithShape="1">
            <a:blip r:embed="rId4">
              <a:alphaModFix/>
            </a:blip>
            <a:srcRect b="0" l="0" r="0" t="0"/>
            <a:stretch/>
          </p:blipFill>
          <p:spPr>
            <a:xfrm>
              <a:off x="640080" y="2514600"/>
              <a:ext cx="320040" cy="320040"/>
            </a:xfrm>
            <a:prstGeom prst="rect">
              <a:avLst/>
            </a:prstGeom>
            <a:noFill/>
            <a:ln>
              <a:noFill/>
            </a:ln>
          </p:spPr>
        </p:pic>
      </p:grpSp>
      <p:sp>
        <p:nvSpPr>
          <p:cNvPr id="102" name="Google Shape;102;p2"/>
          <p:cNvSpPr/>
          <p:nvPr/>
        </p:nvSpPr>
        <p:spPr>
          <a:xfrm>
            <a:off x="1158368" y="2807323"/>
            <a:ext cx="1463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Solution</a:t>
            </a:r>
            <a:endParaRPr sz="1600">
              <a:solidFill>
                <a:schemeClr val="dk1"/>
              </a:solidFill>
              <a:latin typeface="Calibri"/>
              <a:ea typeface="Calibri"/>
              <a:cs typeface="Calibri"/>
              <a:sym typeface="Calibri"/>
            </a:endParaRPr>
          </a:p>
        </p:txBody>
      </p:sp>
      <p:sp>
        <p:nvSpPr>
          <p:cNvPr id="103" name="Google Shape;103;p2"/>
          <p:cNvSpPr/>
          <p:nvPr/>
        </p:nvSpPr>
        <p:spPr>
          <a:xfrm>
            <a:off x="2592288" y="2578723"/>
            <a:ext cx="90159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600"/>
              <a:buFont typeface="Arial"/>
              <a:buNone/>
            </a:pPr>
            <a:r>
              <a:rPr lang="en-US" sz="1600">
                <a:solidFill>
                  <a:schemeClr val="lt2"/>
                </a:solidFill>
                <a:latin typeface="Arial"/>
                <a:ea typeface="Arial"/>
                <a:cs typeface="Arial"/>
                <a:sym typeface="Arial"/>
              </a:rPr>
              <a:t>A </a:t>
            </a:r>
            <a:r>
              <a:rPr b="1" lang="en-US" sz="1600">
                <a:solidFill>
                  <a:schemeClr val="lt2"/>
                </a:solidFill>
              </a:rPr>
              <a:t>CNN that predicts whether a parcel appears built from a parcel-masked NAIP aerial crop</a:t>
            </a:r>
            <a:r>
              <a:rPr lang="en-US" sz="1600">
                <a:solidFill>
                  <a:schemeClr val="lt2"/>
                </a:solidFill>
                <a:latin typeface="Arial"/>
                <a:ea typeface="Arial"/>
                <a:cs typeface="Arial"/>
                <a:sym typeface="Arial"/>
              </a:rPr>
              <a:t>. Output is P(built) per parcel.</a:t>
            </a:r>
            <a:endParaRPr sz="1600">
              <a:solidFill>
                <a:schemeClr val="lt2"/>
              </a:solidFill>
              <a:latin typeface="Calibri"/>
              <a:ea typeface="Calibri"/>
              <a:cs typeface="Calibri"/>
              <a:sym typeface="Calibri"/>
            </a:endParaRPr>
          </a:p>
        </p:txBody>
      </p:sp>
      <p:cxnSp>
        <p:nvCxnSpPr>
          <p:cNvPr id="104" name="Google Shape;104;p2"/>
          <p:cNvCxnSpPr/>
          <p:nvPr/>
        </p:nvCxnSpPr>
        <p:spPr>
          <a:xfrm>
            <a:off x="1204960" y="3476595"/>
            <a:ext cx="10332600" cy="0"/>
          </a:xfrm>
          <a:prstGeom prst="straightConnector1">
            <a:avLst/>
          </a:prstGeom>
          <a:noFill/>
          <a:ln cap="flat" cmpd="sng" w="9525">
            <a:solidFill>
              <a:srgbClr val="2A4870"/>
            </a:solidFill>
            <a:prstDash val="solid"/>
            <a:round/>
            <a:headEnd len="sm" w="sm" type="none"/>
            <a:tailEnd len="sm" w="sm" type="none"/>
          </a:ln>
        </p:spPr>
      </p:cxnSp>
      <p:grpSp>
        <p:nvGrpSpPr>
          <p:cNvPr id="105" name="Google Shape;105;p2"/>
          <p:cNvGrpSpPr/>
          <p:nvPr/>
        </p:nvGrpSpPr>
        <p:grpSpPr>
          <a:xfrm>
            <a:off x="473440" y="3734387"/>
            <a:ext cx="502920" cy="502920"/>
            <a:chOff x="548640" y="3291840"/>
            <a:chExt cx="502920" cy="502920"/>
          </a:xfrm>
        </p:grpSpPr>
        <p:sp>
          <p:nvSpPr>
            <p:cNvPr id="106" name="Google Shape;106;p2"/>
            <p:cNvSpPr/>
            <p:nvPr/>
          </p:nvSpPr>
          <p:spPr>
            <a:xfrm>
              <a:off x="548640" y="3291840"/>
              <a:ext cx="502920" cy="502920"/>
            </a:xfrm>
            <a:prstGeom prst="rect">
              <a:avLst/>
            </a:prstGeom>
            <a:solidFill>
              <a:srgbClr val="152540"/>
            </a:solidFill>
            <a:ln cap="flat" cmpd="sng" w="12700">
              <a:solidFill>
                <a:srgbClr val="15254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7" name="Google Shape;107;p2"/>
            <p:cNvPicPr preferRelativeResize="0"/>
            <p:nvPr/>
          </p:nvPicPr>
          <p:blipFill rotWithShape="1">
            <a:blip r:embed="rId5">
              <a:alphaModFix/>
            </a:blip>
            <a:srcRect b="0" l="0" r="0" t="0"/>
            <a:stretch/>
          </p:blipFill>
          <p:spPr>
            <a:xfrm>
              <a:off x="640080" y="3383280"/>
              <a:ext cx="320040" cy="320040"/>
            </a:xfrm>
            <a:prstGeom prst="rect">
              <a:avLst/>
            </a:prstGeom>
            <a:noFill/>
            <a:ln>
              <a:noFill/>
            </a:ln>
          </p:spPr>
        </p:pic>
      </p:grpSp>
      <p:sp>
        <p:nvSpPr>
          <p:cNvPr id="108" name="Google Shape;108;p2"/>
          <p:cNvSpPr/>
          <p:nvPr/>
        </p:nvSpPr>
        <p:spPr>
          <a:xfrm>
            <a:off x="1158368" y="3825827"/>
            <a:ext cx="1463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Approach</a:t>
            </a:r>
            <a:endParaRPr sz="1600">
              <a:solidFill>
                <a:schemeClr val="dk1"/>
              </a:solidFill>
              <a:latin typeface="Calibri"/>
              <a:ea typeface="Calibri"/>
              <a:cs typeface="Calibri"/>
              <a:sym typeface="Calibri"/>
            </a:endParaRPr>
          </a:p>
        </p:txBody>
      </p:sp>
      <p:sp>
        <p:nvSpPr>
          <p:cNvPr id="109" name="Google Shape;109;p2"/>
          <p:cNvSpPr/>
          <p:nvPr/>
        </p:nvSpPr>
        <p:spPr>
          <a:xfrm>
            <a:off x="2592288" y="3597227"/>
            <a:ext cx="90159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600"/>
              <a:buFont typeface="Arial"/>
              <a:buNone/>
            </a:pPr>
            <a:r>
              <a:rPr b="1" lang="en-US" sz="1600">
                <a:solidFill>
                  <a:schemeClr val="lt2"/>
                </a:solidFill>
              </a:rPr>
              <a:t>Two architectures (an upgraded baseline CNN and a frozen MobileNetV2) </a:t>
            </a:r>
            <a:r>
              <a:rPr lang="en-US" sz="1600">
                <a:solidFill>
                  <a:schemeClr val="lt2"/>
                </a:solidFill>
                <a:latin typeface="Arial"/>
                <a:ea typeface="Arial"/>
                <a:cs typeface="Arial"/>
                <a:sym typeface="Arial"/>
              </a:rPr>
              <a:t>trained on ~4,000 balanced high-confidence parcels across three Massachusetts study areas.</a:t>
            </a:r>
            <a:endParaRPr sz="1600">
              <a:solidFill>
                <a:schemeClr val="lt2"/>
              </a:solidFill>
              <a:latin typeface="Calibri"/>
              <a:ea typeface="Calibri"/>
              <a:cs typeface="Calibri"/>
              <a:sym typeface="Calibri"/>
            </a:endParaRPr>
          </a:p>
        </p:txBody>
      </p:sp>
      <p:cxnSp>
        <p:nvCxnSpPr>
          <p:cNvPr id="110" name="Google Shape;110;p2"/>
          <p:cNvCxnSpPr/>
          <p:nvPr/>
        </p:nvCxnSpPr>
        <p:spPr>
          <a:xfrm>
            <a:off x="1204960" y="4495099"/>
            <a:ext cx="10332600" cy="0"/>
          </a:xfrm>
          <a:prstGeom prst="straightConnector1">
            <a:avLst/>
          </a:prstGeom>
          <a:noFill/>
          <a:ln cap="flat" cmpd="sng" w="9525">
            <a:solidFill>
              <a:srgbClr val="2A4870"/>
            </a:solidFill>
            <a:prstDash val="solid"/>
            <a:round/>
            <a:headEnd len="sm" w="sm" type="none"/>
            <a:tailEnd len="sm" w="sm" type="none"/>
          </a:ln>
        </p:spPr>
      </p:cxnSp>
      <p:grpSp>
        <p:nvGrpSpPr>
          <p:cNvPr id="111" name="Google Shape;111;p2"/>
          <p:cNvGrpSpPr/>
          <p:nvPr/>
        </p:nvGrpSpPr>
        <p:grpSpPr>
          <a:xfrm>
            <a:off x="473440" y="4752890"/>
            <a:ext cx="502920" cy="502920"/>
            <a:chOff x="548640" y="4160520"/>
            <a:chExt cx="502920" cy="502920"/>
          </a:xfrm>
        </p:grpSpPr>
        <p:sp>
          <p:nvSpPr>
            <p:cNvPr id="112" name="Google Shape;112;p2"/>
            <p:cNvSpPr/>
            <p:nvPr/>
          </p:nvSpPr>
          <p:spPr>
            <a:xfrm>
              <a:off x="548640" y="4160520"/>
              <a:ext cx="502920" cy="502920"/>
            </a:xfrm>
            <a:prstGeom prst="rect">
              <a:avLst/>
            </a:prstGeom>
            <a:solidFill>
              <a:srgbClr val="152540"/>
            </a:solidFill>
            <a:ln cap="flat" cmpd="sng" w="12700">
              <a:solidFill>
                <a:srgbClr val="15254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3" name="Google Shape;113;p2"/>
            <p:cNvPicPr preferRelativeResize="0"/>
            <p:nvPr/>
          </p:nvPicPr>
          <p:blipFill rotWithShape="1">
            <a:blip r:embed="rId6">
              <a:alphaModFix/>
            </a:blip>
            <a:srcRect b="0" l="0" r="0" t="0"/>
            <a:stretch/>
          </p:blipFill>
          <p:spPr>
            <a:xfrm>
              <a:off x="640080" y="4251960"/>
              <a:ext cx="320040" cy="320040"/>
            </a:xfrm>
            <a:prstGeom prst="rect">
              <a:avLst/>
            </a:prstGeom>
            <a:noFill/>
            <a:ln>
              <a:noFill/>
            </a:ln>
          </p:spPr>
        </p:pic>
      </p:grpSp>
      <p:sp>
        <p:nvSpPr>
          <p:cNvPr id="114" name="Google Shape;114;p2"/>
          <p:cNvSpPr/>
          <p:nvPr/>
        </p:nvSpPr>
        <p:spPr>
          <a:xfrm>
            <a:off x="1158368" y="4844331"/>
            <a:ext cx="1463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Result</a:t>
            </a:r>
            <a:endParaRPr sz="1600">
              <a:solidFill>
                <a:schemeClr val="dk1"/>
              </a:solidFill>
              <a:latin typeface="Calibri"/>
              <a:ea typeface="Calibri"/>
              <a:cs typeface="Calibri"/>
              <a:sym typeface="Calibri"/>
            </a:endParaRPr>
          </a:p>
        </p:txBody>
      </p:sp>
      <p:sp>
        <p:nvSpPr>
          <p:cNvPr id="115" name="Google Shape;115;p2"/>
          <p:cNvSpPr/>
          <p:nvPr/>
        </p:nvSpPr>
        <p:spPr>
          <a:xfrm>
            <a:off x="2592288" y="4615731"/>
            <a:ext cx="90159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600"/>
              <a:buFont typeface="Arial"/>
              <a:buNone/>
            </a:pPr>
            <a:r>
              <a:rPr b="1" lang="en-US" sz="1600">
                <a:solidFill>
                  <a:schemeClr val="lt2"/>
                </a:solidFill>
              </a:rPr>
              <a:t>Both models reach the high 0.9s on AUC against the proxy labels. </a:t>
            </a:r>
            <a:r>
              <a:rPr lang="en-US" sz="1600">
                <a:solidFill>
                  <a:schemeClr val="lt2"/>
                </a:solidFill>
                <a:latin typeface="Arial"/>
                <a:ea typeface="Arial"/>
                <a:cs typeface="Arial"/>
                <a:sym typeface="Arial"/>
              </a:rPr>
              <a:t>The upgraded baseline CNN edges MobileNetV2 on accuracy (0.948 vs 0.922) and matches it on AUC (0.989 vs 0.980).</a:t>
            </a:r>
            <a:endParaRPr sz="1600">
              <a:solidFill>
                <a:schemeClr val="lt2"/>
              </a:solidFill>
              <a:latin typeface="Calibri"/>
              <a:ea typeface="Calibri"/>
              <a:cs typeface="Calibri"/>
              <a:sym typeface="Calibri"/>
            </a:endParaRPr>
          </a:p>
        </p:txBody>
      </p:sp>
      <p:cxnSp>
        <p:nvCxnSpPr>
          <p:cNvPr id="116" name="Google Shape;116;p2"/>
          <p:cNvCxnSpPr/>
          <p:nvPr/>
        </p:nvCxnSpPr>
        <p:spPr>
          <a:xfrm>
            <a:off x="1204960" y="5513603"/>
            <a:ext cx="10332600" cy="0"/>
          </a:xfrm>
          <a:prstGeom prst="straightConnector1">
            <a:avLst/>
          </a:prstGeom>
          <a:noFill/>
          <a:ln cap="flat" cmpd="sng" w="9525">
            <a:solidFill>
              <a:srgbClr val="2A4870"/>
            </a:solidFill>
            <a:prstDash val="solid"/>
            <a:round/>
            <a:headEnd len="sm" w="sm" type="none"/>
            <a:tailEnd len="sm" w="sm" type="none"/>
          </a:ln>
        </p:spPr>
      </p:cxnSp>
      <p:grpSp>
        <p:nvGrpSpPr>
          <p:cNvPr id="117" name="Google Shape;117;p2"/>
          <p:cNvGrpSpPr/>
          <p:nvPr/>
        </p:nvGrpSpPr>
        <p:grpSpPr>
          <a:xfrm>
            <a:off x="473440" y="5771395"/>
            <a:ext cx="502920" cy="502920"/>
            <a:chOff x="548640" y="5029200"/>
            <a:chExt cx="502920" cy="502920"/>
          </a:xfrm>
        </p:grpSpPr>
        <p:sp>
          <p:nvSpPr>
            <p:cNvPr id="118" name="Google Shape;118;p2"/>
            <p:cNvSpPr/>
            <p:nvPr/>
          </p:nvSpPr>
          <p:spPr>
            <a:xfrm>
              <a:off x="548640" y="5029200"/>
              <a:ext cx="502920" cy="502920"/>
            </a:xfrm>
            <a:prstGeom prst="rect">
              <a:avLst/>
            </a:prstGeom>
            <a:solidFill>
              <a:srgbClr val="152540"/>
            </a:solidFill>
            <a:ln cap="flat" cmpd="sng" w="12700">
              <a:solidFill>
                <a:srgbClr val="15254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9" name="Google Shape;119;p2"/>
            <p:cNvPicPr preferRelativeResize="0"/>
            <p:nvPr/>
          </p:nvPicPr>
          <p:blipFill rotWithShape="1">
            <a:blip r:embed="rId7">
              <a:alphaModFix/>
            </a:blip>
            <a:srcRect b="0" l="0" r="0" t="0"/>
            <a:stretch/>
          </p:blipFill>
          <p:spPr>
            <a:xfrm>
              <a:off x="640080" y="5120640"/>
              <a:ext cx="320040" cy="320040"/>
            </a:xfrm>
            <a:prstGeom prst="rect">
              <a:avLst/>
            </a:prstGeom>
            <a:noFill/>
            <a:ln>
              <a:noFill/>
            </a:ln>
          </p:spPr>
        </p:pic>
      </p:grpSp>
      <p:sp>
        <p:nvSpPr>
          <p:cNvPr id="120" name="Google Shape;120;p2"/>
          <p:cNvSpPr/>
          <p:nvPr/>
        </p:nvSpPr>
        <p:spPr>
          <a:xfrm>
            <a:off x="1158368" y="5862835"/>
            <a:ext cx="1463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Deliverable</a:t>
            </a:r>
            <a:endParaRPr sz="1600">
              <a:solidFill>
                <a:schemeClr val="dk1"/>
              </a:solidFill>
              <a:latin typeface="Calibri"/>
              <a:ea typeface="Calibri"/>
              <a:cs typeface="Calibri"/>
              <a:sym typeface="Calibri"/>
            </a:endParaRPr>
          </a:p>
        </p:txBody>
      </p:sp>
      <p:sp>
        <p:nvSpPr>
          <p:cNvPr id="121" name="Google Shape;121;p2"/>
          <p:cNvSpPr/>
          <p:nvPr/>
        </p:nvSpPr>
        <p:spPr>
          <a:xfrm>
            <a:off x="2592288" y="5634235"/>
            <a:ext cx="90159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600"/>
              <a:buFont typeface="Arial"/>
              <a:buNone/>
            </a:pPr>
            <a:r>
              <a:rPr b="1" lang="en-US" sz="1600">
                <a:solidFill>
                  <a:schemeClr val="lt2"/>
                </a:solidFill>
              </a:rPr>
              <a:t>A working parcel-built classifier and an end-to-end pipeline.</a:t>
            </a:r>
            <a:r>
              <a:rPr lang="en-US" sz="1600">
                <a:solidFill>
                  <a:schemeClr val="lt2"/>
                </a:solidFill>
                <a:latin typeface="Arial"/>
                <a:ea typeface="Arial"/>
                <a:cs typeface="Arial"/>
                <a:sym typeface="Arial"/>
              </a:rPr>
              <a:t> The originally proposed label-error screening queue is honest future work, contingent on a manually verified evaluation set.</a:t>
            </a:r>
            <a:endParaRPr sz="1600">
              <a:solidFill>
                <a:schemeClr val="lt2"/>
              </a:solidFill>
              <a:latin typeface="Calibri"/>
              <a:ea typeface="Calibri"/>
              <a:cs typeface="Calibri"/>
              <a:sym typeface="Calibri"/>
            </a:endParaRPr>
          </a:p>
        </p:txBody>
      </p:sp>
      <p:cxnSp>
        <p:nvCxnSpPr>
          <p:cNvPr id="122" name="Google Shape;122;p2"/>
          <p:cNvCxnSpPr/>
          <p:nvPr/>
        </p:nvCxnSpPr>
        <p:spPr>
          <a:xfrm>
            <a:off x="382000" y="6532108"/>
            <a:ext cx="11247000" cy="0"/>
          </a:xfrm>
          <a:prstGeom prst="straightConnector1">
            <a:avLst/>
          </a:prstGeom>
          <a:noFill/>
          <a:ln cap="flat" cmpd="sng" w="9525">
            <a:solidFill>
              <a:srgbClr val="3D5478"/>
            </a:solidFill>
            <a:prstDash val="solid"/>
            <a:round/>
            <a:headEnd len="sm" w="sm" type="none"/>
            <a:tailEnd len="sm" w="sm" type="none"/>
          </a:ln>
        </p:spPr>
      </p:cxnSp>
      <p:sp>
        <p:nvSpPr>
          <p:cNvPr id="123" name="Google Shape;123;p2"/>
          <p:cNvSpPr/>
          <p:nvPr/>
        </p:nvSpPr>
        <p:spPr>
          <a:xfrm>
            <a:off x="10058450" y="6629392"/>
            <a:ext cx="16458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A3"/>
              </a:buClr>
              <a:buSzPts val="800"/>
              <a:buFont typeface="Arial"/>
              <a:buNone/>
            </a:pPr>
            <a:r>
              <a:rPr b="1" lang="en-US" sz="800">
                <a:solidFill>
                  <a:srgbClr val="8B95A3"/>
                </a:solidFill>
                <a:latin typeface="Arial"/>
                <a:ea typeface="Arial"/>
                <a:cs typeface="Arial"/>
                <a:sym typeface="Arial"/>
              </a:rPr>
              <a:t>02 / 19</a:t>
            </a:r>
            <a:endParaRPr sz="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28" name="Shape 128"/>
        <p:cNvGrpSpPr/>
        <p:nvPr/>
      </p:nvGrpSpPr>
      <p:grpSpPr>
        <a:xfrm>
          <a:off x="0" y="0"/>
          <a:ext cx="0" cy="0"/>
          <a:chOff x="0" y="0"/>
          <a:chExt cx="0" cy="0"/>
        </a:xfrm>
      </p:grpSpPr>
      <p:sp>
        <p:nvSpPr>
          <p:cNvPr id="129" name="Google Shape;129;p3"/>
          <p:cNvSpPr/>
          <p:nvPr/>
        </p:nvSpPr>
        <p:spPr>
          <a:xfrm>
            <a:off x="457200" y="365760"/>
            <a:ext cx="320040" cy="18288"/>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3"/>
          <p:cNvSpPr/>
          <p:nvPr/>
        </p:nvSpPr>
        <p:spPr>
          <a:xfrm>
            <a:off x="457200" y="411480"/>
            <a:ext cx="11247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lang="en-US" sz="2800">
                <a:solidFill>
                  <a:srgbClr val="FFFFFF"/>
                </a:solidFill>
                <a:latin typeface="Arial"/>
                <a:ea typeface="Arial"/>
                <a:cs typeface="Arial"/>
                <a:sym typeface="Arial"/>
              </a:rPr>
              <a:t>Objective &amp; Business Case</a:t>
            </a:r>
            <a:endParaRPr sz="2800">
              <a:solidFill>
                <a:schemeClr val="dk1"/>
              </a:solidFill>
              <a:latin typeface="Calibri"/>
              <a:ea typeface="Calibri"/>
              <a:cs typeface="Calibri"/>
              <a:sym typeface="Calibri"/>
            </a:endParaRPr>
          </a:p>
        </p:txBody>
      </p:sp>
      <p:sp>
        <p:nvSpPr>
          <p:cNvPr id="131" name="Google Shape;131;p3"/>
          <p:cNvSpPr/>
          <p:nvPr/>
        </p:nvSpPr>
        <p:spPr>
          <a:xfrm>
            <a:off x="457200" y="960120"/>
            <a:ext cx="11247120" cy="5029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Manual parcel review is expensive. An accurate aerial classifier is the precondition for any downstream cross-check against the records.</a:t>
            </a:r>
            <a:endParaRPr sz="1600">
              <a:solidFill>
                <a:schemeClr val="dk1"/>
              </a:solidFill>
              <a:latin typeface="Calibri"/>
              <a:ea typeface="Calibri"/>
              <a:cs typeface="Calibri"/>
              <a:sym typeface="Calibri"/>
            </a:endParaRPr>
          </a:p>
        </p:txBody>
      </p:sp>
      <p:grpSp>
        <p:nvGrpSpPr>
          <p:cNvPr id="132" name="Google Shape;132;p3"/>
          <p:cNvGrpSpPr/>
          <p:nvPr/>
        </p:nvGrpSpPr>
        <p:grpSpPr>
          <a:xfrm>
            <a:off x="457200" y="1898519"/>
            <a:ext cx="640000" cy="640000"/>
            <a:chOff x="457200" y="1740000"/>
            <a:chExt cx="640000" cy="640000"/>
          </a:xfrm>
        </p:grpSpPr>
        <p:sp>
          <p:nvSpPr>
            <p:cNvPr id="133" name="Google Shape;133;p3"/>
            <p:cNvSpPr/>
            <p:nvPr/>
          </p:nvSpPr>
          <p:spPr>
            <a:xfrm>
              <a:off x="457200" y="1740000"/>
              <a:ext cx="640000" cy="640000"/>
            </a:xfrm>
            <a:prstGeom prst="ellipse">
              <a:avLst/>
            </a:prstGeom>
            <a:solidFill>
              <a:srgbClr val="142A40"/>
            </a:solidFill>
            <a:ln cap="flat" cmpd="sng" w="1905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arget" id="134" name="Google Shape;134;p3"/>
            <p:cNvPicPr preferRelativeResize="0"/>
            <p:nvPr/>
          </p:nvPicPr>
          <p:blipFill rotWithShape="1">
            <a:blip r:embed="rId3">
              <a:alphaModFix/>
            </a:blip>
            <a:srcRect b="0" l="0" r="0" t="0"/>
            <a:stretch/>
          </p:blipFill>
          <p:spPr>
            <a:xfrm>
              <a:off x="577200" y="1860000"/>
              <a:ext cx="400000" cy="400000"/>
            </a:xfrm>
            <a:prstGeom prst="rect">
              <a:avLst/>
            </a:prstGeom>
            <a:noFill/>
            <a:ln>
              <a:noFill/>
            </a:ln>
          </p:spPr>
        </p:pic>
      </p:grpSp>
      <p:sp>
        <p:nvSpPr>
          <p:cNvPr id="135" name="Google Shape;135;p3"/>
          <p:cNvSpPr/>
          <p:nvPr/>
        </p:nvSpPr>
        <p:spPr>
          <a:xfrm>
            <a:off x="1240000" y="1751760"/>
            <a:ext cx="5800000" cy="5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lang="en-US" sz="2000">
                <a:solidFill>
                  <a:srgbClr val="FFFFFF"/>
                </a:solidFill>
                <a:latin typeface="Arial"/>
                <a:ea typeface="Arial"/>
                <a:cs typeface="Arial"/>
                <a:sym typeface="Arial"/>
              </a:rPr>
              <a:t>The task:</a:t>
            </a:r>
            <a:endParaRPr sz="2000">
              <a:solidFill>
                <a:schemeClr val="dk1"/>
              </a:solidFill>
              <a:latin typeface="Calibri"/>
              <a:ea typeface="Calibri"/>
              <a:cs typeface="Calibri"/>
              <a:sym typeface="Calibri"/>
            </a:endParaRPr>
          </a:p>
        </p:txBody>
      </p:sp>
      <p:sp>
        <p:nvSpPr>
          <p:cNvPr id="136" name="Google Shape;136;p3"/>
          <p:cNvSpPr/>
          <p:nvPr/>
        </p:nvSpPr>
        <p:spPr>
          <a:xfrm>
            <a:off x="1240000" y="2185278"/>
            <a:ext cx="5800000" cy="600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Binary image classification: </a:t>
            </a:r>
            <a:r>
              <a:rPr b="1" lang="en-US" sz="1500">
                <a:solidFill>
                  <a:srgbClr val="FFFFFF"/>
                </a:solidFill>
              </a:rPr>
              <a:t>“</a:t>
            </a:r>
            <a:r>
              <a:rPr i="1" lang="en-US" sz="1500">
                <a:solidFill>
                  <a:srgbClr val="B8C5D6"/>
                </a:solidFill>
              </a:rPr>
              <a:t>G</a:t>
            </a:r>
            <a:r>
              <a:rPr i="1" lang="en-US" sz="1500">
                <a:solidFill>
                  <a:srgbClr val="B8C5D6"/>
                </a:solidFill>
                <a:latin typeface="Arial"/>
                <a:ea typeface="Arial"/>
                <a:cs typeface="Arial"/>
                <a:sym typeface="Arial"/>
              </a:rPr>
              <a:t>iven a parcel-masked NAIP aerial crop, is the parcel built?</a:t>
            </a:r>
            <a:r>
              <a:rPr i="1" lang="en-US" sz="1500">
                <a:solidFill>
                  <a:srgbClr val="B8C5D6"/>
                </a:solidFill>
              </a:rPr>
              <a:t>”</a:t>
            </a:r>
            <a:endParaRPr sz="1500">
              <a:solidFill>
                <a:schemeClr val="dk1"/>
              </a:solidFill>
              <a:latin typeface="Calibri"/>
              <a:ea typeface="Calibri"/>
              <a:cs typeface="Calibri"/>
              <a:sym typeface="Calibri"/>
            </a:endParaRPr>
          </a:p>
        </p:txBody>
      </p:sp>
      <p:sp>
        <p:nvSpPr>
          <p:cNvPr id="137" name="Google Shape;137;p3"/>
          <p:cNvSpPr/>
          <p:nvPr/>
        </p:nvSpPr>
        <p:spPr>
          <a:xfrm>
            <a:off x="1240000" y="2805278"/>
            <a:ext cx="5800000" cy="90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B8C5D6"/>
              </a:buClr>
              <a:buSzPts val="1400"/>
              <a:buFont typeface="Arial"/>
              <a:buNone/>
            </a:pPr>
            <a:r>
              <a:rPr b="1" lang="en-US" sz="1400">
                <a:solidFill>
                  <a:schemeClr val="lt2"/>
                </a:solidFill>
              </a:rPr>
              <a:t>Tax rolls, building values, and MA property classification codes are organized at the parcel level, so the unit of work for assessors is the parcel, not an arbitrary image tile.</a:t>
            </a:r>
            <a:endParaRPr b="1" sz="1400">
              <a:solidFill>
                <a:schemeClr val="lt2"/>
              </a:solidFill>
              <a:latin typeface="Calibri"/>
              <a:ea typeface="Calibri"/>
              <a:cs typeface="Calibri"/>
              <a:sym typeface="Calibri"/>
            </a:endParaRPr>
          </a:p>
        </p:txBody>
      </p:sp>
      <p:cxnSp>
        <p:nvCxnSpPr>
          <p:cNvPr id="138" name="Google Shape;138;p3"/>
          <p:cNvCxnSpPr/>
          <p:nvPr/>
        </p:nvCxnSpPr>
        <p:spPr>
          <a:xfrm>
            <a:off x="457200" y="3851926"/>
            <a:ext cx="6800000" cy="0"/>
          </a:xfrm>
          <a:prstGeom prst="straightConnector1">
            <a:avLst/>
          </a:prstGeom>
          <a:noFill/>
          <a:ln cap="flat" cmpd="sng" w="9525">
            <a:solidFill>
              <a:srgbClr val="2A4870"/>
            </a:solidFill>
            <a:prstDash val="solid"/>
            <a:round/>
            <a:headEnd len="sm" w="sm" type="none"/>
            <a:tailEnd len="sm" w="sm" type="none"/>
          </a:ln>
        </p:spPr>
      </p:cxnSp>
      <p:grpSp>
        <p:nvGrpSpPr>
          <p:cNvPr id="139" name="Google Shape;139;p3"/>
          <p:cNvGrpSpPr/>
          <p:nvPr/>
        </p:nvGrpSpPr>
        <p:grpSpPr>
          <a:xfrm>
            <a:off x="457200" y="4021871"/>
            <a:ext cx="640000" cy="640000"/>
            <a:chOff x="457200" y="4080000"/>
            <a:chExt cx="640000" cy="640000"/>
          </a:xfrm>
        </p:grpSpPr>
        <p:sp>
          <p:nvSpPr>
            <p:cNvPr id="140" name="Google Shape;140;p3"/>
            <p:cNvSpPr/>
            <p:nvPr/>
          </p:nvSpPr>
          <p:spPr>
            <a:xfrm>
              <a:off x="457200" y="4080000"/>
              <a:ext cx="640000" cy="640000"/>
            </a:xfrm>
            <a:prstGeom prst="ellipse">
              <a:avLst/>
            </a:prstGeom>
            <a:solidFill>
              <a:srgbClr val="142A40"/>
            </a:solidFill>
            <a:ln cap="flat" cmpd="sng" w="1905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users" id="141" name="Google Shape;141;p3"/>
            <p:cNvPicPr preferRelativeResize="0"/>
            <p:nvPr/>
          </p:nvPicPr>
          <p:blipFill rotWithShape="1">
            <a:blip r:embed="rId4">
              <a:alphaModFix/>
            </a:blip>
            <a:srcRect b="0" l="0" r="0" t="0"/>
            <a:stretch/>
          </p:blipFill>
          <p:spPr>
            <a:xfrm>
              <a:off x="577200" y="4200000"/>
              <a:ext cx="400000" cy="400000"/>
            </a:xfrm>
            <a:prstGeom prst="rect">
              <a:avLst/>
            </a:prstGeom>
            <a:noFill/>
            <a:ln>
              <a:noFill/>
            </a:ln>
          </p:spPr>
        </p:pic>
      </p:grpSp>
      <p:sp>
        <p:nvSpPr>
          <p:cNvPr id="142" name="Google Shape;142;p3"/>
          <p:cNvSpPr/>
          <p:nvPr/>
        </p:nvSpPr>
        <p:spPr>
          <a:xfrm>
            <a:off x="1240000" y="3934510"/>
            <a:ext cx="5800000" cy="5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lang="en-US" sz="2000">
                <a:solidFill>
                  <a:srgbClr val="FFFFFF"/>
                </a:solidFill>
                <a:latin typeface="Arial"/>
                <a:ea typeface="Arial"/>
                <a:cs typeface="Arial"/>
                <a:sym typeface="Arial"/>
              </a:rPr>
              <a:t>Who benefits &amp; how it is used</a:t>
            </a:r>
            <a:endParaRPr sz="2000">
              <a:solidFill>
                <a:schemeClr val="dk1"/>
              </a:solidFill>
              <a:latin typeface="Calibri"/>
              <a:ea typeface="Calibri"/>
              <a:cs typeface="Calibri"/>
              <a:sym typeface="Calibri"/>
            </a:endParaRPr>
          </a:p>
        </p:txBody>
      </p:sp>
      <p:sp>
        <p:nvSpPr>
          <p:cNvPr id="143" name="Google Shape;143;p3"/>
          <p:cNvSpPr/>
          <p:nvPr/>
        </p:nvSpPr>
        <p:spPr>
          <a:xfrm>
            <a:off x="1240000" y="4378028"/>
            <a:ext cx="5800000" cy="2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1000"/>
              <a:buFont typeface="Arial"/>
              <a:buNone/>
            </a:pPr>
            <a:r>
              <a:rPr b="1" lang="en-US" sz="1000">
                <a:solidFill>
                  <a:srgbClr val="5B9573"/>
                </a:solidFill>
                <a:latin typeface="Arial"/>
                <a:ea typeface="Arial"/>
                <a:cs typeface="Arial"/>
                <a:sym typeface="Arial"/>
              </a:rPr>
              <a:t>BENEFICIARIES</a:t>
            </a:r>
            <a:endParaRPr sz="1000">
              <a:solidFill>
                <a:schemeClr val="dk1"/>
              </a:solidFill>
              <a:latin typeface="Calibri"/>
              <a:ea typeface="Calibri"/>
              <a:cs typeface="Calibri"/>
              <a:sym typeface="Calibri"/>
            </a:endParaRPr>
          </a:p>
        </p:txBody>
      </p:sp>
      <p:sp>
        <p:nvSpPr>
          <p:cNvPr id="144" name="Google Shape;144;p3"/>
          <p:cNvSpPr/>
          <p:nvPr/>
        </p:nvSpPr>
        <p:spPr>
          <a:xfrm>
            <a:off x="1240000" y="4658028"/>
            <a:ext cx="5800000" cy="500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8C5D6"/>
              </a:buClr>
              <a:buSzPts val="1400"/>
              <a:buFont typeface="Arial"/>
              <a:buNone/>
            </a:pPr>
            <a:r>
              <a:rPr lang="en-US" sz="1400">
                <a:solidFill>
                  <a:srgbClr val="B8C5D6"/>
                </a:solidFill>
                <a:latin typeface="Arial"/>
                <a:ea typeface="Arial"/>
                <a:cs typeface="Arial"/>
                <a:sym typeface="Arial"/>
              </a:rPr>
              <a:t>Municipal assessors, urban planners, GIS teams running periodic vacant-parcel audits.</a:t>
            </a:r>
            <a:endParaRPr sz="1400">
              <a:solidFill>
                <a:schemeClr val="dk1"/>
              </a:solidFill>
              <a:latin typeface="Calibri"/>
              <a:ea typeface="Calibri"/>
              <a:cs typeface="Calibri"/>
              <a:sym typeface="Calibri"/>
            </a:endParaRPr>
          </a:p>
        </p:txBody>
      </p:sp>
      <p:sp>
        <p:nvSpPr>
          <p:cNvPr id="145" name="Google Shape;145;p3"/>
          <p:cNvSpPr/>
          <p:nvPr/>
        </p:nvSpPr>
        <p:spPr>
          <a:xfrm>
            <a:off x="1240000" y="5228028"/>
            <a:ext cx="5800000" cy="2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1000"/>
              <a:buFont typeface="Arial"/>
              <a:buNone/>
            </a:pPr>
            <a:r>
              <a:rPr b="1" lang="en-US" sz="1000">
                <a:solidFill>
                  <a:srgbClr val="5B9573"/>
                </a:solidFill>
                <a:latin typeface="Arial"/>
                <a:ea typeface="Arial"/>
                <a:cs typeface="Arial"/>
                <a:sym typeface="Arial"/>
              </a:rPr>
              <a:t>SCOPE OF THIS PROJECT</a:t>
            </a:r>
            <a:endParaRPr sz="1000">
              <a:solidFill>
                <a:schemeClr val="dk1"/>
              </a:solidFill>
              <a:latin typeface="Calibri"/>
              <a:ea typeface="Calibri"/>
              <a:cs typeface="Calibri"/>
              <a:sym typeface="Calibri"/>
            </a:endParaRPr>
          </a:p>
        </p:txBody>
      </p:sp>
      <p:sp>
        <p:nvSpPr>
          <p:cNvPr id="146" name="Google Shape;146;p3"/>
          <p:cNvSpPr/>
          <p:nvPr/>
        </p:nvSpPr>
        <p:spPr>
          <a:xfrm>
            <a:off x="1240000" y="5508028"/>
            <a:ext cx="5800000" cy="500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8C5D6"/>
              </a:buClr>
              <a:buSzPts val="1400"/>
              <a:buFont typeface="Arial"/>
              <a:buNone/>
            </a:pPr>
            <a:r>
              <a:rPr b="1" lang="en-US" sz="1400">
                <a:solidFill>
                  <a:schemeClr val="lt2"/>
                </a:solidFill>
              </a:rPr>
              <a:t>The supervised task is parcel-level built/not-built classification. Using model output as a label-error screening queue is a downstream use case that needs separate validation.</a:t>
            </a:r>
            <a:endParaRPr b="1" sz="1400">
              <a:solidFill>
                <a:schemeClr val="lt2"/>
              </a:solidFill>
              <a:latin typeface="Calibri"/>
              <a:ea typeface="Calibri"/>
              <a:cs typeface="Calibri"/>
              <a:sym typeface="Calibri"/>
            </a:endParaRPr>
          </a:p>
        </p:txBody>
      </p:sp>
      <p:sp>
        <p:nvSpPr>
          <p:cNvPr id="147" name="Google Shape;147;p3"/>
          <p:cNvSpPr/>
          <p:nvPr/>
        </p:nvSpPr>
        <p:spPr>
          <a:xfrm>
            <a:off x="7680960" y="1554480"/>
            <a:ext cx="4023360" cy="470916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users-terracotta" id="148" name="Google Shape;148;p3"/>
          <p:cNvPicPr preferRelativeResize="0"/>
          <p:nvPr/>
        </p:nvPicPr>
        <p:blipFill rotWithShape="1">
          <a:blip r:embed="rId5">
            <a:alphaModFix/>
          </a:blip>
          <a:srcRect b="0" l="0" r="0" t="0"/>
          <a:stretch/>
        </p:blipFill>
        <p:spPr>
          <a:xfrm>
            <a:off x="7955280" y="1713192"/>
            <a:ext cx="502920" cy="502920"/>
          </a:xfrm>
          <a:prstGeom prst="rect">
            <a:avLst/>
          </a:prstGeom>
          <a:noFill/>
          <a:ln>
            <a:noFill/>
          </a:ln>
        </p:spPr>
      </p:pic>
      <p:sp>
        <p:nvSpPr>
          <p:cNvPr id="149" name="Google Shape;149;p3"/>
          <p:cNvSpPr/>
          <p:nvPr/>
        </p:nvSpPr>
        <p:spPr>
          <a:xfrm>
            <a:off x="7955280" y="2330112"/>
            <a:ext cx="347472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1100"/>
              <a:buFont typeface="Arial"/>
              <a:buNone/>
            </a:pPr>
            <a:r>
              <a:rPr b="1" lang="en-US" sz="1100">
                <a:solidFill>
                  <a:srgbClr val="C8553D"/>
                </a:solidFill>
                <a:latin typeface="Arial"/>
                <a:ea typeface="Arial"/>
                <a:cs typeface="Arial"/>
                <a:sym typeface="Arial"/>
              </a:rPr>
              <a:t>THE STATUS QUO</a:t>
            </a:r>
            <a:endParaRPr sz="1100">
              <a:solidFill>
                <a:schemeClr val="dk1"/>
              </a:solidFill>
              <a:latin typeface="Calibri"/>
              <a:ea typeface="Calibri"/>
              <a:cs typeface="Calibri"/>
              <a:sym typeface="Calibri"/>
            </a:endParaRPr>
          </a:p>
        </p:txBody>
      </p:sp>
      <p:sp>
        <p:nvSpPr>
          <p:cNvPr id="150" name="Google Shape;150;p3"/>
          <p:cNvSpPr/>
          <p:nvPr/>
        </p:nvSpPr>
        <p:spPr>
          <a:xfrm>
            <a:off x="7955280" y="2670112"/>
            <a:ext cx="3474720" cy="110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2400"/>
              <a:buFont typeface="Arial"/>
              <a:buNone/>
            </a:pPr>
            <a:r>
              <a:rPr b="1" i="1" lang="en-US" sz="2400">
                <a:solidFill>
                  <a:srgbClr val="FFFFFF"/>
                </a:solidFill>
                <a:latin typeface="Arial"/>
                <a:ea typeface="Arial"/>
                <a:cs typeface="Arial"/>
                <a:sym typeface="Arial"/>
              </a:rPr>
              <a:t>Most parcels are uncontroversial.</a:t>
            </a:r>
            <a:endParaRPr sz="2400">
              <a:solidFill>
                <a:schemeClr val="dk1"/>
              </a:solidFill>
              <a:latin typeface="Calibri"/>
              <a:ea typeface="Calibri"/>
              <a:cs typeface="Calibri"/>
              <a:sym typeface="Calibri"/>
            </a:endParaRPr>
          </a:p>
        </p:txBody>
      </p:sp>
      <p:sp>
        <p:nvSpPr>
          <p:cNvPr id="151" name="Google Shape;151;p3"/>
          <p:cNvSpPr/>
          <p:nvPr/>
        </p:nvSpPr>
        <p:spPr>
          <a:xfrm>
            <a:off x="7955280" y="3780112"/>
            <a:ext cx="3474720" cy="118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CFC"/>
              </a:buClr>
              <a:buSzPts val="1300"/>
              <a:buFont typeface="Arial"/>
              <a:buNone/>
            </a:pPr>
            <a:r>
              <a:rPr lang="en-US" sz="1300">
                <a:solidFill>
                  <a:srgbClr val="CADCFC"/>
                </a:solidFill>
                <a:latin typeface="Arial"/>
                <a:ea typeface="Arial"/>
                <a:cs typeface="Arial"/>
                <a:sym typeface="Arial"/>
              </a:rPr>
              <a:t>A residential lot with a clearly visible house; an obviously empty lot. Reviewing every parcel by hand spends scarce assessor time on cases that do not need it.</a:t>
            </a:r>
            <a:endParaRPr sz="1300">
              <a:solidFill>
                <a:schemeClr val="dk1"/>
              </a:solidFill>
              <a:latin typeface="Calibri"/>
              <a:ea typeface="Calibri"/>
              <a:cs typeface="Calibri"/>
              <a:sym typeface="Calibri"/>
            </a:endParaRPr>
          </a:p>
        </p:txBody>
      </p:sp>
      <p:cxnSp>
        <p:nvCxnSpPr>
          <p:cNvPr id="152" name="Google Shape;152;p3"/>
          <p:cNvCxnSpPr/>
          <p:nvPr/>
        </p:nvCxnSpPr>
        <p:spPr>
          <a:xfrm>
            <a:off x="7955280" y="5037805"/>
            <a:ext cx="1371600" cy="0"/>
          </a:xfrm>
          <a:prstGeom prst="straightConnector1">
            <a:avLst/>
          </a:prstGeom>
          <a:noFill/>
          <a:ln cap="flat" cmpd="sng" w="19050">
            <a:solidFill>
              <a:srgbClr val="C8553D"/>
            </a:solidFill>
            <a:prstDash val="solid"/>
            <a:round/>
            <a:headEnd len="sm" w="sm" type="none"/>
            <a:tailEnd len="sm" w="sm" type="none"/>
          </a:ln>
        </p:spPr>
      </p:cxnSp>
      <p:sp>
        <p:nvSpPr>
          <p:cNvPr id="153" name="Google Shape;153;p3"/>
          <p:cNvSpPr/>
          <p:nvPr/>
        </p:nvSpPr>
        <p:spPr>
          <a:xfrm>
            <a:off x="7955280" y="5147805"/>
            <a:ext cx="347472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1100"/>
              <a:buFont typeface="Arial"/>
              <a:buNone/>
            </a:pPr>
            <a:r>
              <a:rPr b="1" lang="en-US" sz="1100">
                <a:solidFill>
                  <a:srgbClr val="C8553D"/>
                </a:solidFill>
                <a:latin typeface="Arial"/>
                <a:ea typeface="Arial"/>
                <a:cs typeface="Arial"/>
                <a:sym typeface="Arial"/>
              </a:rPr>
              <a:t>DELIVERABLE</a:t>
            </a:r>
            <a:endParaRPr sz="1100">
              <a:solidFill>
                <a:schemeClr val="dk1"/>
              </a:solidFill>
              <a:latin typeface="Calibri"/>
              <a:ea typeface="Calibri"/>
              <a:cs typeface="Calibri"/>
              <a:sym typeface="Calibri"/>
            </a:endParaRPr>
          </a:p>
        </p:txBody>
      </p:sp>
      <p:sp>
        <p:nvSpPr>
          <p:cNvPr id="154" name="Google Shape;154;p3"/>
          <p:cNvSpPr/>
          <p:nvPr/>
        </p:nvSpPr>
        <p:spPr>
          <a:xfrm>
            <a:off x="7955280" y="5487805"/>
            <a:ext cx="3474720" cy="500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An accurate parcel-level classifier; honest scoping of what comes next.</a:t>
            </a:r>
            <a:endParaRPr sz="1400">
              <a:solidFill>
                <a:schemeClr val="dk1"/>
              </a:solidFill>
              <a:latin typeface="Calibri"/>
              <a:ea typeface="Calibri"/>
              <a:cs typeface="Calibri"/>
              <a:sym typeface="Calibri"/>
            </a:endParaRPr>
          </a:p>
        </p:txBody>
      </p:sp>
      <p:cxnSp>
        <p:nvCxnSpPr>
          <p:cNvPr id="155" name="Google Shape;155;p3"/>
          <p:cNvCxnSpPr/>
          <p:nvPr/>
        </p:nvCxnSpPr>
        <p:spPr>
          <a:xfrm>
            <a:off x="457200" y="6446520"/>
            <a:ext cx="11247120" cy="0"/>
          </a:xfrm>
          <a:prstGeom prst="straightConnector1">
            <a:avLst/>
          </a:prstGeom>
          <a:noFill/>
          <a:ln cap="flat" cmpd="sng" w="9525">
            <a:solidFill>
              <a:srgbClr val="3D5478"/>
            </a:solidFill>
            <a:prstDash val="solid"/>
            <a:round/>
            <a:headEnd len="sm" w="sm" type="none"/>
            <a:tailEnd len="sm" w="sm" type="none"/>
          </a:ln>
        </p:spPr>
      </p:cxnSp>
      <p:sp>
        <p:nvSpPr>
          <p:cNvPr id="156" name="Google Shape;156;p3"/>
          <p:cNvSpPr/>
          <p:nvPr/>
        </p:nvSpPr>
        <p:spPr>
          <a:xfrm>
            <a:off x="457200" y="6565392"/>
            <a:ext cx="9601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800"/>
              <a:buFont typeface="Arial"/>
              <a:buNone/>
            </a:pPr>
            <a:r>
              <a:rPr i="1" lang="en-US" sz="800">
                <a:solidFill>
                  <a:srgbClr val="8B95A3"/>
                </a:solidFill>
                <a:latin typeface="Arial"/>
                <a:ea typeface="Arial"/>
                <a:cs typeface="Arial"/>
                <a:sym typeface="Arial"/>
              </a:rPr>
              <a:t>Source: MA property classification codes; MassGIS public records</a:t>
            </a:r>
            <a:endParaRPr sz="800">
              <a:solidFill>
                <a:schemeClr val="dk1"/>
              </a:solidFill>
              <a:latin typeface="Calibri"/>
              <a:ea typeface="Calibri"/>
              <a:cs typeface="Calibri"/>
              <a:sym typeface="Calibri"/>
            </a:endParaRPr>
          </a:p>
        </p:txBody>
      </p:sp>
      <p:sp>
        <p:nvSpPr>
          <p:cNvPr id="157" name="Google Shape;157;p3"/>
          <p:cNvSpPr/>
          <p:nvPr/>
        </p:nvSpPr>
        <p:spPr>
          <a:xfrm>
            <a:off x="10058400" y="6565392"/>
            <a:ext cx="164592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A3"/>
              </a:buClr>
              <a:buSzPts val="800"/>
              <a:buFont typeface="Arial"/>
              <a:buNone/>
            </a:pPr>
            <a:r>
              <a:rPr b="1" lang="en-US" sz="800">
                <a:solidFill>
                  <a:srgbClr val="8B95A3"/>
                </a:solidFill>
                <a:latin typeface="Arial"/>
                <a:ea typeface="Arial"/>
                <a:cs typeface="Arial"/>
                <a:sym typeface="Arial"/>
              </a:rPr>
              <a:t>03 / 19</a:t>
            </a:r>
            <a:endParaRPr sz="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62" name="Shape 162"/>
        <p:cNvGrpSpPr/>
        <p:nvPr/>
      </p:nvGrpSpPr>
      <p:grpSpPr>
        <a:xfrm>
          <a:off x="0" y="0"/>
          <a:ext cx="0" cy="0"/>
          <a:chOff x="0" y="0"/>
          <a:chExt cx="0" cy="0"/>
        </a:xfrm>
      </p:grpSpPr>
      <p:sp>
        <p:nvSpPr>
          <p:cNvPr id="163" name="Google Shape;163;p4"/>
          <p:cNvSpPr/>
          <p:nvPr/>
        </p:nvSpPr>
        <p:spPr>
          <a:xfrm>
            <a:off x="457200" y="365760"/>
            <a:ext cx="320040" cy="18288"/>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4"/>
          <p:cNvSpPr/>
          <p:nvPr/>
        </p:nvSpPr>
        <p:spPr>
          <a:xfrm>
            <a:off x="457200" y="411480"/>
            <a:ext cx="11247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lang="en-US" sz="2800">
                <a:solidFill>
                  <a:srgbClr val="FFFFFF"/>
                </a:solidFill>
                <a:latin typeface="Arial"/>
                <a:ea typeface="Arial"/>
                <a:cs typeface="Arial"/>
                <a:sym typeface="Arial"/>
              </a:rPr>
              <a:t>Data</a:t>
            </a:r>
            <a:endParaRPr sz="2800">
              <a:solidFill>
                <a:schemeClr val="dk1"/>
              </a:solidFill>
              <a:latin typeface="Calibri"/>
              <a:ea typeface="Calibri"/>
              <a:cs typeface="Calibri"/>
              <a:sym typeface="Calibri"/>
            </a:endParaRPr>
          </a:p>
        </p:txBody>
      </p:sp>
      <p:sp>
        <p:nvSpPr>
          <p:cNvPr id="165" name="Google Shape;165;p4"/>
          <p:cNvSpPr/>
          <p:nvPr/>
        </p:nvSpPr>
        <p:spPr>
          <a:xfrm>
            <a:off x="457200" y="960120"/>
            <a:ext cx="11247120" cy="5029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Three public datasets, three Massachusetts study areas, ~4,000 balanced high-confidence labeled parcels</a:t>
            </a:r>
            <a:endParaRPr sz="1600">
              <a:solidFill>
                <a:schemeClr val="dk1"/>
              </a:solidFill>
              <a:latin typeface="Calibri"/>
              <a:ea typeface="Calibri"/>
              <a:cs typeface="Calibri"/>
              <a:sym typeface="Calibri"/>
            </a:endParaRPr>
          </a:p>
        </p:txBody>
      </p:sp>
      <p:sp>
        <p:nvSpPr>
          <p:cNvPr id="166" name="Google Shape;166;p4"/>
          <p:cNvSpPr/>
          <p:nvPr/>
        </p:nvSpPr>
        <p:spPr>
          <a:xfrm>
            <a:off x="457200" y="142140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Data sources</a:t>
            </a:r>
            <a:endParaRPr sz="1400">
              <a:solidFill>
                <a:schemeClr val="dk1"/>
              </a:solidFill>
              <a:latin typeface="Calibri"/>
              <a:ea typeface="Calibri"/>
              <a:cs typeface="Calibri"/>
              <a:sym typeface="Calibri"/>
            </a:endParaRPr>
          </a:p>
        </p:txBody>
      </p:sp>
      <p:grpSp>
        <p:nvGrpSpPr>
          <p:cNvPr id="167" name="Google Shape;167;p4"/>
          <p:cNvGrpSpPr/>
          <p:nvPr/>
        </p:nvGrpSpPr>
        <p:grpSpPr>
          <a:xfrm>
            <a:off x="567862" y="1829905"/>
            <a:ext cx="4505022" cy="1051103"/>
            <a:chOff x="678519" y="1917265"/>
            <a:chExt cx="4505022" cy="1051103"/>
          </a:xfrm>
        </p:grpSpPr>
        <p:sp>
          <p:nvSpPr>
            <p:cNvPr id="168" name="Google Shape;168;p4"/>
            <p:cNvSpPr/>
            <p:nvPr/>
          </p:nvSpPr>
          <p:spPr>
            <a:xfrm>
              <a:off x="678519" y="1917265"/>
              <a:ext cx="4505022" cy="1051103"/>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69" name="Google Shape;169;p4"/>
            <p:cNvGrpSpPr/>
            <p:nvPr/>
          </p:nvGrpSpPr>
          <p:grpSpPr>
            <a:xfrm>
              <a:off x="757437" y="2191356"/>
              <a:ext cx="502920" cy="502920"/>
              <a:chOff x="594360" y="2057400"/>
              <a:chExt cx="502920" cy="502920"/>
            </a:xfrm>
          </p:grpSpPr>
          <p:sp>
            <p:nvSpPr>
              <p:cNvPr id="170" name="Google Shape;170;p4"/>
              <p:cNvSpPr/>
              <p:nvPr/>
            </p:nvSpPr>
            <p:spPr>
              <a:xfrm>
                <a:off x="594360" y="2057400"/>
                <a:ext cx="502920" cy="502920"/>
              </a:xfrm>
              <a:prstGeom prst="rect">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1" name="Google Shape;171;p4"/>
              <p:cNvPicPr preferRelativeResize="0"/>
              <p:nvPr/>
            </p:nvPicPr>
            <p:blipFill rotWithShape="1">
              <a:blip r:embed="rId3">
                <a:alphaModFix/>
              </a:blip>
              <a:srcRect b="0" l="0" r="0" t="0"/>
              <a:stretch/>
            </p:blipFill>
            <p:spPr>
              <a:xfrm>
                <a:off x="681228" y="2144268"/>
                <a:ext cx="329184" cy="329184"/>
              </a:xfrm>
              <a:prstGeom prst="rect">
                <a:avLst/>
              </a:prstGeom>
              <a:noFill/>
              <a:ln>
                <a:noFill/>
              </a:ln>
            </p:spPr>
          </p:pic>
        </p:grpSp>
        <p:grpSp>
          <p:nvGrpSpPr>
            <p:cNvPr id="172" name="Google Shape;172;p4"/>
            <p:cNvGrpSpPr/>
            <p:nvPr/>
          </p:nvGrpSpPr>
          <p:grpSpPr>
            <a:xfrm>
              <a:off x="1339422" y="2077057"/>
              <a:ext cx="3721956" cy="731520"/>
              <a:chOff x="1234441" y="1965960"/>
              <a:chExt cx="3721956" cy="731520"/>
            </a:xfrm>
          </p:grpSpPr>
          <p:sp>
            <p:nvSpPr>
              <p:cNvPr id="173" name="Google Shape;173;p4"/>
              <p:cNvSpPr/>
              <p:nvPr/>
            </p:nvSpPr>
            <p:spPr>
              <a:xfrm>
                <a:off x="1234441" y="1965960"/>
                <a:ext cx="37219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MassGIS Property Tax Parcels</a:t>
                </a:r>
                <a:endParaRPr sz="1600">
                  <a:solidFill>
                    <a:schemeClr val="dk1"/>
                  </a:solidFill>
                  <a:latin typeface="Calibri"/>
                  <a:ea typeface="Calibri"/>
                  <a:cs typeface="Calibri"/>
                  <a:sym typeface="Calibri"/>
                </a:endParaRPr>
              </a:p>
            </p:txBody>
          </p:sp>
          <p:sp>
            <p:nvSpPr>
              <p:cNvPr id="174" name="Google Shape;174;p4"/>
              <p:cNvSpPr/>
              <p:nvPr/>
            </p:nvSpPr>
            <p:spPr>
              <a:xfrm>
                <a:off x="1234441" y="2240280"/>
                <a:ext cx="37219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400"/>
                  <a:buFont typeface="Arial"/>
                  <a:buNone/>
                </a:pPr>
                <a:r>
                  <a:rPr lang="en-US" sz="1400">
                    <a:solidFill>
                      <a:srgbClr val="B8C5D6"/>
                    </a:solidFill>
                    <a:latin typeface="Arial"/>
                    <a:ea typeface="Arial"/>
                    <a:cs typeface="Arial"/>
                    <a:sym typeface="Arial"/>
                  </a:rPr>
                  <a:t>Observation unit (one parcel = one example)</a:t>
                </a:r>
                <a:endParaRPr sz="1400">
                  <a:solidFill>
                    <a:schemeClr val="dk1"/>
                  </a:solidFill>
                  <a:latin typeface="Calibri"/>
                  <a:ea typeface="Calibri"/>
                  <a:cs typeface="Calibri"/>
                  <a:sym typeface="Calibri"/>
                </a:endParaRPr>
              </a:p>
            </p:txBody>
          </p:sp>
          <p:sp>
            <p:nvSpPr>
              <p:cNvPr id="175" name="Google Shape;175;p4"/>
              <p:cNvSpPr/>
              <p:nvPr/>
            </p:nvSpPr>
            <p:spPr>
              <a:xfrm>
                <a:off x="1234441" y="2468880"/>
                <a:ext cx="37219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1050"/>
                  <a:buFont typeface="Arial"/>
                  <a:buNone/>
                </a:pPr>
                <a:r>
                  <a:rPr i="1" lang="en-US" sz="1050">
                    <a:solidFill>
                      <a:srgbClr val="8B95A3"/>
                    </a:solidFill>
                    <a:latin typeface="Arial"/>
                    <a:ea typeface="Arial"/>
                    <a:cs typeface="Arial"/>
                    <a:sym typeface="Arial"/>
                  </a:rPr>
                  <a:t>ArcGIS FeatureServer · public</a:t>
                </a:r>
                <a:endParaRPr sz="1050">
                  <a:solidFill>
                    <a:schemeClr val="dk1"/>
                  </a:solidFill>
                  <a:latin typeface="Calibri"/>
                  <a:ea typeface="Calibri"/>
                  <a:cs typeface="Calibri"/>
                  <a:sym typeface="Calibri"/>
                </a:endParaRPr>
              </a:p>
            </p:txBody>
          </p:sp>
        </p:grpSp>
      </p:grpSp>
      <p:grpSp>
        <p:nvGrpSpPr>
          <p:cNvPr id="176" name="Google Shape;176;p4"/>
          <p:cNvGrpSpPr/>
          <p:nvPr/>
        </p:nvGrpSpPr>
        <p:grpSpPr>
          <a:xfrm>
            <a:off x="567862" y="3002608"/>
            <a:ext cx="4505022" cy="1051103"/>
            <a:chOff x="678519" y="3154035"/>
            <a:chExt cx="4505022" cy="1051103"/>
          </a:xfrm>
        </p:grpSpPr>
        <p:sp>
          <p:nvSpPr>
            <p:cNvPr id="177" name="Google Shape;177;p4"/>
            <p:cNvSpPr/>
            <p:nvPr/>
          </p:nvSpPr>
          <p:spPr>
            <a:xfrm>
              <a:off x="678519" y="3154035"/>
              <a:ext cx="4505022" cy="1051103"/>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78" name="Google Shape;178;p4"/>
            <p:cNvGrpSpPr/>
            <p:nvPr/>
          </p:nvGrpSpPr>
          <p:grpSpPr>
            <a:xfrm>
              <a:off x="757437" y="3428126"/>
              <a:ext cx="502920" cy="502920"/>
              <a:chOff x="594360" y="3017520"/>
              <a:chExt cx="502920" cy="502920"/>
            </a:xfrm>
          </p:grpSpPr>
          <p:sp>
            <p:nvSpPr>
              <p:cNvPr id="179" name="Google Shape;179;p4"/>
              <p:cNvSpPr/>
              <p:nvPr/>
            </p:nvSpPr>
            <p:spPr>
              <a:xfrm>
                <a:off x="594360" y="3017520"/>
                <a:ext cx="502920" cy="502920"/>
              </a:xfrm>
              <a:prstGeom prst="rect">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0" name="Google Shape;180;p4"/>
              <p:cNvPicPr preferRelativeResize="0"/>
              <p:nvPr/>
            </p:nvPicPr>
            <p:blipFill rotWithShape="1">
              <a:blip r:embed="rId4">
                <a:alphaModFix/>
              </a:blip>
              <a:srcRect b="0" l="0" r="0" t="0"/>
              <a:stretch/>
            </p:blipFill>
            <p:spPr>
              <a:xfrm>
                <a:off x="681228" y="3104388"/>
                <a:ext cx="329184" cy="329184"/>
              </a:xfrm>
              <a:prstGeom prst="rect">
                <a:avLst/>
              </a:prstGeom>
              <a:noFill/>
              <a:ln>
                <a:noFill/>
              </a:ln>
            </p:spPr>
          </p:pic>
        </p:grpSp>
        <p:grpSp>
          <p:nvGrpSpPr>
            <p:cNvPr id="181" name="Google Shape;181;p4"/>
            <p:cNvGrpSpPr/>
            <p:nvPr/>
          </p:nvGrpSpPr>
          <p:grpSpPr>
            <a:xfrm>
              <a:off x="1339422" y="3313826"/>
              <a:ext cx="3721956" cy="731520"/>
              <a:chOff x="1234441" y="2926080"/>
              <a:chExt cx="3721956" cy="731520"/>
            </a:xfrm>
          </p:grpSpPr>
          <p:sp>
            <p:nvSpPr>
              <p:cNvPr id="182" name="Google Shape;182;p4"/>
              <p:cNvSpPr/>
              <p:nvPr/>
            </p:nvSpPr>
            <p:spPr>
              <a:xfrm>
                <a:off x="1234441" y="2926080"/>
                <a:ext cx="37219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MassGIS Building Structures 2-D</a:t>
                </a:r>
                <a:endParaRPr sz="1600">
                  <a:solidFill>
                    <a:schemeClr val="dk1"/>
                  </a:solidFill>
                  <a:latin typeface="Calibri"/>
                  <a:ea typeface="Calibri"/>
                  <a:cs typeface="Calibri"/>
                  <a:sym typeface="Calibri"/>
                </a:endParaRPr>
              </a:p>
            </p:txBody>
          </p:sp>
          <p:sp>
            <p:nvSpPr>
              <p:cNvPr id="183" name="Google Shape;183;p4"/>
              <p:cNvSpPr/>
              <p:nvPr/>
            </p:nvSpPr>
            <p:spPr>
              <a:xfrm>
                <a:off x="1234441" y="3200400"/>
                <a:ext cx="37219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400"/>
                  <a:buFont typeface="Arial"/>
                  <a:buNone/>
                </a:pPr>
                <a:r>
                  <a:rPr lang="en-US" sz="1400">
                    <a:solidFill>
                      <a:srgbClr val="B8C5D6"/>
                    </a:solidFill>
                    <a:latin typeface="Arial"/>
                    <a:ea typeface="Arial"/>
                    <a:cs typeface="Arial"/>
                    <a:sym typeface="Arial"/>
                  </a:rPr>
                  <a:t>Source of proxy labels &amp; QA overlays</a:t>
                </a:r>
                <a:endParaRPr sz="1400">
                  <a:solidFill>
                    <a:schemeClr val="dk1"/>
                  </a:solidFill>
                  <a:latin typeface="Calibri"/>
                  <a:ea typeface="Calibri"/>
                  <a:cs typeface="Calibri"/>
                  <a:sym typeface="Calibri"/>
                </a:endParaRPr>
              </a:p>
            </p:txBody>
          </p:sp>
          <p:sp>
            <p:nvSpPr>
              <p:cNvPr id="184" name="Google Shape;184;p4"/>
              <p:cNvSpPr/>
              <p:nvPr/>
            </p:nvSpPr>
            <p:spPr>
              <a:xfrm>
                <a:off x="1234441" y="3429000"/>
                <a:ext cx="37219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1050"/>
                  <a:buFont typeface="Arial"/>
                  <a:buNone/>
                </a:pPr>
                <a:r>
                  <a:rPr i="1" lang="en-US" sz="1050">
                    <a:solidFill>
                      <a:srgbClr val="8B95A3"/>
                    </a:solidFill>
                    <a:latin typeface="Arial"/>
                    <a:ea typeface="Arial"/>
                    <a:cs typeface="Arial"/>
                    <a:sym typeface="Arial"/>
                  </a:rPr>
                  <a:t>ArcGIS FeatureServer · public domain</a:t>
                </a:r>
                <a:endParaRPr sz="1050">
                  <a:solidFill>
                    <a:schemeClr val="dk1"/>
                  </a:solidFill>
                  <a:latin typeface="Calibri"/>
                  <a:ea typeface="Calibri"/>
                  <a:cs typeface="Calibri"/>
                  <a:sym typeface="Calibri"/>
                </a:endParaRPr>
              </a:p>
            </p:txBody>
          </p:sp>
        </p:grpSp>
      </p:grpSp>
      <p:grpSp>
        <p:nvGrpSpPr>
          <p:cNvPr id="185" name="Google Shape;185;p4"/>
          <p:cNvGrpSpPr/>
          <p:nvPr/>
        </p:nvGrpSpPr>
        <p:grpSpPr>
          <a:xfrm>
            <a:off x="567862" y="4175311"/>
            <a:ext cx="4505022" cy="1051103"/>
            <a:chOff x="678519" y="4390804"/>
            <a:chExt cx="4505022" cy="1051103"/>
          </a:xfrm>
        </p:grpSpPr>
        <p:sp>
          <p:nvSpPr>
            <p:cNvPr id="186" name="Google Shape;186;p4"/>
            <p:cNvSpPr/>
            <p:nvPr/>
          </p:nvSpPr>
          <p:spPr>
            <a:xfrm>
              <a:off x="678519" y="4390804"/>
              <a:ext cx="4505022" cy="1051103"/>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7" name="Google Shape;187;p4"/>
            <p:cNvGrpSpPr/>
            <p:nvPr/>
          </p:nvGrpSpPr>
          <p:grpSpPr>
            <a:xfrm>
              <a:off x="757437" y="4664896"/>
              <a:ext cx="502920" cy="502920"/>
              <a:chOff x="594360" y="3977640"/>
              <a:chExt cx="502920" cy="502920"/>
            </a:xfrm>
          </p:grpSpPr>
          <p:sp>
            <p:nvSpPr>
              <p:cNvPr id="188" name="Google Shape;188;p4"/>
              <p:cNvSpPr/>
              <p:nvPr/>
            </p:nvSpPr>
            <p:spPr>
              <a:xfrm>
                <a:off x="594360" y="3977640"/>
                <a:ext cx="502920" cy="502920"/>
              </a:xfrm>
              <a:prstGeom prst="rect">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9" name="Google Shape;189;p4"/>
              <p:cNvPicPr preferRelativeResize="0"/>
              <p:nvPr/>
            </p:nvPicPr>
            <p:blipFill rotWithShape="1">
              <a:blip r:embed="rId5">
                <a:alphaModFix/>
              </a:blip>
              <a:srcRect b="0" l="0" r="0" t="0"/>
              <a:stretch/>
            </p:blipFill>
            <p:spPr>
              <a:xfrm>
                <a:off x="681228" y="4064508"/>
                <a:ext cx="329184" cy="329184"/>
              </a:xfrm>
              <a:prstGeom prst="rect">
                <a:avLst/>
              </a:prstGeom>
              <a:noFill/>
              <a:ln>
                <a:noFill/>
              </a:ln>
            </p:spPr>
          </p:pic>
        </p:grpSp>
        <p:grpSp>
          <p:nvGrpSpPr>
            <p:cNvPr id="190" name="Google Shape;190;p4"/>
            <p:cNvGrpSpPr/>
            <p:nvPr/>
          </p:nvGrpSpPr>
          <p:grpSpPr>
            <a:xfrm>
              <a:off x="1339422" y="4580279"/>
              <a:ext cx="3721956" cy="731520"/>
              <a:chOff x="1234440" y="3886200"/>
              <a:chExt cx="3721956" cy="731520"/>
            </a:xfrm>
          </p:grpSpPr>
          <p:sp>
            <p:nvSpPr>
              <p:cNvPr id="191" name="Google Shape;191;p4"/>
              <p:cNvSpPr/>
              <p:nvPr/>
            </p:nvSpPr>
            <p:spPr>
              <a:xfrm>
                <a:off x="1234440" y="3886200"/>
                <a:ext cx="37219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NAIP Aerial Imagery</a:t>
                </a:r>
                <a:endParaRPr sz="1600">
                  <a:solidFill>
                    <a:schemeClr val="dk1"/>
                  </a:solidFill>
                  <a:latin typeface="Calibri"/>
                  <a:ea typeface="Calibri"/>
                  <a:cs typeface="Calibri"/>
                  <a:sym typeface="Calibri"/>
                </a:endParaRPr>
              </a:p>
            </p:txBody>
          </p:sp>
          <p:sp>
            <p:nvSpPr>
              <p:cNvPr id="192" name="Google Shape;192;p4"/>
              <p:cNvSpPr/>
              <p:nvPr/>
            </p:nvSpPr>
            <p:spPr>
              <a:xfrm>
                <a:off x="1234440" y="4160520"/>
                <a:ext cx="37219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400"/>
                  <a:buFont typeface="Arial"/>
                  <a:buNone/>
                </a:pPr>
                <a:r>
                  <a:rPr lang="en-US" sz="1400">
                    <a:solidFill>
                      <a:srgbClr val="B8C5D6"/>
                    </a:solidFill>
                    <a:latin typeface="Arial"/>
                    <a:ea typeface="Arial"/>
                    <a:cs typeface="Arial"/>
                    <a:sym typeface="Arial"/>
                  </a:rPr>
                  <a:t>RGB inputs, 0.6–1.0 m resolution</a:t>
                </a:r>
                <a:endParaRPr sz="1400">
                  <a:solidFill>
                    <a:schemeClr val="dk1"/>
                  </a:solidFill>
                  <a:latin typeface="Calibri"/>
                  <a:ea typeface="Calibri"/>
                  <a:cs typeface="Calibri"/>
                  <a:sym typeface="Calibri"/>
                </a:endParaRPr>
              </a:p>
            </p:txBody>
          </p:sp>
          <p:sp>
            <p:nvSpPr>
              <p:cNvPr id="193" name="Google Shape;193;p4"/>
              <p:cNvSpPr/>
              <p:nvPr/>
            </p:nvSpPr>
            <p:spPr>
              <a:xfrm>
                <a:off x="1234440" y="4389120"/>
                <a:ext cx="37219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1050"/>
                  <a:buFont typeface="Arial"/>
                  <a:buNone/>
                </a:pPr>
                <a:r>
                  <a:rPr i="1" lang="en-US" sz="1050">
                    <a:solidFill>
                      <a:srgbClr val="8B95A3"/>
                    </a:solidFill>
                    <a:latin typeface="Arial"/>
                    <a:ea typeface="Arial"/>
                    <a:cs typeface="Arial"/>
                    <a:sym typeface="Arial"/>
                  </a:rPr>
                  <a:t>Microsoft Planetary Computer STAC API</a:t>
                </a:r>
                <a:endParaRPr sz="1050">
                  <a:solidFill>
                    <a:schemeClr val="dk1"/>
                  </a:solidFill>
                  <a:latin typeface="Calibri"/>
                  <a:ea typeface="Calibri"/>
                  <a:cs typeface="Calibri"/>
                  <a:sym typeface="Calibri"/>
                </a:endParaRPr>
              </a:p>
            </p:txBody>
          </p:sp>
        </p:grpSp>
      </p:grpSp>
      <p:sp>
        <p:nvSpPr>
          <p:cNvPr id="194" name="Google Shape;194;p4"/>
          <p:cNvSpPr/>
          <p:nvPr/>
        </p:nvSpPr>
        <p:spPr>
          <a:xfrm>
            <a:off x="6080760" y="142140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Sampling funnel</a:t>
            </a:r>
            <a:endParaRPr sz="1400">
              <a:solidFill>
                <a:schemeClr val="dk1"/>
              </a:solidFill>
              <a:latin typeface="Calibri"/>
              <a:ea typeface="Calibri"/>
              <a:cs typeface="Calibri"/>
              <a:sym typeface="Calibri"/>
            </a:endParaRPr>
          </a:p>
        </p:txBody>
      </p:sp>
      <p:sp>
        <p:nvSpPr>
          <p:cNvPr id="195" name="Google Shape;195;p4"/>
          <p:cNvSpPr/>
          <p:nvPr/>
        </p:nvSpPr>
        <p:spPr>
          <a:xfrm>
            <a:off x="6080760" y="1832880"/>
            <a:ext cx="4023360" cy="603504"/>
          </a:xfrm>
          <a:custGeom>
            <a:rect b="b" l="l" r="r" t="t"/>
            <a:pathLst>
              <a:path extrusionOk="0" h="603504" w="4023360">
                <a:moveTo>
                  <a:pt x="0" y="0"/>
                </a:moveTo>
                <a:lnTo>
                  <a:pt x="4023360" y="0"/>
                </a:lnTo>
                <a:lnTo>
                  <a:pt x="3837210" y="603504"/>
                </a:lnTo>
                <a:lnTo>
                  <a:pt x="186150" y="603504"/>
                </a:lnTo>
                <a:close/>
              </a:path>
            </a:pathLst>
          </a:custGeom>
          <a:solidFill>
            <a:srgbClr val="1F3052"/>
          </a:solidFill>
          <a:ln cap="flat" cmpd="sng" w="12700">
            <a:solidFill>
              <a:srgbClr val="1F30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4"/>
          <p:cNvSpPr/>
          <p:nvPr/>
        </p:nvSpPr>
        <p:spPr>
          <a:xfrm>
            <a:off x="6080760" y="1832880"/>
            <a:ext cx="402336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90,409</a:t>
            </a:r>
            <a:endParaRPr sz="1500">
              <a:solidFill>
                <a:schemeClr val="dk1"/>
              </a:solidFill>
              <a:latin typeface="Calibri"/>
              <a:ea typeface="Calibri"/>
              <a:cs typeface="Calibri"/>
              <a:sym typeface="Calibri"/>
            </a:endParaRPr>
          </a:p>
        </p:txBody>
      </p:sp>
      <p:sp>
        <p:nvSpPr>
          <p:cNvPr id="197" name="Google Shape;197;p4"/>
          <p:cNvSpPr/>
          <p:nvPr/>
        </p:nvSpPr>
        <p:spPr>
          <a:xfrm>
            <a:off x="10241280" y="1832880"/>
            <a:ext cx="1508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050"/>
              <a:buFont typeface="Arial"/>
              <a:buNone/>
            </a:pPr>
            <a:r>
              <a:rPr lang="en-US" sz="1050">
                <a:solidFill>
                  <a:srgbClr val="B8C5D6"/>
                </a:solidFill>
                <a:latin typeface="Arial"/>
                <a:ea typeface="Arial"/>
                <a:cs typeface="Arial"/>
                <a:sym typeface="Arial"/>
              </a:rPr>
              <a:t>Raw parcels collected</a:t>
            </a:r>
            <a:endParaRPr sz="1050">
              <a:solidFill>
                <a:schemeClr val="dk1"/>
              </a:solidFill>
              <a:latin typeface="Calibri"/>
              <a:ea typeface="Calibri"/>
              <a:cs typeface="Calibri"/>
              <a:sym typeface="Calibri"/>
            </a:endParaRPr>
          </a:p>
        </p:txBody>
      </p:sp>
      <p:sp>
        <p:nvSpPr>
          <p:cNvPr id="198" name="Google Shape;198;p4"/>
          <p:cNvSpPr/>
          <p:nvPr/>
        </p:nvSpPr>
        <p:spPr>
          <a:xfrm>
            <a:off x="6266910" y="2509536"/>
            <a:ext cx="3651060" cy="603504"/>
          </a:xfrm>
          <a:custGeom>
            <a:rect b="b" l="l" r="r" t="t"/>
            <a:pathLst>
              <a:path extrusionOk="0" h="603504" w="3651060">
                <a:moveTo>
                  <a:pt x="0" y="0"/>
                </a:moveTo>
                <a:lnTo>
                  <a:pt x="3651060" y="0"/>
                </a:lnTo>
                <a:lnTo>
                  <a:pt x="3588494" y="603504"/>
                </a:lnTo>
                <a:lnTo>
                  <a:pt x="62565" y="603504"/>
                </a:lnTo>
                <a:close/>
              </a:path>
            </a:pathLst>
          </a:custGeom>
          <a:solidFill>
            <a:srgbClr val="1F3052"/>
          </a:solidFill>
          <a:ln cap="flat" cmpd="sng" w="12700">
            <a:solidFill>
              <a:srgbClr val="1F30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4"/>
          <p:cNvSpPr/>
          <p:nvPr/>
        </p:nvSpPr>
        <p:spPr>
          <a:xfrm>
            <a:off x="6266910" y="2509536"/>
            <a:ext cx="365106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72,665</a:t>
            </a:r>
            <a:endParaRPr sz="1500">
              <a:solidFill>
                <a:schemeClr val="dk1"/>
              </a:solidFill>
              <a:latin typeface="Calibri"/>
              <a:ea typeface="Calibri"/>
              <a:cs typeface="Calibri"/>
              <a:sym typeface="Calibri"/>
            </a:endParaRPr>
          </a:p>
        </p:txBody>
      </p:sp>
      <p:sp>
        <p:nvSpPr>
          <p:cNvPr id="200" name="Google Shape;200;p4"/>
          <p:cNvSpPr/>
          <p:nvPr/>
        </p:nvSpPr>
        <p:spPr>
          <a:xfrm>
            <a:off x="10241280" y="2509536"/>
            <a:ext cx="1508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050"/>
              <a:buFont typeface="Arial"/>
              <a:buNone/>
            </a:pPr>
            <a:r>
              <a:rPr lang="en-US" sz="1050">
                <a:solidFill>
                  <a:srgbClr val="B8C5D6"/>
                </a:solidFill>
                <a:latin typeface="Arial"/>
                <a:ea typeface="Arial"/>
                <a:cs typeface="Arial"/>
                <a:sym typeface="Arial"/>
              </a:rPr>
              <a:t>After geometry cleaning</a:t>
            </a:r>
            <a:endParaRPr sz="1050">
              <a:solidFill>
                <a:schemeClr val="dk1"/>
              </a:solidFill>
              <a:latin typeface="Calibri"/>
              <a:ea typeface="Calibri"/>
              <a:cs typeface="Calibri"/>
              <a:sym typeface="Calibri"/>
            </a:endParaRPr>
          </a:p>
        </p:txBody>
      </p:sp>
      <p:sp>
        <p:nvSpPr>
          <p:cNvPr id="201" name="Google Shape;201;p4"/>
          <p:cNvSpPr/>
          <p:nvPr/>
        </p:nvSpPr>
        <p:spPr>
          <a:xfrm>
            <a:off x="6329476" y="3186192"/>
            <a:ext cx="3525929" cy="603504"/>
          </a:xfrm>
          <a:custGeom>
            <a:rect b="b" l="l" r="r" t="t"/>
            <a:pathLst>
              <a:path extrusionOk="0" h="603504" w="3525929">
                <a:moveTo>
                  <a:pt x="0" y="0"/>
                </a:moveTo>
                <a:lnTo>
                  <a:pt x="3525929" y="0"/>
                </a:lnTo>
                <a:lnTo>
                  <a:pt x="2403338" y="603504"/>
                </a:lnTo>
                <a:lnTo>
                  <a:pt x="1122591" y="603504"/>
                </a:lnTo>
                <a:close/>
              </a:path>
            </a:pathLst>
          </a:custGeom>
          <a:solidFill>
            <a:srgbClr val="4A7C59"/>
          </a:solidFill>
          <a:ln cap="flat" cmpd="sng" w="12700">
            <a:solidFill>
              <a:srgbClr val="4A7C5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4"/>
          <p:cNvSpPr/>
          <p:nvPr/>
        </p:nvSpPr>
        <p:spPr>
          <a:xfrm>
            <a:off x="6329476" y="3186192"/>
            <a:ext cx="3525929"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67,136</a:t>
            </a:r>
            <a:endParaRPr sz="1500">
              <a:solidFill>
                <a:schemeClr val="dk1"/>
              </a:solidFill>
              <a:latin typeface="Calibri"/>
              <a:ea typeface="Calibri"/>
              <a:cs typeface="Calibri"/>
              <a:sym typeface="Calibri"/>
            </a:endParaRPr>
          </a:p>
        </p:txBody>
      </p:sp>
      <p:sp>
        <p:nvSpPr>
          <p:cNvPr id="203" name="Google Shape;203;p4"/>
          <p:cNvSpPr/>
          <p:nvPr/>
        </p:nvSpPr>
        <p:spPr>
          <a:xfrm>
            <a:off x="10241280" y="3186192"/>
            <a:ext cx="1508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050"/>
              <a:buFont typeface="Arial"/>
              <a:buNone/>
            </a:pPr>
            <a:r>
              <a:rPr lang="en-US" sz="1050">
                <a:solidFill>
                  <a:srgbClr val="B8C5D6"/>
                </a:solidFill>
                <a:latin typeface="Arial"/>
                <a:ea typeface="Arial"/>
                <a:cs typeface="Arial"/>
                <a:sym typeface="Arial"/>
              </a:rPr>
              <a:t>High-confidence label filter</a:t>
            </a:r>
            <a:endParaRPr sz="1050">
              <a:solidFill>
                <a:schemeClr val="dk1"/>
              </a:solidFill>
              <a:latin typeface="Calibri"/>
              <a:ea typeface="Calibri"/>
              <a:cs typeface="Calibri"/>
              <a:sym typeface="Calibri"/>
            </a:endParaRPr>
          </a:p>
        </p:txBody>
      </p:sp>
      <p:sp>
        <p:nvSpPr>
          <p:cNvPr id="204" name="Google Shape;204;p4"/>
          <p:cNvSpPr/>
          <p:nvPr/>
        </p:nvSpPr>
        <p:spPr>
          <a:xfrm>
            <a:off x="7452067" y="3862848"/>
            <a:ext cx="1280746" cy="603504"/>
          </a:xfrm>
          <a:custGeom>
            <a:rect b="b" l="l" r="r" t="t"/>
            <a:pathLst>
              <a:path extrusionOk="0" h="603504" w="1280746">
                <a:moveTo>
                  <a:pt x="0" y="0"/>
                </a:moveTo>
                <a:lnTo>
                  <a:pt x="1280746" y="0"/>
                </a:lnTo>
                <a:lnTo>
                  <a:pt x="1280453" y="603504"/>
                </a:lnTo>
                <a:lnTo>
                  <a:pt x="293" y="603504"/>
                </a:lnTo>
                <a:close/>
              </a:path>
            </a:pathLst>
          </a:cu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4"/>
          <p:cNvSpPr/>
          <p:nvPr/>
        </p:nvSpPr>
        <p:spPr>
          <a:xfrm>
            <a:off x="7452067" y="3862848"/>
            <a:ext cx="1280746"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4,001</a:t>
            </a:r>
            <a:endParaRPr sz="1500">
              <a:solidFill>
                <a:schemeClr val="dk1"/>
              </a:solidFill>
              <a:latin typeface="Calibri"/>
              <a:ea typeface="Calibri"/>
              <a:cs typeface="Calibri"/>
              <a:sym typeface="Calibri"/>
            </a:endParaRPr>
          </a:p>
        </p:txBody>
      </p:sp>
      <p:sp>
        <p:nvSpPr>
          <p:cNvPr id="206" name="Google Shape;206;p4"/>
          <p:cNvSpPr/>
          <p:nvPr/>
        </p:nvSpPr>
        <p:spPr>
          <a:xfrm>
            <a:off x="10241280" y="3862848"/>
            <a:ext cx="1508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050"/>
              <a:buFont typeface="Arial"/>
              <a:buNone/>
            </a:pPr>
            <a:r>
              <a:rPr lang="en-US" sz="1050">
                <a:solidFill>
                  <a:srgbClr val="B8C5D6"/>
                </a:solidFill>
                <a:latin typeface="Arial"/>
                <a:ea typeface="Arial"/>
                <a:cs typeface="Arial"/>
                <a:sym typeface="Arial"/>
              </a:rPr>
              <a:t>Sampled candidates (~50/50)</a:t>
            </a:r>
            <a:endParaRPr sz="1050">
              <a:solidFill>
                <a:schemeClr val="dk1"/>
              </a:solidFill>
              <a:latin typeface="Calibri"/>
              <a:ea typeface="Calibri"/>
              <a:cs typeface="Calibri"/>
              <a:sym typeface="Calibri"/>
            </a:endParaRPr>
          </a:p>
        </p:txBody>
      </p:sp>
      <p:sp>
        <p:nvSpPr>
          <p:cNvPr id="207" name="Google Shape;207;p4"/>
          <p:cNvSpPr/>
          <p:nvPr/>
        </p:nvSpPr>
        <p:spPr>
          <a:xfrm>
            <a:off x="7452360" y="4539504"/>
            <a:ext cx="1280160" cy="603504"/>
          </a:xfrm>
          <a:custGeom>
            <a:rect b="b" l="l" r="r" t="t"/>
            <a:pathLst>
              <a:path extrusionOk="0" h="603504" w="1280160">
                <a:moveTo>
                  <a:pt x="0" y="0"/>
                </a:moveTo>
                <a:lnTo>
                  <a:pt x="1280160" y="0"/>
                </a:lnTo>
                <a:lnTo>
                  <a:pt x="1248156" y="603504"/>
                </a:lnTo>
                <a:lnTo>
                  <a:pt x="32004" y="603504"/>
                </a:lnTo>
                <a:close/>
              </a:path>
            </a:pathLst>
          </a:custGeom>
          <a:solidFill>
            <a:srgbClr val="D4A547"/>
          </a:solidFill>
          <a:ln cap="flat" cmpd="sng" w="12700">
            <a:solidFill>
              <a:srgbClr val="D4A5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4"/>
          <p:cNvSpPr/>
          <p:nvPr/>
        </p:nvSpPr>
        <p:spPr>
          <a:xfrm>
            <a:off x="7452360" y="4539504"/>
            <a:ext cx="128016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3,994</a:t>
            </a:r>
            <a:endParaRPr sz="1500">
              <a:solidFill>
                <a:schemeClr val="dk1"/>
              </a:solidFill>
              <a:latin typeface="Calibri"/>
              <a:ea typeface="Calibri"/>
              <a:cs typeface="Calibri"/>
              <a:sym typeface="Calibri"/>
            </a:endParaRPr>
          </a:p>
        </p:txBody>
      </p:sp>
      <p:sp>
        <p:nvSpPr>
          <p:cNvPr id="209" name="Google Shape;209;p4"/>
          <p:cNvSpPr/>
          <p:nvPr/>
        </p:nvSpPr>
        <p:spPr>
          <a:xfrm>
            <a:off x="10241280" y="4539504"/>
            <a:ext cx="1508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050"/>
              <a:buFont typeface="Arial"/>
              <a:buNone/>
            </a:pPr>
            <a:r>
              <a:rPr lang="en-US" sz="1050">
                <a:solidFill>
                  <a:srgbClr val="B8C5D6"/>
                </a:solidFill>
                <a:latin typeface="Arial"/>
                <a:ea typeface="Arial"/>
                <a:cs typeface="Arial"/>
                <a:sym typeface="Arial"/>
              </a:rPr>
              <a:t>Usable masked crops</a:t>
            </a:r>
            <a:endParaRPr sz="1050">
              <a:solidFill>
                <a:schemeClr val="dk1"/>
              </a:solidFill>
              <a:latin typeface="Calibri"/>
              <a:ea typeface="Calibri"/>
              <a:cs typeface="Calibri"/>
              <a:sym typeface="Calibri"/>
            </a:endParaRPr>
          </a:p>
        </p:txBody>
      </p:sp>
      <p:cxnSp>
        <p:nvCxnSpPr>
          <p:cNvPr id="210" name="Google Shape;210;p4"/>
          <p:cNvCxnSpPr/>
          <p:nvPr/>
        </p:nvCxnSpPr>
        <p:spPr>
          <a:xfrm>
            <a:off x="457200" y="6446520"/>
            <a:ext cx="11247120" cy="0"/>
          </a:xfrm>
          <a:prstGeom prst="straightConnector1">
            <a:avLst/>
          </a:prstGeom>
          <a:noFill/>
          <a:ln cap="flat" cmpd="sng" w="9525">
            <a:solidFill>
              <a:srgbClr val="3D5478"/>
            </a:solidFill>
            <a:prstDash val="solid"/>
            <a:round/>
            <a:headEnd len="sm" w="sm" type="none"/>
            <a:tailEnd len="sm" w="sm" type="none"/>
          </a:ln>
        </p:spPr>
      </p:cxnSp>
      <p:sp>
        <p:nvSpPr>
          <p:cNvPr id="211" name="Google Shape;211;p4"/>
          <p:cNvSpPr/>
          <p:nvPr/>
        </p:nvSpPr>
        <p:spPr>
          <a:xfrm>
            <a:off x="457200" y="6565392"/>
            <a:ext cx="9601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800"/>
              <a:buFont typeface="Arial"/>
              <a:buNone/>
            </a:pPr>
            <a:r>
              <a:rPr i="1" lang="en-US" sz="800">
                <a:solidFill>
                  <a:srgbClr val="8B95A3"/>
                </a:solidFill>
                <a:latin typeface="Arial"/>
                <a:ea typeface="Arial"/>
                <a:cs typeface="Arial"/>
                <a:sym typeface="Arial"/>
              </a:rPr>
              <a:t>Source: MassGIS Property Tax Parcels &amp; Building Structures 2-D; NAIP via Microsoft Planetary Computer STAC API</a:t>
            </a:r>
            <a:endParaRPr sz="800">
              <a:solidFill>
                <a:schemeClr val="dk1"/>
              </a:solidFill>
              <a:latin typeface="Calibri"/>
              <a:ea typeface="Calibri"/>
              <a:cs typeface="Calibri"/>
              <a:sym typeface="Calibri"/>
            </a:endParaRPr>
          </a:p>
        </p:txBody>
      </p:sp>
      <p:sp>
        <p:nvSpPr>
          <p:cNvPr id="212" name="Google Shape;212;p4"/>
          <p:cNvSpPr/>
          <p:nvPr/>
        </p:nvSpPr>
        <p:spPr>
          <a:xfrm>
            <a:off x="10058400" y="6565392"/>
            <a:ext cx="164592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A3"/>
              </a:buClr>
              <a:buSzPts val="800"/>
              <a:buFont typeface="Arial"/>
              <a:buNone/>
            </a:pPr>
            <a:r>
              <a:rPr b="1" lang="en-US" sz="800">
                <a:solidFill>
                  <a:srgbClr val="8B95A3"/>
                </a:solidFill>
                <a:latin typeface="Arial"/>
                <a:ea typeface="Arial"/>
                <a:cs typeface="Arial"/>
                <a:sym typeface="Arial"/>
              </a:rPr>
              <a:t>04 / 19</a:t>
            </a:r>
            <a:endParaRPr sz="800">
              <a:solidFill>
                <a:schemeClr val="dk1"/>
              </a:solidFill>
              <a:latin typeface="Calibri"/>
              <a:ea typeface="Calibri"/>
              <a:cs typeface="Calibri"/>
              <a:sym typeface="Calibri"/>
            </a:endParaRPr>
          </a:p>
        </p:txBody>
      </p:sp>
      <p:sp>
        <p:nvSpPr>
          <p:cNvPr id="213" name="Google Shape;213;p4"/>
          <p:cNvSpPr/>
          <p:nvPr/>
        </p:nvSpPr>
        <p:spPr>
          <a:xfrm>
            <a:off x="6995795" y="5509704"/>
            <a:ext cx="758016" cy="758016"/>
          </a:xfrm>
          <a:prstGeom prst="rect">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4"/>
          <p:cNvSpPr/>
          <p:nvPr/>
        </p:nvSpPr>
        <p:spPr>
          <a:xfrm>
            <a:off x="7806151" y="5509704"/>
            <a:ext cx="2376074" cy="222192"/>
          </a:xfrm>
          <a:prstGeom prst="rect">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Topography Map with solid fill" id="215" name="Google Shape;215;p4"/>
          <p:cNvSpPr/>
          <p:nvPr/>
        </p:nvSpPr>
        <p:spPr>
          <a:xfrm>
            <a:off x="7210211" y="5724120"/>
            <a:ext cx="329184" cy="329184"/>
          </a:xfrm>
          <a:prstGeom prst="rect">
            <a:avLst/>
          </a:prstGeom>
          <a:noFill/>
          <a:ln>
            <a:noFill/>
          </a:ln>
        </p:spPr>
      </p:sp>
      <p:sp>
        <p:nvSpPr>
          <p:cNvPr id="216" name="Google Shape;216;p4"/>
          <p:cNvSpPr/>
          <p:nvPr/>
        </p:nvSpPr>
        <p:spPr>
          <a:xfrm>
            <a:off x="7806151" y="5777616"/>
            <a:ext cx="2376074" cy="222192"/>
          </a:xfrm>
          <a:prstGeom prst="rect">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4"/>
          <p:cNvSpPr/>
          <p:nvPr/>
        </p:nvSpPr>
        <p:spPr>
          <a:xfrm>
            <a:off x="7806151" y="6045528"/>
            <a:ext cx="2376074" cy="222192"/>
          </a:xfrm>
          <a:prstGeom prst="rect">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4"/>
          <p:cNvSpPr/>
          <p:nvPr/>
        </p:nvSpPr>
        <p:spPr>
          <a:xfrm>
            <a:off x="7882356" y="5509705"/>
            <a:ext cx="2242720" cy="2221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050"/>
              <a:buFont typeface="Arial"/>
              <a:buNone/>
            </a:pPr>
            <a:r>
              <a:rPr lang="en-US" sz="1050">
                <a:solidFill>
                  <a:srgbClr val="B8C5D6"/>
                </a:solidFill>
                <a:latin typeface="Arial"/>
                <a:ea typeface="Arial"/>
                <a:cs typeface="Arial"/>
                <a:sym typeface="Arial"/>
              </a:rPr>
              <a:t>Newton/Brookline (urban)</a:t>
            </a:r>
            <a:endParaRPr/>
          </a:p>
        </p:txBody>
      </p:sp>
      <p:sp>
        <p:nvSpPr>
          <p:cNvPr id="219" name="Google Shape;219;p4"/>
          <p:cNvSpPr/>
          <p:nvPr/>
        </p:nvSpPr>
        <p:spPr>
          <a:xfrm>
            <a:off x="7882356" y="5777616"/>
            <a:ext cx="2242720" cy="2221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050"/>
              <a:buFont typeface="Arial"/>
              <a:buNone/>
            </a:pPr>
            <a:r>
              <a:rPr lang="en-US" sz="1050">
                <a:solidFill>
                  <a:srgbClr val="B8C5D6"/>
                </a:solidFill>
                <a:latin typeface="Arial"/>
                <a:ea typeface="Arial"/>
                <a:cs typeface="Arial"/>
                <a:sym typeface="Arial"/>
              </a:rPr>
              <a:t>Framingham (suburban)</a:t>
            </a:r>
            <a:endParaRPr/>
          </a:p>
        </p:txBody>
      </p:sp>
      <p:sp>
        <p:nvSpPr>
          <p:cNvPr id="220" name="Google Shape;220;p4"/>
          <p:cNvSpPr/>
          <p:nvPr/>
        </p:nvSpPr>
        <p:spPr>
          <a:xfrm>
            <a:off x="7882356" y="6045528"/>
            <a:ext cx="2242720" cy="2221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050"/>
              <a:buFont typeface="Arial"/>
              <a:buNone/>
            </a:pPr>
            <a:r>
              <a:rPr lang="en-US" sz="1050">
                <a:solidFill>
                  <a:srgbClr val="B8C5D6"/>
                </a:solidFill>
                <a:latin typeface="Arial"/>
                <a:ea typeface="Arial"/>
                <a:cs typeface="Arial"/>
                <a:sym typeface="Arial"/>
              </a:rPr>
              <a:t>Worcester edge (lower density)</a:t>
            </a:r>
            <a:endParaRPr sz="1050">
              <a:solidFill>
                <a:srgbClr val="B8C5D6"/>
              </a:solidFill>
              <a:latin typeface="Calibri"/>
              <a:ea typeface="Calibri"/>
              <a:cs typeface="Calibri"/>
              <a:sym typeface="Calibri"/>
            </a:endParaRPr>
          </a:p>
        </p:txBody>
      </p:sp>
      <p:sp>
        <p:nvSpPr>
          <p:cNvPr id="221" name="Google Shape;221;p4"/>
          <p:cNvSpPr/>
          <p:nvPr/>
        </p:nvSpPr>
        <p:spPr>
          <a:xfrm>
            <a:off x="1817152" y="5509704"/>
            <a:ext cx="1257083" cy="758016"/>
          </a:xfrm>
          <a:prstGeom prst="rect">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Tag with solid fill" id="222" name="Google Shape;222;p4"/>
          <p:cNvSpPr/>
          <p:nvPr/>
        </p:nvSpPr>
        <p:spPr>
          <a:xfrm>
            <a:off x="1968435" y="5724121"/>
            <a:ext cx="329184" cy="329184"/>
          </a:xfrm>
          <a:prstGeom prst="rect">
            <a:avLst/>
          </a:prstGeom>
          <a:noFill/>
          <a:ln>
            <a:noFill/>
          </a:ln>
        </p:spPr>
      </p:sp>
      <p:sp>
        <p:nvSpPr>
          <p:cNvPr id="223" name="Google Shape;223;p4"/>
          <p:cNvSpPr/>
          <p:nvPr/>
        </p:nvSpPr>
        <p:spPr>
          <a:xfrm>
            <a:off x="2407109" y="5713899"/>
            <a:ext cx="5270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Proxy Label Rule</a:t>
            </a:r>
            <a:endParaRPr sz="1200">
              <a:solidFill>
                <a:schemeClr val="dk1"/>
              </a:solidFill>
              <a:latin typeface="Calibri"/>
              <a:ea typeface="Calibri"/>
              <a:cs typeface="Calibri"/>
              <a:sym typeface="Calibri"/>
            </a:endParaRPr>
          </a:p>
        </p:txBody>
      </p:sp>
      <p:sp>
        <p:nvSpPr>
          <p:cNvPr id="224" name="Google Shape;224;p4"/>
          <p:cNvSpPr/>
          <p:nvPr/>
        </p:nvSpPr>
        <p:spPr>
          <a:xfrm>
            <a:off x="3126575" y="5501928"/>
            <a:ext cx="3766078" cy="360034"/>
          </a:xfrm>
          <a:prstGeom prst="rect">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4"/>
          <p:cNvSpPr/>
          <p:nvPr/>
        </p:nvSpPr>
        <p:spPr>
          <a:xfrm>
            <a:off x="3126575" y="5907682"/>
            <a:ext cx="3766078" cy="360034"/>
          </a:xfrm>
          <a:prstGeom prst="rect">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4"/>
          <p:cNvSpPr/>
          <p:nvPr/>
        </p:nvSpPr>
        <p:spPr>
          <a:xfrm>
            <a:off x="3492156" y="5570666"/>
            <a:ext cx="3687876" cy="2225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050"/>
              <a:buFont typeface="Arial"/>
              <a:buNone/>
            </a:pPr>
            <a:r>
              <a:rPr lang="en-US" sz="1050">
                <a:solidFill>
                  <a:srgbClr val="B8C5D6"/>
                </a:solidFill>
                <a:latin typeface="Arial"/>
                <a:ea typeface="Arial"/>
                <a:cs typeface="Arial"/>
                <a:sym typeface="Arial"/>
              </a:rPr>
              <a:t>built = 1 if building overlap ≥ 50 m² </a:t>
            </a:r>
            <a:endParaRPr/>
          </a:p>
        </p:txBody>
      </p:sp>
      <p:sp>
        <p:nvSpPr>
          <p:cNvPr descr="No sign with solid fill" id="227" name="Google Shape;227;p4"/>
          <p:cNvSpPr/>
          <p:nvPr/>
        </p:nvSpPr>
        <p:spPr>
          <a:xfrm>
            <a:off x="3183726" y="5960077"/>
            <a:ext cx="255244" cy="255244"/>
          </a:xfrm>
          <a:prstGeom prst="rect">
            <a:avLst/>
          </a:prstGeom>
          <a:noFill/>
          <a:ln>
            <a:noFill/>
          </a:ln>
        </p:spPr>
      </p:sp>
      <p:sp>
        <p:nvSpPr>
          <p:cNvPr descr="Building with solid fill" id="228" name="Google Shape;228;p4"/>
          <p:cNvSpPr/>
          <p:nvPr/>
        </p:nvSpPr>
        <p:spPr>
          <a:xfrm>
            <a:off x="3183726" y="5554323"/>
            <a:ext cx="255244" cy="255244"/>
          </a:xfrm>
          <a:prstGeom prst="rect">
            <a:avLst/>
          </a:prstGeom>
          <a:noFill/>
          <a:ln>
            <a:noFill/>
          </a:ln>
        </p:spPr>
      </p:sp>
      <p:sp>
        <p:nvSpPr>
          <p:cNvPr id="229" name="Google Shape;229;p4"/>
          <p:cNvSpPr/>
          <p:nvPr/>
        </p:nvSpPr>
        <p:spPr>
          <a:xfrm>
            <a:off x="3492156" y="5981855"/>
            <a:ext cx="3687876" cy="2225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050"/>
              <a:buFont typeface="Arial"/>
              <a:buNone/>
            </a:pPr>
            <a:r>
              <a:rPr lang="en-US" sz="1050">
                <a:solidFill>
                  <a:srgbClr val="B8C5D6"/>
                </a:solidFill>
                <a:latin typeface="Arial"/>
                <a:ea typeface="Arial"/>
                <a:cs typeface="Arial"/>
                <a:sym typeface="Arial"/>
              </a:rPr>
              <a:t>built = 0 if zero overlap </a:t>
            </a:r>
            <a:r>
              <a:rPr i="1" lang="en-US" sz="1050">
                <a:solidFill>
                  <a:srgbClr val="B8C5D6"/>
                </a:solidFill>
                <a:latin typeface="Arial"/>
                <a:ea typeface="Arial"/>
                <a:cs typeface="Arial"/>
                <a:sym typeface="Arial"/>
              </a:rPr>
              <a:t>and</a:t>
            </a:r>
            <a:r>
              <a:rPr lang="en-US" sz="1050">
                <a:solidFill>
                  <a:srgbClr val="B8C5D6"/>
                </a:solidFill>
                <a:latin typeface="Arial"/>
                <a:ea typeface="Arial"/>
                <a:cs typeface="Arial"/>
                <a:sym typeface="Arial"/>
              </a:rPr>
              <a:t> ≥ 5 m to nearest footprint</a:t>
            </a:r>
            <a:endParaRPr sz="10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34" name="Shape 234"/>
        <p:cNvGrpSpPr/>
        <p:nvPr/>
      </p:nvGrpSpPr>
      <p:grpSpPr>
        <a:xfrm>
          <a:off x="0" y="0"/>
          <a:ext cx="0" cy="0"/>
          <a:chOff x="0" y="0"/>
          <a:chExt cx="0" cy="0"/>
        </a:xfrm>
      </p:grpSpPr>
      <p:sp>
        <p:nvSpPr>
          <p:cNvPr id="235" name="Google Shape;235;p6"/>
          <p:cNvSpPr/>
          <p:nvPr/>
        </p:nvSpPr>
        <p:spPr>
          <a:xfrm>
            <a:off x="457200" y="365760"/>
            <a:ext cx="320040" cy="18288"/>
          </a:xfrm>
          <a:prstGeom prst="rect">
            <a:avLst/>
          </a:prstGeom>
          <a:solidFill>
            <a:srgbClr val="5B957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6"/>
          <p:cNvSpPr/>
          <p:nvPr/>
        </p:nvSpPr>
        <p:spPr>
          <a:xfrm>
            <a:off x="457200" y="411480"/>
            <a:ext cx="11247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lang="en-US" sz="2800">
                <a:solidFill>
                  <a:srgbClr val="FFFFFF"/>
                </a:solidFill>
                <a:latin typeface="Arial"/>
                <a:ea typeface="Arial"/>
                <a:cs typeface="Arial"/>
                <a:sym typeface="Arial"/>
              </a:rPr>
              <a:t>Pre-</a:t>
            </a:r>
            <a:r>
              <a:rPr b="1" lang="en-US" sz="2800">
                <a:solidFill>
                  <a:srgbClr val="FFFFFF"/>
                </a:solidFill>
              </a:rPr>
              <a:t>P</a:t>
            </a:r>
            <a:r>
              <a:rPr b="1" lang="en-US" sz="2800">
                <a:solidFill>
                  <a:srgbClr val="FFFFFF"/>
                </a:solidFill>
                <a:latin typeface="Arial"/>
                <a:ea typeface="Arial"/>
                <a:cs typeface="Arial"/>
                <a:sym typeface="Arial"/>
              </a:rPr>
              <a:t>rocessing Pipeline</a:t>
            </a:r>
            <a:endParaRPr sz="2800">
              <a:solidFill>
                <a:schemeClr val="dk1"/>
              </a:solidFill>
              <a:latin typeface="Calibri"/>
              <a:ea typeface="Calibri"/>
              <a:cs typeface="Calibri"/>
              <a:sym typeface="Calibri"/>
            </a:endParaRPr>
          </a:p>
        </p:txBody>
      </p:sp>
      <p:sp>
        <p:nvSpPr>
          <p:cNvPr id="237" name="Google Shape;237;p6"/>
          <p:cNvSpPr/>
          <p:nvPr/>
        </p:nvSpPr>
        <p:spPr>
          <a:xfrm>
            <a:off x="457200" y="960120"/>
            <a:ext cx="11247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Each parcel becomes a 160×160 masked aerial crop, with off-parcel pixels filled by the parcel mean color</a:t>
            </a:r>
            <a:endParaRPr sz="1600">
              <a:solidFill>
                <a:schemeClr val="dk1"/>
              </a:solidFill>
              <a:latin typeface="Calibri"/>
              <a:ea typeface="Calibri"/>
              <a:cs typeface="Calibri"/>
              <a:sym typeface="Calibri"/>
            </a:endParaRPr>
          </a:p>
        </p:txBody>
      </p:sp>
      <p:cxnSp>
        <p:nvCxnSpPr>
          <p:cNvPr id="238" name="Google Shape;238;p6"/>
          <p:cNvCxnSpPr/>
          <p:nvPr/>
        </p:nvCxnSpPr>
        <p:spPr>
          <a:xfrm>
            <a:off x="1647200" y="2090000"/>
            <a:ext cx="8897600" cy="0"/>
          </a:xfrm>
          <a:prstGeom prst="straightConnector1">
            <a:avLst/>
          </a:prstGeom>
          <a:noFill/>
          <a:ln cap="flat" cmpd="sng" w="12700">
            <a:solidFill>
              <a:srgbClr val="5B9573"/>
            </a:solidFill>
            <a:prstDash val="dash"/>
            <a:round/>
            <a:headEnd len="sm" w="sm" type="none"/>
            <a:tailEnd len="sm" w="sm" type="none"/>
          </a:ln>
        </p:spPr>
      </p:cxnSp>
      <p:sp>
        <p:nvSpPr>
          <p:cNvPr id="239" name="Google Shape;239;p6"/>
          <p:cNvSpPr/>
          <p:nvPr/>
        </p:nvSpPr>
        <p:spPr>
          <a:xfrm>
            <a:off x="1267200" y="1900000"/>
            <a:ext cx="380000" cy="380000"/>
          </a:xfrm>
          <a:prstGeom prst="ellipse">
            <a:avLst/>
          </a:prstGeom>
          <a:solidFill>
            <a:srgbClr val="C8553D"/>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1</a:t>
            </a:r>
            <a:endParaRPr sz="1600">
              <a:solidFill>
                <a:schemeClr val="dk1"/>
              </a:solidFill>
              <a:latin typeface="Calibri"/>
              <a:ea typeface="Calibri"/>
              <a:cs typeface="Calibri"/>
              <a:sym typeface="Calibri"/>
            </a:endParaRPr>
          </a:p>
        </p:txBody>
      </p:sp>
      <p:sp>
        <p:nvSpPr>
          <p:cNvPr id="240" name="Google Shape;240;p6"/>
          <p:cNvSpPr/>
          <p:nvPr/>
        </p:nvSpPr>
        <p:spPr>
          <a:xfrm>
            <a:off x="457200" y="2480000"/>
            <a:ext cx="2000000" cy="600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150"/>
              <a:buFont typeface="Arial"/>
              <a:buNone/>
            </a:pPr>
            <a:r>
              <a:rPr b="1" lang="en-US" sz="1150">
                <a:solidFill>
                  <a:srgbClr val="FFFFFF"/>
                </a:solidFill>
                <a:latin typeface="Arial"/>
                <a:ea typeface="Arial"/>
                <a:cs typeface="Arial"/>
                <a:sym typeface="Arial"/>
              </a:rPr>
              <a:t>Original NAIP</a:t>
            </a:r>
            <a:br>
              <a:rPr lang="en-US" sz="1150">
                <a:solidFill>
                  <a:schemeClr val="dk1"/>
                </a:solidFill>
                <a:latin typeface="Calibri"/>
                <a:ea typeface="Calibri"/>
                <a:cs typeface="Calibri"/>
                <a:sym typeface="Calibri"/>
              </a:rPr>
            </a:br>
            <a:r>
              <a:rPr b="1" lang="en-US" sz="1150">
                <a:solidFill>
                  <a:srgbClr val="FFFFFF"/>
                </a:solidFill>
                <a:latin typeface="Arial"/>
                <a:ea typeface="Arial"/>
                <a:cs typeface="Arial"/>
                <a:sym typeface="Arial"/>
              </a:rPr>
              <a:t>context crop</a:t>
            </a:r>
            <a:endParaRPr sz="1150">
              <a:solidFill>
                <a:schemeClr val="dk1"/>
              </a:solidFill>
              <a:latin typeface="Calibri"/>
              <a:ea typeface="Calibri"/>
              <a:cs typeface="Calibri"/>
              <a:sym typeface="Calibri"/>
            </a:endParaRPr>
          </a:p>
        </p:txBody>
      </p:sp>
      <p:pic>
        <p:nvPicPr>
          <p:cNvPr id="241" name="Google Shape;241;p6"/>
          <p:cNvPicPr preferRelativeResize="0"/>
          <p:nvPr/>
        </p:nvPicPr>
        <p:blipFill rotWithShape="1">
          <a:blip r:embed="rId3">
            <a:alphaModFix/>
          </a:blip>
          <a:srcRect b="47358" l="813" r="69653" t="9754"/>
          <a:stretch/>
        </p:blipFill>
        <p:spPr>
          <a:xfrm>
            <a:off x="603833" y="3180000"/>
            <a:ext cx="1706733" cy="1700000"/>
          </a:xfrm>
          <a:prstGeom prst="rect">
            <a:avLst/>
          </a:prstGeom>
          <a:noFill/>
          <a:ln>
            <a:noFill/>
          </a:ln>
        </p:spPr>
      </p:pic>
      <p:sp>
        <p:nvSpPr>
          <p:cNvPr id="242" name="Google Shape;242;p6"/>
          <p:cNvSpPr/>
          <p:nvPr/>
        </p:nvSpPr>
        <p:spPr>
          <a:xfrm>
            <a:off x="457200" y="4960000"/>
            <a:ext cx="2000000" cy="7000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B8C5D6"/>
              </a:buClr>
              <a:buSzPts val="1000"/>
              <a:buFont typeface="Arial"/>
              <a:buNone/>
            </a:pPr>
            <a:r>
              <a:rPr b="1" lang="en-US" sz="1100">
                <a:solidFill>
                  <a:srgbClr val="B8C5D6"/>
                </a:solidFill>
              </a:rPr>
              <a:t>Aerial RGB tile around the parcel</a:t>
            </a:r>
            <a:endParaRPr b="1" sz="1100">
              <a:solidFill>
                <a:schemeClr val="dk1"/>
              </a:solidFill>
              <a:latin typeface="Calibri"/>
              <a:ea typeface="Calibri"/>
              <a:cs typeface="Calibri"/>
              <a:sym typeface="Calibri"/>
            </a:endParaRPr>
          </a:p>
        </p:txBody>
      </p:sp>
      <p:sp>
        <p:nvSpPr>
          <p:cNvPr id="243" name="Google Shape;243;p6"/>
          <p:cNvSpPr/>
          <p:nvPr/>
        </p:nvSpPr>
        <p:spPr>
          <a:xfrm>
            <a:off x="3586600" y="1900000"/>
            <a:ext cx="380000" cy="380000"/>
          </a:xfrm>
          <a:prstGeom prst="ellipse">
            <a:avLst/>
          </a:prstGeom>
          <a:solidFill>
            <a:srgbClr val="C8553D"/>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2</a:t>
            </a:r>
            <a:endParaRPr sz="1600">
              <a:solidFill>
                <a:schemeClr val="dk1"/>
              </a:solidFill>
              <a:latin typeface="Calibri"/>
              <a:ea typeface="Calibri"/>
              <a:cs typeface="Calibri"/>
              <a:sym typeface="Calibri"/>
            </a:endParaRPr>
          </a:p>
        </p:txBody>
      </p:sp>
      <p:sp>
        <p:nvSpPr>
          <p:cNvPr id="244" name="Google Shape;244;p6"/>
          <p:cNvSpPr/>
          <p:nvPr/>
        </p:nvSpPr>
        <p:spPr>
          <a:xfrm>
            <a:off x="2776600" y="2480000"/>
            <a:ext cx="2000000" cy="600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150"/>
              <a:buFont typeface="Arial"/>
              <a:buNone/>
            </a:pPr>
            <a:r>
              <a:rPr b="1" lang="en-US" sz="1150">
                <a:solidFill>
                  <a:srgbClr val="FFFFFF"/>
                </a:solidFill>
                <a:latin typeface="Arial"/>
                <a:ea typeface="Arial"/>
                <a:cs typeface="Arial"/>
                <a:sym typeface="Arial"/>
              </a:rPr>
              <a:t>Parcel boundary</a:t>
            </a:r>
            <a:br>
              <a:rPr lang="en-US" sz="1150">
                <a:solidFill>
                  <a:schemeClr val="dk1"/>
                </a:solidFill>
                <a:latin typeface="Calibri"/>
                <a:ea typeface="Calibri"/>
                <a:cs typeface="Calibri"/>
                <a:sym typeface="Calibri"/>
              </a:rPr>
            </a:br>
            <a:r>
              <a:rPr b="1" lang="en-US" sz="1150">
                <a:solidFill>
                  <a:srgbClr val="FFFFFF"/>
                </a:solidFill>
                <a:latin typeface="Arial"/>
                <a:ea typeface="Arial"/>
                <a:cs typeface="Arial"/>
                <a:sym typeface="Arial"/>
              </a:rPr>
              <a:t>highlighted</a:t>
            </a:r>
            <a:endParaRPr sz="1150">
              <a:solidFill>
                <a:schemeClr val="dk1"/>
              </a:solidFill>
              <a:latin typeface="Calibri"/>
              <a:ea typeface="Calibri"/>
              <a:cs typeface="Calibri"/>
              <a:sym typeface="Calibri"/>
            </a:endParaRPr>
          </a:p>
        </p:txBody>
      </p:sp>
      <p:pic>
        <p:nvPicPr>
          <p:cNvPr id="245" name="Google Shape;245;p6"/>
          <p:cNvPicPr preferRelativeResize="0"/>
          <p:nvPr/>
        </p:nvPicPr>
        <p:blipFill rotWithShape="1">
          <a:blip r:embed="rId3">
            <a:alphaModFix/>
          </a:blip>
          <a:srcRect b="46984" l="35147" r="35129" t="9683"/>
          <a:stretch/>
        </p:blipFill>
        <p:spPr>
          <a:xfrm>
            <a:off x="2926598" y="3180000"/>
            <a:ext cx="1700002" cy="1700000"/>
          </a:xfrm>
          <a:prstGeom prst="rect">
            <a:avLst/>
          </a:prstGeom>
          <a:noFill/>
          <a:ln>
            <a:noFill/>
          </a:ln>
        </p:spPr>
      </p:pic>
      <p:sp>
        <p:nvSpPr>
          <p:cNvPr id="246" name="Google Shape;246;p6"/>
          <p:cNvSpPr/>
          <p:nvPr/>
        </p:nvSpPr>
        <p:spPr>
          <a:xfrm>
            <a:off x="2776600" y="4960000"/>
            <a:ext cx="2000000" cy="7000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B8C5D6"/>
              </a:buClr>
              <a:buSzPts val="1000"/>
              <a:buFont typeface="Arial"/>
              <a:buNone/>
            </a:pPr>
            <a:r>
              <a:rPr b="1" lang="en-US" sz="1100">
                <a:solidFill>
                  <a:srgbClr val="B8C5D6"/>
                </a:solidFill>
              </a:rPr>
              <a:t>Vector geometry overlaid in cyan</a:t>
            </a:r>
            <a:endParaRPr b="1" sz="1100">
              <a:solidFill>
                <a:schemeClr val="dk1"/>
              </a:solidFill>
              <a:latin typeface="Calibri"/>
              <a:ea typeface="Calibri"/>
              <a:cs typeface="Calibri"/>
              <a:sym typeface="Calibri"/>
            </a:endParaRPr>
          </a:p>
        </p:txBody>
      </p:sp>
      <p:sp>
        <p:nvSpPr>
          <p:cNvPr id="247" name="Google Shape;247;p6"/>
          <p:cNvSpPr/>
          <p:nvPr/>
        </p:nvSpPr>
        <p:spPr>
          <a:xfrm>
            <a:off x="5906000" y="1900000"/>
            <a:ext cx="380000" cy="380000"/>
          </a:xfrm>
          <a:prstGeom prst="ellipse">
            <a:avLst/>
          </a:prstGeom>
          <a:solidFill>
            <a:srgbClr val="C8553D"/>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3</a:t>
            </a:r>
            <a:endParaRPr sz="1600">
              <a:solidFill>
                <a:schemeClr val="dk1"/>
              </a:solidFill>
              <a:latin typeface="Calibri"/>
              <a:ea typeface="Calibri"/>
              <a:cs typeface="Calibri"/>
              <a:sym typeface="Calibri"/>
            </a:endParaRPr>
          </a:p>
        </p:txBody>
      </p:sp>
      <p:sp>
        <p:nvSpPr>
          <p:cNvPr id="248" name="Google Shape;248;p6"/>
          <p:cNvSpPr/>
          <p:nvPr/>
        </p:nvSpPr>
        <p:spPr>
          <a:xfrm>
            <a:off x="5096000" y="2480000"/>
            <a:ext cx="2000000" cy="600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150"/>
              <a:buFont typeface="Arial"/>
              <a:buNone/>
            </a:pPr>
            <a:r>
              <a:rPr b="1" lang="en-US" sz="1150">
                <a:solidFill>
                  <a:srgbClr val="FFFFFF"/>
                </a:solidFill>
                <a:latin typeface="Arial"/>
                <a:ea typeface="Arial"/>
                <a:cs typeface="Arial"/>
                <a:sym typeface="Arial"/>
              </a:rPr>
              <a:t>Building overlay</a:t>
            </a:r>
            <a:br>
              <a:rPr lang="en-US" sz="1150">
                <a:solidFill>
                  <a:schemeClr val="dk1"/>
                </a:solidFill>
                <a:latin typeface="Calibri"/>
                <a:ea typeface="Calibri"/>
                <a:cs typeface="Calibri"/>
                <a:sym typeface="Calibri"/>
              </a:rPr>
            </a:br>
            <a:r>
              <a:rPr b="1" lang="en-US" sz="1150">
                <a:solidFill>
                  <a:srgbClr val="FFFFFF"/>
                </a:solidFill>
                <a:latin typeface="Arial"/>
                <a:ea typeface="Arial"/>
                <a:cs typeface="Arial"/>
                <a:sym typeface="Arial"/>
              </a:rPr>
              <a:t>→ proxy label</a:t>
            </a:r>
            <a:endParaRPr sz="1150">
              <a:solidFill>
                <a:schemeClr val="dk1"/>
              </a:solidFill>
              <a:latin typeface="Calibri"/>
              <a:ea typeface="Calibri"/>
              <a:cs typeface="Calibri"/>
              <a:sym typeface="Calibri"/>
            </a:endParaRPr>
          </a:p>
        </p:txBody>
      </p:sp>
      <p:pic>
        <p:nvPicPr>
          <p:cNvPr id="249" name="Google Shape;249;p6"/>
          <p:cNvPicPr preferRelativeResize="0"/>
          <p:nvPr/>
        </p:nvPicPr>
        <p:blipFill rotWithShape="1">
          <a:blip r:embed="rId3">
            <a:alphaModFix/>
          </a:blip>
          <a:srcRect b="1217" l="777" r="69668" t="55867"/>
          <a:stretch/>
        </p:blipFill>
        <p:spPr>
          <a:xfrm>
            <a:off x="5242627" y="3180000"/>
            <a:ext cx="1706745" cy="1700000"/>
          </a:xfrm>
          <a:prstGeom prst="rect">
            <a:avLst/>
          </a:prstGeom>
          <a:noFill/>
          <a:ln>
            <a:noFill/>
          </a:ln>
        </p:spPr>
      </p:pic>
      <p:sp>
        <p:nvSpPr>
          <p:cNvPr id="250" name="Google Shape;250;p6"/>
          <p:cNvSpPr/>
          <p:nvPr/>
        </p:nvSpPr>
        <p:spPr>
          <a:xfrm>
            <a:off x="5096000" y="4960000"/>
            <a:ext cx="2000000" cy="7000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B8C5D6"/>
              </a:buClr>
              <a:buSzPts val="1000"/>
              <a:buFont typeface="Arial"/>
              <a:buNone/>
            </a:pPr>
            <a:r>
              <a:rPr b="1" lang="en-US" sz="1100">
                <a:solidFill>
                  <a:srgbClr val="B8C5D6"/>
                </a:solidFill>
              </a:rPr>
              <a:t>Footprint overlap defines the label</a:t>
            </a:r>
            <a:endParaRPr b="1" sz="1100">
              <a:solidFill>
                <a:schemeClr val="dk1"/>
              </a:solidFill>
              <a:latin typeface="Calibri"/>
              <a:ea typeface="Calibri"/>
              <a:cs typeface="Calibri"/>
              <a:sym typeface="Calibri"/>
            </a:endParaRPr>
          </a:p>
        </p:txBody>
      </p:sp>
      <p:sp>
        <p:nvSpPr>
          <p:cNvPr id="251" name="Google Shape;251;p6"/>
          <p:cNvSpPr/>
          <p:nvPr/>
        </p:nvSpPr>
        <p:spPr>
          <a:xfrm>
            <a:off x="8225400" y="1900000"/>
            <a:ext cx="380000" cy="380000"/>
          </a:xfrm>
          <a:prstGeom prst="ellipse">
            <a:avLst/>
          </a:prstGeom>
          <a:solidFill>
            <a:srgbClr val="C8553D"/>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4</a:t>
            </a:r>
            <a:endParaRPr sz="1600">
              <a:solidFill>
                <a:schemeClr val="dk1"/>
              </a:solidFill>
              <a:latin typeface="Calibri"/>
              <a:ea typeface="Calibri"/>
              <a:cs typeface="Calibri"/>
              <a:sym typeface="Calibri"/>
            </a:endParaRPr>
          </a:p>
        </p:txBody>
      </p:sp>
      <p:sp>
        <p:nvSpPr>
          <p:cNvPr id="252" name="Google Shape;252;p6"/>
          <p:cNvSpPr/>
          <p:nvPr/>
        </p:nvSpPr>
        <p:spPr>
          <a:xfrm>
            <a:off x="7415400" y="2480000"/>
            <a:ext cx="2000000" cy="600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150"/>
              <a:buFont typeface="Arial"/>
              <a:buNone/>
            </a:pPr>
            <a:r>
              <a:rPr b="1" lang="en-US" sz="1150">
                <a:solidFill>
                  <a:srgbClr val="FFFFFF"/>
                </a:solidFill>
                <a:latin typeface="Arial"/>
                <a:ea typeface="Arial"/>
                <a:cs typeface="Arial"/>
                <a:sym typeface="Arial"/>
              </a:rPr>
              <a:t>Mean-color fill</a:t>
            </a:r>
            <a:br>
              <a:rPr lang="en-US" sz="1150">
                <a:solidFill>
                  <a:schemeClr val="dk1"/>
                </a:solidFill>
                <a:latin typeface="Calibri"/>
                <a:ea typeface="Calibri"/>
                <a:cs typeface="Calibri"/>
                <a:sym typeface="Calibri"/>
              </a:rPr>
            </a:br>
            <a:r>
              <a:rPr b="1" lang="en-US" sz="1150">
                <a:solidFill>
                  <a:srgbClr val="FFFFFF"/>
                </a:solidFill>
                <a:latin typeface="Arial"/>
                <a:ea typeface="Arial"/>
                <a:cs typeface="Arial"/>
                <a:sym typeface="Arial"/>
              </a:rPr>
              <a:t>(model input)</a:t>
            </a:r>
            <a:endParaRPr sz="1150">
              <a:solidFill>
                <a:schemeClr val="dk1"/>
              </a:solidFill>
              <a:latin typeface="Calibri"/>
              <a:ea typeface="Calibri"/>
              <a:cs typeface="Calibri"/>
              <a:sym typeface="Calibri"/>
            </a:endParaRPr>
          </a:p>
        </p:txBody>
      </p:sp>
      <p:pic>
        <p:nvPicPr>
          <p:cNvPr id="253" name="Google Shape;253;p6"/>
          <p:cNvPicPr preferRelativeResize="0"/>
          <p:nvPr/>
        </p:nvPicPr>
        <p:blipFill rotWithShape="1">
          <a:blip r:embed="rId3">
            <a:alphaModFix/>
          </a:blip>
          <a:srcRect b="1052" l="35162" r="35178" t="55986"/>
          <a:stretch/>
        </p:blipFill>
        <p:spPr>
          <a:xfrm>
            <a:off x="7559904" y="3180000"/>
            <a:ext cx="1710992" cy="1700000"/>
          </a:xfrm>
          <a:prstGeom prst="rect">
            <a:avLst/>
          </a:prstGeom>
          <a:noFill/>
          <a:ln>
            <a:noFill/>
          </a:ln>
        </p:spPr>
      </p:pic>
      <p:sp>
        <p:nvSpPr>
          <p:cNvPr id="254" name="Google Shape;254;p6"/>
          <p:cNvSpPr/>
          <p:nvPr/>
        </p:nvSpPr>
        <p:spPr>
          <a:xfrm>
            <a:off x="7415400" y="4960000"/>
            <a:ext cx="2000000" cy="7000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B8C5D6"/>
              </a:buClr>
              <a:buSzPts val="1000"/>
              <a:buFont typeface="Arial"/>
              <a:buNone/>
            </a:pPr>
            <a:r>
              <a:rPr b="1" lang="en-US" sz="1100">
                <a:solidFill>
                  <a:srgbClr val="B8C5D6"/>
                </a:solidFill>
              </a:rPr>
              <a:t>Off-parcel pixels filled with original tile’s mean RGB</a:t>
            </a:r>
            <a:endParaRPr b="1" sz="1100">
              <a:solidFill>
                <a:schemeClr val="dk1"/>
              </a:solidFill>
              <a:latin typeface="Calibri"/>
              <a:ea typeface="Calibri"/>
              <a:cs typeface="Calibri"/>
              <a:sym typeface="Calibri"/>
            </a:endParaRPr>
          </a:p>
        </p:txBody>
      </p:sp>
      <p:sp>
        <p:nvSpPr>
          <p:cNvPr id="255" name="Google Shape;255;p6"/>
          <p:cNvSpPr/>
          <p:nvPr/>
        </p:nvSpPr>
        <p:spPr>
          <a:xfrm>
            <a:off x="10544800" y="1900000"/>
            <a:ext cx="380000" cy="380000"/>
          </a:xfrm>
          <a:prstGeom prst="ellipse">
            <a:avLst/>
          </a:prstGeom>
          <a:solidFill>
            <a:srgbClr val="C8553D"/>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5</a:t>
            </a:r>
            <a:endParaRPr sz="1600">
              <a:solidFill>
                <a:schemeClr val="dk1"/>
              </a:solidFill>
              <a:latin typeface="Calibri"/>
              <a:ea typeface="Calibri"/>
              <a:cs typeface="Calibri"/>
              <a:sym typeface="Calibri"/>
            </a:endParaRPr>
          </a:p>
        </p:txBody>
      </p:sp>
      <p:sp>
        <p:nvSpPr>
          <p:cNvPr id="256" name="Google Shape;256;p6"/>
          <p:cNvSpPr/>
          <p:nvPr/>
        </p:nvSpPr>
        <p:spPr>
          <a:xfrm>
            <a:off x="9734800" y="2480000"/>
            <a:ext cx="2000000" cy="600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150"/>
              <a:buFont typeface="Arial"/>
              <a:buNone/>
            </a:pPr>
            <a:r>
              <a:rPr b="1" lang="en-US" sz="1150">
                <a:solidFill>
                  <a:srgbClr val="FFFFFF"/>
                </a:solidFill>
                <a:latin typeface="Arial"/>
                <a:ea typeface="Arial"/>
                <a:cs typeface="Arial"/>
                <a:sym typeface="Arial"/>
              </a:rPr>
              <a:t>Resized 160×160</a:t>
            </a:r>
            <a:br>
              <a:rPr lang="en-US" sz="1150">
                <a:solidFill>
                  <a:schemeClr val="dk1"/>
                </a:solidFill>
                <a:latin typeface="Calibri"/>
                <a:ea typeface="Calibri"/>
                <a:cs typeface="Calibri"/>
                <a:sym typeface="Calibri"/>
              </a:rPr>
            </a:br>
            <a:r>
              <a:rPr b="1" lang="en-US" sz="1150">
                <a:solidFill>
                  <a:srgbClr val="FFFFFF"/>
                </a:solidFill>
                <a:latin typeface="Arial"/>
                <a:ea typeface="Arial"/>
                <a:cs typeface="Arial"/>
                <a:sym typeface="Arial"/>
              </a:rPr>
              <a:t>input tensor</a:t>
            </a:r>
            <a:endParaRPr sz="1150">
              <a:solidFill>
                <a:schemeClr val="dk1"/>
              </a:solidFill>
              <a:latin typeface="Calibri"/>
              <a:ea typeface="Calibri"/>
              <a:cs typeface="Calibri"/>
              <a:sym typeface="Calibri"/>
            </a:endParaRPr>
          </a:p>
        </p:txBody>
      </p:sp>
      <p:pic>
        <p:nvPicPr>
          <p:cNvPr id="257" name="Google Shape;257;p6"/>
          <p:cNvPicPr preferRelativeResize="0"/>
          <p:nvPr/>
        </p:nvPicPr>
        <p:blipFill rotWithShape="1">
          <a:blip r:embed="rId3">
            <a:alphaModFix/>
          </a:blip>
          <a:srcRect b="1012" l="69676" r="769" t="55862"/>
          <a:stretch/>
        </p:blipFill>
        <p:spPr>
          <a:xfrm>
            <a:off x="9885547" y="3180000"/>
            <a:ext cx="1698506" cy="1700000"/>
          </a:xfrm>
          <a:prstGeom prst="rect">
            <a:avLst/>
          </a:prstGeom>
          <a:noFill/>
          <a:ln>
            <a:noFill/>
          </a:ln>
        </p:spPr>
      </p:pic>
      <p:sp>
        <p:nvSpPr>
          <p:cNvPr id="258" name="Google Shape;258;p6"/>
          <p:cNvSpPr/>
          <p:nvPr/>
        </p:nvSpPr>
        <p:spPr>
          <a:xfrm>
            <a:off x="9734800" y="4960000"/>
            <a:ext cx="2000000" cy="7000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B8C5D6"/>
              </a:buClr>
              <a:buSzPts val="1000"/>
              <a:buFont typeface="Arial"/>
              <a:buNone/>
            </a:pPr>
            <a:r>
              <a:rPr b="1" lang="en-US" sz="1100">
                <a:solidFill>
                  <a:srgbClr val="B8C5D6"/>
                </a:solidFill>
              </a:rPr>
              <a:t>Final tensor fed to the CNN</a:t>
            </a:r>
            <a:endParaRPr b="1" sz="1100">
              <a:solidFill>
                <a:schemeClr val="dk1"/>
              </a:solidFill>
              <a:latin typeface="Calibri"/>
              <a:ea typeface="Calibri"/>
              <a:cs typeface="Calibri"/>
              <a:sym typeface="Calibri"/>
            </a:endParaRPr>
          </a:p>
        </p:txBody>
      </p:sp>
      <p:sp>
        <p:nvSpPr>
          <p:cNvPr id="259" name="Google Shape;259;p6"/>
          <p:cNvSpPr/>
          <p:nvPr/>
        </p:nvSpPr>
        <p:spPr>
          <a:xfrm>
            <a:off x="457200" y="5780000"/>
            <a:ext cx="11277600" cy="600000"/>
          </a:xfrm>
          <a:prstGeom prst="rect">
            <a:avLst/>
          </a:prstGeom>
          <a:solidFill>
            <a:srgbClr val="152540"/>
          </a:solidFill>
          <a:ln>
            <a:noFill/>
          </a:ln>
        </p:spPr>
        <p:txBody>
          <a:bodyPr anchorCtr="0" anchor="ctr" bIns="73150" lIns="182875" spcFirstLastPara="1" rIns="182875" wrap="square" tIns="73150">
            <a:noAutofit/>
          </a:bodyPr>
          <a:lstStyle/>
          <a:p>
            <a:pPr indent="0" lvl="0" marL="0" marR="0" rtl="0" algn="ctr">
              <a:lnSpc>
                <a:spcPct val="125000"/>
              </a:lnSpc>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Five deterministic steps. One 160×160 RGB tensor per parcel.  </a:t>
            </a:r>
            <a:r>
              <a:rPr lang="en-US" sz="1200">
                <a:solidFill>
                  <a:srgbClr val="B8C5D6"/>
                </a:solidFill>
                <a:latin typeface="Arial"/>
                <a:ea typeface="Arial"/>
                <a:cs typeface="Arial"/>
                <a:sym typeface="Arial"/>
              </a:rPr>
              <a:t>Off-parcel pixels are filled with the parcel mean color rather than black so the model cannot use the parcel outline as a free shortcut feature.</a:t>
            </a:r>
            <a:endParaRPr sz="1200">
              <a:solidFill>
                <a:schemeClr val="dk1"/>
              </a:solidFill>
              <a:latin typeface="Calibri"/>
              <a:ea typeface="Calibri"/>
              <a:cs typeface="Calibri"/>
              <a:sym typeface="Calibri"/>
            </a:endParaRPr>
          </a:p>
        </p:txBody>
      </p:sp>
      <p:cxnSp>
        <p:nvCxnSpPr>
          <p:cNvPr id="260" name="Google Shape;260;p6"/>
          <p:cNvCxnSpPr/>
          <p:nvPr/>
        </p:nvCxnSpPr>
        <p:spPr>
          <a:xfrm>
            <a:off x="457200" y="6446520"/>
            <a:ext cx="11247120" cy="0"/>
          </a:xfrm>
          <a:prstGeom prst="straightConnector1">
            <a:avLst/>
          </a:prstGeom>
          <a:noFill/>
          <a:ln cap="flat" cmpd="sng" w="9525">
            <a:solidFill>
              <a:srgbClr val="3D5478"/>
            </a:solidFill>
            <a:prstDash val="solid"/>
            <a:round/>
            <a:headEnd len="sm" w="sm" type="none"/>
            <a:tailEnd len="sm" w="sm" type="none"/>
          </a:ln>
        </p:spPr>
      </p:cxnSp>
      <p:sp>
        <p:nvSpPr>
          <p:cNvPr id="261" name="Google Shape;261;p6"/>
          <p:cNvSpPr/>
          <p:nvPr/>
        </p:nvSpPr>
        <p:spPr>
          <a:xfrm>
            <a:off x="457200" y="6565392"/>
            <a:ext cx="9000000" cy="2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95A3"/>
              </a:buClr>
              <a:buSzPts val="900"/>
              <a:buFont typeface="Arial"/>
              <a:buNone/>
            </a:pPr>
            <a:r>
              <a:rPr i="1" lang="en-US" sz="900">
                <a:solidFill>
                  <a:srgbClr val="8B95A3"/>
                </a:solidFill>
                <a:latin typeface="Arial"/>
                <a:ea typeface="Arial"/>
                <a:cs typeface="Arial"/>
                <a:sym typeface="Arial"/>
              </a:rPr>
              <a:t>Mean-color fill applied to off-parcel pixels; final input resized to 160×160</a:t>
            </a:r>
            <a:endParaRPr sz="900">
              <a:solidFill>
                <a:schemeClr val="dk1"/>
              </a:solidFill>
              <a:latin typeface="Calibri"/>
              <a:ea typeface="Calibri"/>
              <a:cs typeface="Calibri"/>
              <a:sym typeface="Calibri"/>
            </a:endParaRPr>
          </a:p>
        </p:txBody>
      </p:sp>
      <p:sp>
        <p:nvSpPr>
          <p:cNvPr id="262" name="Google Shape;262;p6"/>
          <p:cNvSpPr/>
          <p:nvPr/>
        </p:nvSpPr>
        <p:spPr>
          <a:xfrm>
            <a:off x="11000000" y="6565392"/>
            <a:ext cx="734320" cy="200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B95A3"/>
              </a:buClr>
              <a:buSzPts val="900"/>
              <a:buFont typeface="Arial"/>
              <a:buNone/>
            </a:pPr>
            <a:r>
              <a:rPr lang="en-US" sz="900">
                <a:solidFill>
                  <a:srgbClr val="8B95A3"/>
                </a:solidFill>
                <a:latin typeface="Arial"/>
                <a:ea typeface="Arial"/>
                <a:cs typeface="Arial"/>
                <a:sym typeface="Arial"/>
              </a:rPr>
              <a:t>06 / 19</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67" name="Shape 267"/>
        <p:cNvGrpSpPr/>
        <p:nvPr/>
      </p:nvGrpSpPr>
      <p:grpSpPr>
        <a:xfrm>
          <a:off x="0" y="0"/>
          <a:ext cx="0" cy="0"/>
          <a:chOff x="0" y="0"/>
          <a:chExt cx="0" cy="0"/>
        </a:xfrm>
      </p:grpSpPr>
      <p:sp>
        <p:nvSpPr>
          <p:cNvPr id="268" name="Google Shape;268;p8"/>
          <p:cNvSpPr/>
          <p:nvPr/>
        </p:nvSpPr>
        <p:spPr>
          <a:xfrm>
            <a:off x="457200" y="365760"/>
            <a:ext cx="320040" cy="18288"/>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8"/>
          <p:cNvSpPr/>
          <p:nvPr/>
        </p:nvSpPr>
        <p:spPr>
          <a:xfrm>
            <a:off x="457200" y="411480"/>
            <a:ext cx="11247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lang="en-US" sz="2800">
                <a:solidFill>
                  <a:srgbClr val="FFFFFF"/>
                </a:solidFill>
                <a:latin typeface="Arial"/>
                <a:ea typeface="Arial"/>
                <a:cs typeface="Arial"/>
                <a:sym typeface="Arial"/>
              </a:rPr>
              <a:t>Baseline CNN Architecture</a:t>
            </a:r>
            <a:endParaRPr sz="2800">
              <a:solidFill>
                <a:schemeClr val="dk1"/>
              </a:solidFill>
              <a:latin typeface="Calibri"/>
              <a:ea typeface="Calibri"/>
              <a:cs typeface="Calibri"/>
              <a:sym typeface="Calibri"/>
            </a:endParaRPr>
          </a:p>
        </p:txBody>
      </p:sp>
      <p:sp>
        <p:nvSpPr>
          <p:cNvPr id="270" name="Google Shape;270;p8"/>
          <p:cNvSpPr/>
          <p:nvPr/>
        </p:nvSpPr>
        <p:spPr>
          <a:xfrm>
            <a:off x="457200" y="960120"/>
            <a:ext cx="11247000" cy="502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A four-block CNN with BatchNorm, channel doubling, global average pooling, and a sigmoid output</a:t>
            </a:r>
            <a:endParaRPr sz="1600">
              <a:solidFill>
                <a:schemeClr val="dk1"/>
              </a:solidFill>
              <a:latin typeface="Calibri"/>
              <a:ea typeface="Calibri"/>
              <a:cs typeface="Calibri"/>
              <a:sym typeface="Calibri"/>
            </a:endParaRPr>
          </a:p>
        </p:txBody>
      </p:sp>
      <p:grpSp>
        <p:nvGrpSpPr>
          <p:cNvPr id="271" name="Google Shape;271;p8"/>
          <p:cNvGrpSpPr/>
          <p:nvPr/>
        </p:nvGrpSpPr>
        <p:grpSpPr>
          <a:xfrm>
            <a:off x="512860" y="1426475"/>
            <a:ext cx="11135815" cy="2331725"/>
            <a:chOff x="502920" y="1600200"/>
            <a:chExt cx="9738360" cy="2039112"/>
          </a:xfrm>
        </p:grpSpPr>
        <p:sp>
          <p:nvSpPr>
            <p:cNvPr id="272" name="Google Shape;272;p8"/>
            <p:cNvSpPr/>
            <p:nvPr/>
          </p:nvSpPr>
          <p:spPr>
            <a:xfrm>
              <a:off x="1163320" y="1762760"/>
              <a:ext cx="868680" cy="1280160"/>
            </a:xfrm>
            <a:prstGeom prst="rect">
              <a:avLst/>
            </a:prstGeom>
            <a:solidFill>
              <a:srgbClr val="6D788F"/>
            </a:solidFill>
            <a:ln cap="flat" cmpd="sng" w="10900">
              <a:solidFill>
                <a:srgbClr val="6D788F"/>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73" name="Google Shape;273;p8"/>
            <p:cNvSpPr/>
            <p:nvPr/>
          </p:nvSpPr>
          <p:spPr>
            <a:xfrm>
              <a:off x="1122680" y="1803400"/>
              <a:ext cx="868680" cy="1280160"/>
            </a:xfrm>
            <a:prstGeom prst="rect">
              <a:avLst/>
            </a:prstGeom>
            <a:solidFill>
              <a:srgbClr val="5D6A83"/>
            </a:solidFill>
            <a:ln cap="flat" cmpd="sng" w="10900">
              <a:solidFill>
                <a:srgbClr val="5D6A83"/>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74" name="Google Shape;274;p8"/>
            <p:cNvSpPr/>
            <p:nvPr/>
          </p:nvSpPr>
          <p:spPr>
            <a:xfrm>
              <a:off x="1082040" y="1844040"/>
              <a:ext cx="868680" cy="1280160"/>
            </a:xfrm>
            <a:prstGeom prst="rect">
              <a:avLst/>
            </a:prstGeom>
            <a:solidFill>
              <a:srgbClr val="4E5B77"/>
            </a:solidFill>
            <a:ln cap="flat" cmpd="sng" w="10900">
              <a:solidFill>
                <a:srgbClr val="4E5B77"/>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75" name="Google Shape;275;p8"/>
            <p:cNvSpPr/>
            <p:nvPr/>
          </p:nvSpPr>
          <p:spPr>
            <a:xfrm>
              <a:off x="1041400" y="1884680"/>
              <a:ext cx="868680" cy="1280160"/>
            </a:xfrm>
            <a:prstGeom prst="rect">
              <a:avLst/>
            </a:prstGeom>
            <a:solidFill>
              <a:srgbClr val="3E4D6A"/>
            </a:solidFill>
            <a:ln cap="flat" cmpd="sng" w="10900">
              <a:solidFill>
                <a:srgbClr val="3E4D6A"/>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76" name="Google Shape;276;p8"/>
            <p:cNvSpPr/>
            <p:nvPr/>
          </p:nvSpPr>
          <p:spPr>
            <a:xfrm>
              <a:off x="1000760" y="1925320"/>
              <a:ext cx="868680" cy="1280160"/>
            </a:xfrm>
            <a:prstGeom prst="rect">
              <a:avLst/>
            </a:prstGeom>
            <a:solidFill>
              <a:srgbClr val="2F3E5E"/>
            </a:solidFill>
            <a:ln cap="flat" cmpd="sng" w="10900">
              <a:solidFill>
                <a:srgbClr val="2F3E5E"/>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77" name="Google Shape;277;p8"/>
            <p:cNvSpPr/>
            <p:nvPr/>
          </p:nvSpPr>
          <p:spPr>
            <a:xfrm>
              <a:off x="960120" y="1965960"/>
              <a:ext cx="868680" cy="1280160"/>
            </a:xfrm>
            <a:prstGeom prst="rect">
              <a:avLst/>
            </a:prstGeom>
            <a:solidFill>
              <a:srgbClr val="1F3052"/>
            </a:solidFill>
            <a:ln cap="flat" cmpd="sng" w="14525">
              <a:solidFill>
                <a:srgbClr val="1F3052"/>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78" name="Google Shape;278;p8"/>
            <p:cNvSpPr/>
            <p:nvPr/>
          </p:nvSpPr>
          <p:spPr>
            <a:xfrm>
              <a:off x="960120" y="1965960"/>
              <a:ext cx="86868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29"/>
                <a:buFont typeface="Arial"/>
                <a:buNone/>
              </a:pPr>
              <a:r>
                <a:rPr b="1" lang="en-US" sz="1029">
                  <a:solidFill>
                    <a:srgbClr val="FFFFFF"/>
                  </a:solidFill>
                  <a:latin typeface="Arial"/>
                  <a:ea typeface="Arial"/>
                  <a:cs typeface="Arial"/>
                  <a:sym typeface="Arial"/>
                </a:rPr>
                <a:t>Input</a:t>
              </a:r>
              <a:endParaRPr sz="1029">
                <a:solidFill>
                  <a:schemeClr val="dk1"/>
                </a:solidFill>
                <a:latin typeface="Calibri"/>
                <a:ea typeface="Calibri"/>
                <a:cs typeface="Calibri"/>
                <a:sym typeface="Calibri"/>
              </a:endParaRPr>
            </a:p>
          </p:txBody>
        </p:sp>
        <p:sp>
          <p:nvSpPr>
            <p:cNvPr id="279" name="Google Shape;279;p8"/>
            <p:cNvSpPr/>
            <p:nvPr/>
          </p:nvSpPr>
          <p:spPr>
            <a:xfrm>
              <a:off x="868680" y="3383280"/>
              <a:ext cx="14376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6"/>
                </a:buClr>
                <a:buSzPts val="972"/>
                <a:buFont typeface="Arial"/>
                <a:buNone/>
              </a:pPr>
              <a:r>
                <a:rPr b="1" lang="en-US" sz="972">
                  <a:solidFill>
                    <a:srgbClr val="B8C5D6"/>
                  </a:solidFill>
                  <a:latin typeface="Arial"/>
                  <a:ea typeface="Arial"/>
                  <a:cs typeface="Arial"/>
                  <a:sym typeface="Arial"/>
                </a:rPr>
                <a:t>160 × 160 × 3</a:t>
              </a:r>
              <a:endParaRPr sz="972">
                <a:solidFill>
                  <a:schemeClr val="dk1"/>
                </a:solidFill>
                <a:latin typeface="Calibri"/>
                <a:ea typeface="Calibri"/>
                <a:cs typeface="Calibri"/>
                <a:sym typeface="Calibri"/>
              </a:endParaRPr>
            </a:p>
          </p:txBody>
        </p:sp>
        <p:sp>
          <p:nvSpPr>
            <p:cNvPr id="280" name="Google Shape;280;p8"/>
            <p:cNvSpPr/>
            <p:nvPr/>
          </p:nvSpPr>
          <p:spPr>
            <a:xfrm>
              <a:off x="2705041" y="1729799"/>
              <a:ext cx="777240" cy="1005840"/>
            </a:xfrm>
            <a:prstGeom prst="rect">
              <a:avLst/>
            </a:prstGeom>
            <a:solidFill>
              <a:srgbClr val="7588A2"/>
            </a:solidFill>
            <a:ln cap="flat" cmpd="sng" w="10900">
              <a:solidFill>
                <a:srgbClr val="7588A2"/>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81" name="Google Shape;281;p8"/>
            <p:cNvSpPr/>
            <p:nvPr/>
          </p:nvSpPr>
          <p:spPr>
            <a:xfrm>
              <a:off x="2630377" y="1804463"/>
              <a:ext cx="777240" cy="1005840"/>
            </a:xfrm>
            <a:prstGeom prst="rect">
              <a:avLst/>
            </a:prstGeom>
            <a:solidFill>
              <a:srgbClr val="667B98"/>
            </a:solidFill>
            <a:ln cap="flat" cmpd="sng" w="10900">
              <a:solidFill>
                <a:srgbClr val="667B98"/>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82" name="Google Shape;282;p8"/>
            <p:cNvSpPr/>
            <p:nvPr/>
          </p:nvSpPr>
          <p:spPr>
            <a:xfrm>
              <a:off x="2555712" y="1879128"/>
              <a:ext cx="777240" cy="1005840"/>
            </a:xfrm>
            <a:prstGeom prst="rect">
              <a:avLst/>
            </a:prstGeom>
            <a:solidFill>
              <a:srgbClr val="576E8E"/>
            </a:solidFill>
            <a:ln cap="flat" cmpd="sng" w="10900">
              <a:solidFill>
                <a:srgbClr val="576E8E"/>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83" name="Google Shape;283;p8"/>
            <p:cNvSpPr/>
            <p:nvPr/>
          </p:nvSpPr>
          <p:spPr>
            <a:xfrm>
              <a:off x="2481048" y="1953792"/>
              <a:ext cx="777240" cy="1005840"/>
            </a:xfrm>
            <a:prstGeom prst="rect">
              <a:avLst/>
            </a:prstGeom>
            <a:solidFill>
              <a:srgbClr val="486284"/>
            </a:solidFill>
            <a:ln cap="flat" cmpd="sng" w="10900">
              <a:solidFill>
                <a:srgbClr val="486284"/>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84" name="Google Shape;284;p8"/>
            <p:cNvSpPr/>
            <p:nvPr/>
          </p:nvSpPr>
          <p:spPr>
            <a:xfrm>
              <a:off x="2406384" y="2028456"/>
              <a:ext cx="777240" cy="1005840"/>
            </a:xfrm>
            <a:prstGeom prst="rect">
              <a:avLst/>
            </a:prstGeom>
            <a:solidFill>
              <a:srgbClr val="39557A"/>
            </a:solidFill>
            <a:ln cap="flat" cmpd="sng" w="10900">
              <a:solidFill>
                <a:srgbClr val="39557A"/>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85" name="Google Shape;285;p8"/>
            <p:cNvSpPr/>
            <p:nvPr/>
          </p:nvSpPr>
          <p:spPr>
            <a:xfrm>
              <a:off x="2331720" y="2103120"/>
              <a:ext cx="777240" cy="1005840"/>
            </a:xfrm>
            <a:prstGeom prst="rect">
              <a:avLst/>
            </a:prstGeom>
            <a:solidFill>
              <a:srgbClr val="2A4870"/>
            </a:solidFill>
            <a:ln cap="flat" cmpd="sng" w="14525">
              <a:solidFill>
                <a:srgbClr val="2A4870"/>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86" name="Google Shape;286;p8"/>
            <p:cNvSpPr/>
            <p:nvPr/>
          </p:nvSpPr>
          <p:spPr>
            <a:xfrm>
              <a:off x="2331720" y="2103120"/>
              <a:ext cx="7772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29"/>
                <a:buFont typeface="Arial"/>
                <a:buNone/>
              </a:pPr>
              <a:r>
                <a:rPr b="1" lang="en-US" sz="1029">
                  <a:solidFill>
                    <a:srgbClr val="FFFFFF"/>
                  </a:solidFill>
                  <a:latin typeface="Arial"/>
                  <a:ea typeface="Arial"/>
                  <a:cs typeface="Arial"/>
                  <a:sym typeface="Arial"/>
                </a:rPr>
                <a:t>Conv 32</a:t>
              </a:r>
              <a:endParaRPr sz="1029">
                <a:solidFill>
                  <a:schemeClr val="dk1"/>
                </a:solidFill>
                <a:latin typeface="Calibri"/>
                <a:ea typeface="Calibri"/>
                <a:cs typeface="Calibri"/>
                <a:sym typeface="Calibri"/>
              </a:endParaRPr>
            </a:p>
          </p:txBody>
        </p:sp>
        <p:sp>
          <p:nvSpPr>
            <p:cNvPr id="287" name="Google Shape;287;p8"/>
            <p:cNvSpPr/>
            <p:nvPr/>
          </p:nvSpPr>
          <p:spPr>
            <a:xfrm>
              <a:off x="2240280" y="3383280"/>
              <a:ext cx="1516321"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6"/>
                </a:buClr>
                <a:buSzPts val="972"/>
                <a:buFont typeface="Arial"/>
                <a:buNone/>
              </a:pPr>
              <a:r>
                <a:rPr b="1" lang="en-US" sz="972">
                  <a:solidFill>
                    <a:srgbClr val="B8C5D6"/>
                  </a:solidFill>
                  <a:latin typeface="Arial"/>
                  <a:ea typeface="Arial"/>
                  <a:cs typeface="Arial"/>
                  <a:sym typeface="Arial"/>
                </a:rPr>
                <a:t>80 × 80 × 32</a:t>
              </a:r>
              <a:endParaRPr sz="972">
                <a:solidFill>
                  <a:schemeClr val="dk1"/>
                </a:solidFill>
                <a:latin typeface="Calibri"/>
                <a:ea typeface="Calibri"/>
                <a:cs typeface="Calibri"/>
                <a:sym typeface="Calibri"/>
              </a:endParaRPr>
            </a:p>
          </p:txBody>
        </p:sp>
        <p:sp>
          <p:nvSpPr>
            <p:cNvPr id="288" name="Google Shape;288;p8"/>
            <p:cNvSpPr/>
            <p:nvPr/>
          </p:nvSpPr>
          <p:spPr>
            <a:xfrm>
              <a:off x="4177010" y="1789450"/>
              <a:ext cx="685800" cy="777240"/>
            </a:xfrm>
            <a:prstGeom prst="rect">
              <a:avLst/>
            </a:prstGeom>
            <a:solidFill>
              <a:srgbClr val="7588A2"/>
            </a:solidFill>
            <a:ln cap="flat" cmpd="sng" w="10900">
              <a:solidFill>
                <a:srgbClr val="7588A2"/>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89" name="Google Shape;289;p8"/>
            <p:cNvSpPr/>
            <p:nvPr/>
          </p:nvSpPr>
          <p:spPr>
            <a:xfrm>
              <a:off x="4091416" y="1875044"/>
              <a:ext cx="685800" cy="777240"/>
            </a:xfrm>
            <a:prstGeom prst="rect">
              <a:avLst/>
            </a:prstGeom>
            <a:solidFill>
              <a:srgbClr val="667B98"/>
            </a:solidFill>
            <a:ln cap="flat" cmpd="sng" w="10900">
              <a:solidFill>
                <a:srgbClr val="667B98"/>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90" name="Google Shape;290;p8"/>
            <p:cNvSpPr/>
            <p:nvPr/>
          </p:nvSpPr>
          <p:spPr>
            <a:xfrm>
              <a:off x="4005822" y="1960638"/>
              <a:ext cx="685800" cy="777240"/>
            </a:xfrm>
            <a:prstGeom prst="rect">
              <a:avLst/>
            </a:prstGeom>
            <a:solidFill>
              <a:srgbClr val="576E8E"/>
            </a:solidFill>
            <a:ln cap="flat" cmpd="sng" w="10900">
              <a:solidFill>
                <a:srgbClr val="576E8E"/>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91" name="Google Shape;291;p8"/>
            <p:cNvSpPr/>
            <p:nvPr/>
          </p:nvSpPr>
          <p:spPr>
            <a:xfrm>
              <a:off x="3920228" y="2046232"/>
              <a:ext cx="685800" cy="777240"/>
            </a:xfrm>
            <a:prstGeom prst="rect">
              <a:avLst/>
            </a:prstGeom>
            <a:solidFill>
              <a:srgbClr val="486284"/>
            </a:solidFill>
            <a:ln cap="flat" cmpd="sng" w="10900">
              <a:solidFill>
                <a:srgbClr val="486284"/>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92" name="Google Shape;292;p8"/>
            <p:cNvSpPr/>
            <p:nvPr/>
          </p:nvSpPr>
          <p:spPr>
            <a:xfrm>
              <a:off x="3834634" y="2131826"/>
              <a:ext cx="685800" cy="777240"/>
            </a:xfrm>
            <a:prstGeom prst="rect">
              <a:avLst/>
            </a:prstGeom>
            <a:solidFill>
              <a:srgbClr val="39557A"/>
            </a:solidFill>
            <a:ln cap="flat" cmpd="sng" w="10900">
              <a:solidFill>
                <a:srgbClr val="39557A"/>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93" name="Google Shape;293;p8"/>
            <p:cNvSpPr/>
            <p:nvPr/>
          </p:nvSpPr>
          <p:spPr>
            <a:xfrm>
              <a:off x="3749040" y="2217420"/>
              <a:ext cx="685800" cy="777240"/>
            </a:xfrm>
            <a:prstGeom prst="rect">
              <a:avLst/>
            </a:prstGeom>
            <a:solidFill>
              <a:srgbClr val="2A4870"/>
            </a:solidFill>
            <a:ln cap="flat" cmpd="sng" w="14525">
              <a:solidFill>
                <a:srgbClr val="2A4870"/>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94" name="Google Shape;294;p8"/>
            <p:cNvSpPr/>
            <p:nvPr/>
          </p:nvSpPr>
          <p:spPr>
            <a:xfrm>
              <a:off x="3749040" y="2217420"/>
              <a:ext cx="6858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29"/>
                <a:buFont typeface="Arial"/>
                <a:buNone/>
              </a:pPr>
              <a:r>
                <a:rPr b="1" lang="en-US" sz="1029">
                  <a:solidFill>
                    <a:srgbClr val="FFFFFF"/>
                  </a:solidFill>
                  <a:latin typeface="Arial"/>
                  <a:ea typeface="Arial"/>
                  <a:cs typeface="Arial"/>
                  <a:sym typeface="Arial"/>
                </a:rPr>
                <a:t>Conv 64</a:t>
              </a:r>
              <a:endParaRPr sz="1029">
                <a:solidFill>
                  <a:schemeClr val="dk1"/>
                </a:solidFill>
                <a:latin typeface="Calibri"/>
                <a:ea typeface="Calibri"/>
                <a:cs typeface="Calibri"/>
                <a:sym typeface="Calibri"/>
              </a:endParaRPr>
            </a:p>
          </p:txBody>
        </p:sp>
        <p:sp>
          <p:nvSpPr>
            <p:cNvPr id="295" name="Google Shape;295;p8"/>
            <p:cNvSpPr/>
            <p:nvPr/>
          </p:nvSpPr>
          <p:spPr>
            <a:xfrm>
              <a:off x="3657600" y="3383280"/>
              <a:ext cx="147953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6"/>
                </a:buClr>
                <a:buSzPts val="972"/>
                <a:buFont typeface="Arial"/>
                <a:buNone/>
              </a:pPr>
              <a:r>
                <a:rPr b="1" lang="en-US" sz="972">
                  <a:solidFill>
                    <a:srgbClr val="B8C5D6"/>
                  </a:solidFill>
                  <a:latin typeface="Arial"/>
                  <a:ea typeface="Arial"/>
                  <a:cs typeface="Arial"/>
                  <a:sym typeface="Arial"/>
                </a:rPr>
                <a:t>40 × 40 × 64</a:t>
              </a:r>
              <a:endParaRPr sz="972">
                <a:solidFill>
                  <a:schemeClr val="dk1"/>
                </a:solidFill>
                <a:latin typeface="Calibri"/>
                <a:ea typeface="Calibri"/>
                <a:cs typeface="Calibri"/>
                <a:sym typeface="Calibri"/>
              </a:endParaRPr>
            </a:p>
          </p:txBody>
        </p:sp>
        <p:sp>
          <p:nvSpPr>
            <p:cNvPr id="296" name="Google Shape;296;p8"/>
            <p:cNvSpPr/>
            <p:nvPr/>
          </p:nvSpPr>
          <p:spPr>
            <a:xfrm>
              <a:off x="5649587" y="1825633"/>
              <a:ext cx="594360" cy="594360"/>
            </a:xfrm>
            <a:prstGeom prst="rect">
              <a:avLst/>
            </a:prstGeom>
            <a:solidFill>
              <a:srgbClr val="8190A7"/>
            </a:solidFill>
            <a:ln cap="flat" cmpd="sng" w="10900">
              <a:solidFill>
                <a:srgbClr val="8190A7"/>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97" name="Google Shape;297;p8"/>
            <p:cNvSpPr/>
            <p:nvPr/>
          </p:nvSpPr>
          <p:spPr>
            <a:xfrm>
              <a:off x="5552942" y="1922278"/>
              <a:ext cx="594360" cy="594360"/>
            </a:xfrm>
            <a:prstGeom prst="rect">
              <a:avLst/>
            </a:prstGeom>
            <a:solidFill>
              <a:srgbClr val="73849E"/>
            </a:solidFill>
            <a:ln cap="flat" cmpd="sng" w="10900">
              <a:solidFill>
                <a:srgbClr val="73849E"/>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98" name="Google Shape;298;p8"/>
            <p:cNvSpPr/>
            <p:nvPr/>
          </p:nvSpPr>
          <p:spPr>
            <a:xfrm>
              <a:off x="5456296" y="2018924"/>
              <a:ext cx="594360" cy="594360"/>
            </a:xfrm>
            <a:prstGeom prst="rect">
              <a:avLst/>
            </a:prstGeom>
            <a:solidFill>
              <a:srgbClr val="667894"/>
            </a:solidFill>
            <a:ln cap="flat" cmpd="sng" w="10900">
              <a:solidFill>
                <a:srgbClr val="667894"/>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299" name="Google Shape;299;p8"/>
            <p:cNvSpPr/>
            <p:nvPr/>
          </p:nvSpPr>
          <p:spPr>
            <a:xfrm>
              <a:off x="5359651" y="2115569"/>
              <a:ext cx="594360" cy="594360"/>
            </a:xfrm>
            <a:prstGeom prst="rect">
              <a:avLst/>
            </a:prstGeom>
            <a:solidFill>
              <a:srgbClr val="586C8B"/>
            </a:solidFill>
            <a:ln cap="flat" cmpd="sng" w="10900">
              <a:solidFill>
                <a:srgbClr val="586C8B"/>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00" name="Google Shape;300;p8"/>
            <p:cNvSpPr/>
            <p:nvPr/>
          </p:nvSpPr>
          <p:spPr>
            <a:xfrm>
              <a:off x="5263005" y="2212215"/>
              <a:ext cx="594360" cy="594360"/>
            </a:xfrm>
            <a:prstGeom prst="rect">
              <a:avLst/>
            </a:prstGeom>
            <a:solidFill>
              <a:srgbClr val="4B6081"/>
            </a:solidFill>
            <a:ln cap="flat" cmpd="sng" w="10900">
              <a:solidFill>
                <a:srgbClr val="4B6081"/>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01" name="Google Shape;301;p8"/>
            <p:cNvSpPr/>
            <p:nvPr/>
          </p:nvSpPr>
          <p:spPr>
            <a:xfrm>
              <a:off x="5166360" y="2308860"/>
              <a:ext cx="594360" cy="594360"/>
            </a:xfrm>
            <a:prstGeom prst="rect">
              <a:avLst/>
            </a:prstGeom>
            <a:solidFill>
              <a:srgbClr val="3D5478"/>
            </a:solidFill>
            <a:ln cap="flat" cmpd="sng" w="14525">
              <a:solidFill>
                <a:srgbClr val="3D5478"/>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02" name="Google Shape;302;p8"/>
            <p:cNvSpPr/>
            <p:nvPr/>
          </p:nvSpPr>
          <p:spPr>
            <a:xfrm>
              <a:off x="5166360" y="230886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29"/>
                <a:buFont typeface="Arial"/>
                <a:buNone/>
              </a:pPr>
              <a:r>
                <a:rPr b="1" lang="en-US" sz="1029">
                  <a:solidFill>
                    <a:srgbClr val="FFFFFF"/>
                  </a:solidFill>
                  <a:latin typeface="Arial"/>
                  <a:ea typeface="Arial"/>
                  <a:cs typeface="Arial"/>
                  <a:sym typeface="Arial"/>
                </a:rPr>
                <a:t>Conv 128</a:t>
              </a:r>
              <a:endParaRPr sz="1029">
                <a:solidFill>
                  <a:schemeClr val="dk1"/>
                </a:solidFill>
                <a:latin typeface="Calibri"/>
                <a:ea typeface="Calibri"/>
                <a:cs typeface="Calibri"/>
                <a:sym typeface="Calibri"/>
              </a:endParaRPr>
            </a:p>
          </p:txBody>
        </p:sp>
        <p:sp>
          <p:nvSpPr>
            <p:cNvPr id="303" name="Google Shape;303;p8"/>
            <p:cNvSpPr/>
            <p:nvPr/>
          </p:nvSpPr>
          <p:spPr>
            <a:xfrm>
              <a:off x="5074920" y="3383280"/>
              <a:ext cx="1443347"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6"/>
                </a:buClr>
                <a:buSzPts val="972"/>
                <a:buFont typeface="Arial"/>
                <a:buNone/>
              </a:pPr>
              <a:r>
                <a:rPr b="1" lang="en-US" sz="972">
                  <a:solidFill>
                    <a:srgbClr val="B8C5D6"/>
                  </a:solidFill>
                  <a:latin typeface="Arial"/>
                  <a:ea typeface="Arial"/>
                  <a:cs typeface="Arial"/>
                  <a:sym typeface="Arial"/>
                </a:rPr>
                <a:t>20 × 20 × 128</a:t>
              </a:r>
              <a:endParaRPr sz="972">
                <a:solidFill>
                  <a:schemeClr val="dk1"/>
                </a:solidFill>
                <a:latin typeface="Calibri"/>
                <a:ea typeface="Calibri"/>
                <a:cs typeface="Calibri"/>
                <a:sym typeface="Calibri"/>
              </a:endParaRPr>
            </a:p>
          </p:txBody>
        </p:sp>
        <p:sp>
          <p:nvSpPr>
            <p:cNvPr id="304" name="Google Shape;304;p8"/>
            <p:cNvSpPr/>
            <p:nvPr/>
          </p:nvSpPr>
          <p:spPr>
            <a:xfrm>
              <a:off x="7086600" y="1897380"/>
              <a:ext cx="502920" cy="411480"/>
            </a:xfrm>
            <a:prstGeom prst="rect">
              <a:avLst/>
            </a:prstGeom>
            <a:solidFill>
              <a:srgbClr val="8190A7"/>
            </a:solidFill>
            <a:ln cap="flat" cmpd="sng" w="10900">
              <a:solidFill>
                <a:srgbClr val="8190A7"/>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05" name="Google Shape;305;p8"/>
            <p:cNvSpPr/>
            <p:nvPr/>
          </p:nvSpPr>
          <p:spPr>
            <a:xfrm>
              <a:off x="6986016" y="1997964"/>
              <a:ext cx="502920" cy="411480"/>
            </a:xfrm>
            <a:prstGeom prst="rect">
              <a:avLst/>
            </a:prstGeom>
            <a:solidFill>
              <a:srgbClr val="73849E"/>
            </a:solidFill>
            <a:ln cap="flat" cmpd="sng" w="10900">
              <a:solidFill>
                <a:srgbClr val="73849E"/>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06" name="Google Shape;306;p8"/>
            <p:cNvSpPr/>
            <p:nvPr/>
          </p:nvSpPr>
          <p:spPr>
            <a:xfrm>
              <a:off x="6885432" y="2098548"/>
              <a:ext cx="502920" cy="411480"/>
            </a:xfrm>
            <a:prstGeom prst="rect">
              <a:avLst/>
            </a:prstGeom>
            <a:solidFill>
              <a:srgbClr val="667894"/>
            </a:solidFill>
            <a:ln cap="flat" cmpd="sng" w="10900">
              <a:solidFill>
                <a:srgbClr val="667894"/>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07" name="Google Shape;307;p8"/>
            <p:cNvSpPr/>
            <p:nvPr/>
          </p:nvSpPr>
          <p:spPr>
            <a:xfrm>
              <a:off x="6784848" y="2199132"/>
              <a:ext cx="502920" cy="411480"/>
            </a:xfrm>
            <a:prstGeom prst="rect">
              <a:avLst/>
            </a:prstGeom>
            <a:solidFill>
              <a:srgbClr val="586C8B"/>
            </a:solidFill>
            <a:ln cap="flat" cmpd="sng" w="10900">
              <a:solidFill>
                <a:srgbClr val="586C8B"/>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08" name="Google Shape;308;p8"/>
            <p:cNvSpPr/>
            <p:nvPr/>
          </p:nvSpPr>
          <p:spPr>
            <a:xfrm>
              <a:off x="6684264" y="2299716"/>
              <a:ext cx="502920" cy="411480"/>
            </a:xfrm>
            <a:prstGeom prst="rect">
              <a:avLst/>
            </a:prstGeom>
            <a:solidFill>
              <a:srgbClr val="4B6081"/>
            </a:solidFill>
            <a:ln cap="flat" cmpd="sng" w="10900">
              <a:solidFill>
                <a:srgbClr val="4B6081"/>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09" name="Google Shape;309;p8"/>
            <p:cNvSpPr/>
            <p:nvPr/>
          </p:nvSpPr>
          <p:spPr>
            <a:xfrm>
              <a:off x="6583680" y="2400300"/>
              <a:ext cx="502920" cy="411480"/>
            </a:xfrm>
            <a:prstGeom prst="rect">
              <a:avLst/>
            </a:prstGeom>
            <a:solidFill>
              <a:srgbClr val="3D5478"/>
            </a:solidFill>
            <a:ln cap="flat" cmpd="sng" w="14525">
              <a:solidFill>
                <a:srgbClr val="3D5478"/>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10" name="Google Shape;310;p8"/>
            <p:cNvSpPr/>
            <p:nvPr/>
          </p:nvSpPr>
          <p:spPr>
            <a:xfrm>
              <a:off x="6583680" y="240030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29"/>
                <a:buFont typeface="Arial"/>
                <a:buNone/>
              </a:pPr>
              <a:r>
                <a:rPr b="1" lang="en-US" sz="1029">
                  <a:solidFill>
                    <a:srgbClr val="FFFFFF"/>
                  </a:solidFill>
                  <a:latin typeface="Arial"/>
                  <a:ea typeface="Arial"/>
                  <a:cs typeface="Arial"/>
                  <a:sym typeface="Arial"/>
                </a:rPr>
                <a:t>Conv 256</a:t>
              </a:r>
              <a:endParaRPr sz="1029">
                <a:solidFill>
                  <a:schemeClr val="dk1"/>
                </a:solidFill>
                <a:latin typeface="Calibri"/>
                <a:ea typeface="Calibri"/>
                <a:cs typeface="Calibri"/>
                <a:sym typeface="Calibri"/>
              </a:endParaRPr>
            </a:p>
          </p:txBody>
        </p:sp>
        <p:sp>
          <p:nvSpPr>
            <p:cNvPr id="311" name="Google Shape;311;p8"/>
            <p:cNvSpPr/>
            <p:nvPr/>
          </p:nvSpPr>
          <p:spPr>
            <a:xfrm>
              <a:off x="6492240" y="3383280"/>
              <a:ext cx="1371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6"/>
                </a:buClr>
                <a:buSzPts val="972"/>
                <a:buFont typeface="Arial"/>
                <a:buNone/>
              </a:pPr>
              <a:r>
                <a:rPr b="1" lang="en-US" sz="972">
                  <a:solidFill>
                    <a:srgbClr val="B8C5D6"/>
                  </a:solidFill>
                  <a:latin typeface="Arial"/>
                  <a:ea typeface="Arial"/>
                  <a:cs typeface="Arial"/>
                  <a:sym typeface="Arial"/>
                </a:rPr>
                <a:t>10 × 10 × 256</a:t>
              </a:r>
              <a:endParaRPr sz="972">
                <a:solidFill>
                  <a:schemeClr val="dk1"/>
                </a:solidFill>
                <a:latin typeface="Calibri"/>
                <a:ea typeface="Calibri"/>
                <a:cs typeface="Calibri"/>
                <a:sym typeface="Calibri"/>
              </a:endParaRPr>
            </a:p>
          </p:txBody>
        </p:sp>
        <p:sp>
          <p:nvSpPr>
            <p:cNvPr id="312" name="Google Shape;312;p8"/>
            <p:cNvSpPr/>
            <p:nvPr/>
          </p:nvSpPr>
          <p:spPr>
            <a:xfrm>
              <a:off x="7863840" y="2148840"/>
              <a:ext cx="274320" cy="914400"/>
            </a:xfrm>
            <a:prstGeom prst="rect">
              <a:avLst/>
            </a:prstGeom>
            <a:solidFill>
              <a:srgbClr val="5B9573"/>
            </a:solidFill>
            <a:ln cap="flat" cmpd="sng" w="14525">
              <a:solidFill>
                <a:srgbClr val="5B9573"/>
              </a:solidFill>
              <a:prstDash val="solid"/>
              <a:round/>
              <a:headEnd len="sm" w="sm" type="none"/>
              <a:tailEnd len="sm" w="sm" type="none"/>
            </a:ln>
            <a:effectLst>
              <a:outerShdw blurRad="116180" rotWithShape="0" algn="bl" dir="5400000" dist="29045">
                <a:srgbClr val="000000">
                  <a:alpha val="10196"/>
                </a:srgbClr>
              </a:outerShdw>
            </a:effectLst>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13" name="Google Shape;313;p8"/>
            <p:cNvSpPr/>
            <p:nvPr/>
          </p:nvSpPr>
          <p:spPr>
            <a:xfrm>
              <a:off x="7772400" y="2148840"/>
              <a:ext cx="4572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15"/>
                <a:buFont typeface="Arial"/>
                <a:buNone/>
              </a:pPr>
              <a:r>
                <a:rPr b="1" lang="en-US" sz="915">
                  <a:solidFill>
                    <a:srgbClr val="FFFFFF"/>
                  </a:solidFill>
                  <a:latin typeface="Arial"/>
                  <a:ea typeface="Arial"/>
                  <a:cs typeface="Arial"/>
                  <a:sym typeface="Arial"/>
                </a:rPr>
                <a:t>GAP</a:t>
              </a:r>
              <a:endParaRPr sz="915">
                <a:solidFill>
                  <a:schemeClr val="dk1"/>
                </a:solidFill>
                <a:latin typeface="Calibri"/>
                <a:ea typeface="Calibri"/>
                <a:cs typeface="Calibri"/>
                <a:sym typeface="Calibri"/>
              </a:endParaRPr>
            </a:p>
          </p:txBody>
        </p:sp>
        <p:sp>
          <p:nvSpPr>
            <p:cNvPr id="314" name="Google Shape;314;p8"/>
            <p:cNvSpPr/>
            <p:nvPr/>
          </p:nvSpPr>
          <p:spPr>
            <a:xfrm>
              <a:off x="7772400" y="3383280"/>
              <a:ext cx="457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6"/>
                </a:buClr>
                <a:buSzPts val="972"/>
                <a:buFont typeface="Arial"/>
                <a:buNone/>
              </a:pPr>
              <a:r>
                <a:rPr b="1" lang="en-US" sz="972">
                  <a:solidFill>
                    <a:srgbClr val="B8C5D6"/>
                  </a:solidFill>
                  <a:latin typeface="Arial"/>
                  <a:ea typeface="Arial"/>
                  <a:cs typeface="Arial"/>
                  <a:sym typeface="Arial"/>
                </a:rPr>
                <a:t>256</a:t>
              </a:r>
              <a:endParaRPr sz="972">
                <a:solidFill>
                  <a:schemeClr val="dk1"/>
                </a:solidFill>
                <a:latin typeface="Calibri"/>
                <a:ea typeface="Calibri"/>
                <a:cs typeface="Calibri"/>
                <a:sym typeface="Calibri"/>
              </a:endParaRPr>
            </a:p>
          </p:txBody>
        </p:sp>
        <p:sp>
          <p:nvSpPr>
            <p:cNvPr id="315" name="Google Shape;315;p8"/>
            <p:cNvSpPr/>
            <p:nvPr/>
          </p:nvSpPr>
          <p:spPr>
            <a:xfrm>
              <a:off x="8641080" y="2240280"/>
              <a:ext cx="274320" cy="731520"/>
            </a:xfrm>
            <a:prstGeom prst="rect">
              <a:avLst/>
            </a:prstGeom>
            <a:solidFill>
              <a:srgbClr val="5B9573"/>
            </a:solidFill>
            <a:ln cap="flat" cmpd="sng" w="14525">
              <a:solidFill>
                <a:srgbClr val="5B9573"/>
              </a:solidFill>
              <a:prstDash val="solid"/>
              <a:round/>
              <a:headEnd len="sm" w="sm" type="none"/>
              <a:tailEnd len="sm" w="sm" type="none"/>
            </a:ln>
            <a:effectLst>
              <a:outerShdw blurRad="116180" rotWithShape="0" algn="bl" dir="5400000" dist="29045">
                <a:srgbClr val="000000">
                  <a:alpha val="10196"/>
                </a:srgbClr>
              </a:outerShdw>
            </a:effectLst>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16" name="Google Shape;316;p8"/>
            <p:cNvSpPr/>
            <p:nvPr/>
          </p:nvSpPr>
          <p:spPr>
            <a:xfrm>
              <a:off x="8503920" y="2240280"/>
              <a:ext cx="5486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15"/>
                <a:buFont typeface="Arial"/>
                <a:buNone/>
              </a:pPr>
              <a:r>
                <a:rPr b="1" lang="en-US" sz="915">
                  <a:solidFill>
                    <a:srgbClr val="FFFFFF"/>
                  </a:solidFill>
                  <a:latin typeface="Arial"/>
                  <a:ea typeface="Arial"/>
                  <a:cs typeface="Arial"/>
                  <a:sym typeface="Arial"/>
                </a:rPr>
                <a:t>Dense</a:t>
              </a:r>
              <a:endParaRPr sz="915">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15"/>
                <a:buFont typeface="Arial"/>
                <a:buNone/>
              </a:pPr>
              <a:r>
                <a:rPr b="1" lang="en-US" sz="915">
                  <a:solidFill>
                    <a:srgbClr val="FFFFFF"/>
                  </a:solidFill>
                  <a:latin typeface="Arial"/>
                  <a:ea typeface="Arial"/>
                  <a:cs typeface="Arial"/>
                  <a:sym typeface="Arial"/>
                </a:rPr>
                <a:t>ReLU</a:t>
              </a:r>
              <a:endParaRPr sz="915">
                <a:solidFill>
                  <a:schemeClr val="dk1"/>
                </a:solidFill>
                <a:latin typeface="Calibri"/>
                <a:ea typeface="Calibri"/>
                <a:cs typeface="Calibri"/>
                <a:sym typeface="Calibri"/>
              </a:endParaRPr>
            </a:p>
          </p:txBody>
        </p:sp>
        <p:sp>
          <p:nvSpPr>
            <p:cNvPr id="317" name="Google Shape;317;p8"/>
            <p:cNvSpPr/>
            <p:nvPr/>
          </p:nvSpPr>
          <p:spPr>
            <a:xfrm>
              <a:off x="8503920" y="3383280"/>
              <a:ext cx="5486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6"/>
                </a:buClr>
                <a:buSzPts val="972"/>
                <a:buFont typeface="Arial"/>
                <a:buNone/>
              </a:pPr>
              <a:r>
                <a:rPr b="1" lang="en-US" sz="972">
                  <a:solidFill>
                    <a:srgbClr val="B8C5D6"/>
                  </a:solidFill>
                  <a:latin typeface="Arial"/>
                  <a:ea typeface="Arial"/>
                  <a:cs typeface="Arial"/>
                  <a:sym typeface="Arial"/>
                </a:rPr>
                <a:t>128</a:t>
              </a:r>
              <a:endParaRPr sz="972">
                <a:solidFill>
                  <a:schemeClr val="dk1"/>
                </a:solidFill>
                <a:latin typeface="Calibri"/>
                <a:ea typeface="Calibri"/>
                <a:cs typeface="Calibri"/>
                <a:sym typeface="Calibri"/>
              </a:endParaRPr>
            </a:p>
          </p:txBody>
        </p:sp>
        <p:sp>
          <p:nvSpPr>
            <p:cNvPr id="318" name="Google Shape;318;p8"/>
            <p:cNvSpPr/>
            <p:nvPr/>
          </p:nvSpPr>
          <p:spPr>
            <a:xfrm>
              <a:off x="9509760" y="2441448"/>
              <a:ext cx="329184" cy="329184"/>
            </a:xfrm>
            <a:prstGeom prst="roundRect">
              <a:avLst>
                <a:gd fmla="val 50000" name="adj"/>
              </a:avLst>
            </a:prstGeom>
            <a:solidFill>
              <a:srgbClr val="D4A547"/>
            </a:solidFill>
            <a:ln cap="flat" cmpd="sng" w="14525">
              <a:solidFill>
                <a:srgbClr val="D4A547"/>
              </a:solidFill>
              <a:prstDash val="solid"/>
              <a:round/>
              <a:headEnd len="sm" w="sm" type="none"/>
              <a:tailEnd len="sm" w="sm" type="none"/>
            </a:ln>
            <a:effectLst>
              <a:outerShdw blurRad="116180" rotWithShape="0" algn="bl" dir="5400000" dist="29045">
                <a:srgbClr val="000000">
                  <a:alpha val="10196"/>
                </a:srgbClr>
              </a:outerShdw>
            </a:effectLst>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19" name="Google Shape;319;p8"/>
            <p:cNvSpPr/>
            <p:nvPr/>
          </p:nvSpPr>
          <p:spPr>
            <a:xfrm>
              <a:off x="9509760" y="2423160"/>
              <a:ext cx="32918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30"/>
                <a:buFont typeface="Arial"/>
                <a:buNone/>
              </a:pPr>
              <a:r>
                <a:rPr b="1" i="1" lang="en-US" sz="1830">
                  <a:solidFill>
                    <a:srgbClr val="FFFFFF"/>
                  </a:solidFill>
                  <a:latin typeface="Arial"/>
                  <a:ea typeface="Arial"/>
                  <a:cs typeface="Arial"/>
                  <a:sym typeface="Arial"/>
                </a:rPr>
                <a:t>σ</a:t>
              </a:r>
              <a:endParaRPr sz="1830">
                <a:solidFill>
                  <a:schemeClr val="dk1"/>
                </a:solidFill>
                <a:latin typeface="Calibri"/>
                <a:ea typeface="Calibri"/>
                <a:cs typeface="Calibri"/>
                <a:sym typeface="Calibri"/>
              </a:endParaRPr>
            </a:p>
          </p:txBody>
        </p:sp>
        <p:sp>
          <p:nvSpPr>
            <p:cNvPr id="320" name="Google Shape;320;p8"/>
            <p:cNvSpPr/>
            <p:nvPr/>
          </p:nvSpPr>
          <p:spPr>
            <a:xfrm>
              <a:off x="9144000" y="2880360"/>
              <a:ext cx="10972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553D"/>
                </a:buClr>
                <a:buSzPts val="1029"/>
                <a:buFont typeface="Arial"/>
                <a:buNone/>
              </a:pPr>
              <a:r>
                <a:rPr b="1" lang="en-US" sz="1029">
                  <a:solidFill>
                    <a:srgbClr val="C8553D"/>
                  </a:solidFill>
                  <a:latin typeface="Arial"/>
                  <a:ea typeface="Arial"/>
                  <a:cs typeface="Arial"/>
                  <a:sym typeface="Arial"/>
                </a:rPr>
                <a:t>P(built)</a:t>
              </a:r>
              <a:endParaRPr sz="1029">
                <a:solidFill>
                  <a:schemeClr val="dk1"/>
                </a:solidFill>
                <a:latin typeface="Calibri"/>
                <a:ea typeface="Calibri"/>
                <a:cs typeface="Calibri"/>
                <a:sym typeface="Calibri"/>
              </a:endParaRPr>
            </a:p>
          </p:txBody>
        </p:sp>
        <p:sp>
          <p:nvSpPr>
            <p:cNvPr id="321" name="Google Shape;321;p8"/>
            <p:cNvSpPr/>
            <p:nvPr/>
          </p:nvSpPr>
          <p:spPr>
            <a:xfrm>
              <a:off x="9144000" y="3108960"/>
              <a:ext cx="109728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6"/>
                </a:buClr>
                <a:buSzPts val="915"/>
                <a:buFont typeface="Arial"/>
                <a:buNone/>
              </a:pPr>
              <a:r>
                <a:rPr i="1" lang="en-US" sz="915">
                  <a:solidFill>
                    <a:srgbClr val="B8C5D6"/>
                  </a:solidFill>
                  <a:latin typeface="Arial"/>
                  <a:ea typeface="Arial"/>
                  <a:cs typeface="Arial"/>
                  <a:sym typeface="Arial"/>
                </a:rPr>
                <a:t>0–1</a:t>
              </a:r>
              <a:endParaRPr sz="915">
                <a:solidFill>
                  <a:schemeClr val="dk1"/>
                </a:solidFill>
                <a:latin typeface="Calibri"/>
                <a:ea typeface="Calibri"/>
                <a:cs typeface="Calibri"/>
                <a:sym typeface="Calibri"/>
              </a:endParaRPr>
            </a:p>
          </p:txBody>
        </p:sp>
        <p:cxnSp>
          <p:nvCxnSpPr>
            <p:cNvPr id="322" name="Google Shape;322;p8"/>
            <p:cNvCxnSpPr/>
            <p:nvPr/>
          </p:nvCxnSpPr>
          <p:spPr>
            <a:xfrm>
              <a:off x="1938528" y="2606040"/>
              <a:ext cx="347472" cy="0"/>
            </a:xfrm>
            <a:prstGeom prst="straightConnector1">
              <a:avLst/>
            </a:prstGeom>
            <a:noFill/>
            <a:ln cap="flat" cmpd="sng" w="14525">
              <a:solidFill>
                <a:srgbClr val="B8C5D6"/>
              </a:solidFill>
              <a:prstDash val="solid"/>
              <a:round/>
              <a:headEnd len="sm" w="sm" type="none"/>
              <a:tailEnd len="med" w="med" type="triangle"/>
            </a:ln>
          </p:spPr>
        </p:cxnSp>
        <p:cxnSp>
          <p:nvCxnSpPr>
            <p:cNvPr id="323" name="Google Shape;323;p8"/>
            <p:cNvCxnSpPr/>
            <p:nvPr/>
          </p:nvCxnSpPr>
          <p:spPr>
            <a:xfrm>
              <a:off x="3273552" y="2606040"/>
              <a:ext cx="429768" cy="0"/>
            </a:xfrm>
            <a:prstGeom prst="straightConnector1">
              <a:avLst/>
            </a:prstGeom>
            <a:noFill/>
            <a:ln cap="flat" cmpd="sng" w="14525">
              <a:solidFill>
                <a:srgbClr val="B8C5D6"/>
              </a:solidFill>
              <a:prstDash val="solid"/>
              <a:round/>
              <a:headEnd len="sm" w="sm" type="none"/>
              <a:tailEnd len="med" w="med" type="triangle"/>
            </a:ln>
          </p:spPr>
        </p:cxnSp>
        <p:cxnSp>
          <p:nvCxnSpPr>
            <p:cNvPr id="324" name="Google Shape;324;p8"/>
            <p:cNvCxnSpPr/>
            <p:nvPr/>
          </p:nvCxnSpPr>
          <p:spPr>
            <a:xfrm>
              <a:off x="4636008" y="2606040"/>
              <a:ext cx="484632" cy="0"/>
            </a:xfrm>
            <a:prstGeom prst="straightConnector1">
              <a:avLst/>
            </a:prstGeom>
            <a:noFill/>
            <a:ln cap="flat" cmpd="sng" w="14525">
              <a:solidFill>
                <a:srgbClr val="B8C5D6"/>
              </a:solidFill>
              <a:prstDash val="solid"/>
              <a:round/>
              <a:headEnd len="sm" w="sm" type="none"/>
              <a:tailEnd len="med" w="med" type="triangle"/>
            </a:ln>
          </p:spPr>
        </p:cxnSp>
        <p:cxnSp>
          <p:nvCxnSpPr>
            <p:cNvPr id="325" name="Google Shape;325;p8"/>
            <p:cNvCxnSpPr/>
            <p:nvPr/>
          </p:nvCxnSpPr>
          <p:spPr>
            <a:xfrm>
              <a:off x="6035040" y="2606040"/>
              <a:ext cx="502920" cy="0"/>
            </a:xfrm>
            <a:prstGeom prst="straightConnector1">
              <a:avLst/>
            </a:prstGeom>
            <a:noFill/>
            <a:ln cap="flat" cmpd="sng" w="14525">
              <a:solidFill>
                <a:srgbClr val="B8C5D6"/>
              </a:solidFill>
              <a:prstDash val="solid"/>
              <a:round/>
              <a:headEnd len="sm" w="sm" type="none"/>
              <a:tailEnd len="med" w="med" type="triangle"/>
            </a:ln>
          </p:spPr>
        </p:cxnSp>
        <p:cxnSp>
          <p:nvCxnSpPr>
            <p:cNvPr id="326" name="Google Shape;326;p8"/>
            <p:cNvCxnSpPr/>
            <p:nvPr/>
          </p:nvCxnSpPr>
          <p:spPr>
            <a:xfrm>
              <a:off x="7452360" y="2606040"/>
              <a:ext cx="393192" cy="0"/>
            </a:xfrm>
            <a:prstGeom prst="straightConnector1">
              <a:avLst/>
            </a:prstGeom>
            <a:noFill/>
            <a:ln cap="flat" cmpd="sng" w="14525">
              <a:solidFill>
                <a:srgbClr val="B8C5D6"/>
              </a:solidFill>
              <a:prstDash val="solid"/>
              <a:round/>
              <a:headEnd len="sm" w="sm" type="none"/>
              <a:tailEnd len="med" w="med" type="triangle"/>
            </a:ln>
          </p:spPr>
        </p:cxnSp>
        <p:cxnSp>
          <p:nvCxnSpPr>
            <p:cNvPr id="327" name="Google Shape;327;p8"/>
            <p:cNvCxnSpPr/>
            <p:nvPr/>
          </p:nvCxnSpPr>
          <p:spPr>
            <a:xfrm>
              <a:off x="8156448" y="2606040"/>
              <a:ext cx="466344" cy="0"/>
            </a:xfrm>
            <a:prstGeom prst="straightConnector1">
              <a:avLst/>
            </a:prstGeom>
            <a:noFill/>
            <a:ln cap="flat" cmpd="sng" w="14525">
              <a:solidFill>
                <a:srgbClr val="B8C5D6"/>
              </a:solidFill>
              <a:prstDash val="solid"/>
              <a:round/>
              <a:headEnd len="sm" w="sm" type="none"/>
              <a:tailEnd len="med" w="med" type="triangle"/>
            </a:ln>
          </p:spPr>
        </p:cxnSp>
        <p:cxnSp>
          <p:nvCxnSpPr>
            <p:cNvPr id="328" name="Google Shape;328;p8"/>
            <p:cNvCxnSpPr/>
            <p:nvPr/>
          </p:nvCxnSpPr>
          <p:spPr>
            <a:xfrm>
              <a:off x="8933688" y="2606040"/>
              <a:ext cx="557784" cy="0"/>
            </a:xfrm>
            <a:prstGeom prst="straightConnector1">
              <a:avLst/>
            </a:prstGeom>
            <a:noFill/>
            <a:ln cap="flat" cmpd="sng" w="14525">
              <a:solidFill>
                <a:srgbClr val="B8C5D6"/>
              </a:solidFill>
              <a:prstDash val="solid"/>
              <a:round/>
              <a:headEnd len="sm" w="sm" type="none"/>
              <a:tailEnd len="med" w="med" type="triangle"/>
            </a:ln>
          </p:spPr>
        </p:cxnSp>
        <p:sp>
          <p:nvSpPr>
            <p:cNvPr id="329" name="Google Shape;329;p8"/>
            <p:cNvSpPr/>
            <p:nvPr/>
          </p:nvSpPr>
          <p:spPr>
            <a:xfrm>
              <a:off x="502920" y="1600200"/>
              <a:ext cx="2400000" cy="411480"/>
            </a:xfrm>
            <a:prstGeom prst="roundRect">
              <a:avLst>
                <a:gd fmla="val 11111" name="adj"/>
              </a:avLst>
            </a:prstGeom>
            <a:solidFill>
              <a:srgbClr val="152540"/>
            </a:solidFill>
            <a:ln cap="flat" cmpd="sng" w="10900">
              <a:solidFill>
                <a:srgbClr val="2A4870"/>
              </a:solidFill>
              <a:prstDash val="solid"/>
              <a:round/>
              <a:headEnd len="sm" w="sm" type="none"/>
              <a:tailEnd len="sm" w="sm" type="none"/>
            </a:ln>
          </p:spPr>
          <p:txBody>
            <a:bodyPr anchorCtr="0" anchor="t" bIns="52250" lIns="104550" spcFirstLastPara="1" rIns="104550" wrap="square" tIns="52250">
              <a:noAutofit/>
            </a:bodyPr>
            <a:lstStyle/>
            <a:p>
              <a:pPr indent="0" lvl="0" marL="0" marR="0" rtl="0" algn="l">
                <a:spcBef>
                  <a:spcPts val="0"/>
                </a:spcBef>
                <a:spcAft>
                  <a:spcPts val="0"/>
                </a:spcAft>
                <a:buNone/>
              </a:pPr>
              <a:r>
                <a:t/>
              </a:r>
              <a:endParaRPr sz="2058">
                <a:solidFill>
                  <a:schemeClr val="dk1"/>
                </a:solidFill>
                <a:latin typeface="Calibri"/>
                <a:ea typeface="Calibri"/>
                <a:cs typeface="Calibri"/>
                <a:sym typeface="Calibri"/>
              </a:endParaRPr>
            </a:p>
          </p:txBody>
        </p:sp>
        <p:sp>
          <p:nvSpPr>
            <p:cNvPr id="330" name="Google Shape;330;p8"/>
            <p:cNvSpPr/>
            <p:nvPr/>
          </p:nvSpPr>
          <p:spPr>
            <a:xfrm>
              <a:off x="548640" y="1627632"/>
              <a:ext cx="2300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972"/>
                <a:buFont typeface="Arial"/>
                <a:buNone/>
              </a:pPr>
              <a:r>
                <a:rPr b="1" lang="en-US" sz="972">
                  <a:solidFill>
                    <a:srgbClr val="C8553D"/>
                  </a:solidFill>
                  <a:latin typeface="Arial"/>
                  <a:ea typeface="Arial"/>
                  <a:cs typeface="Arial"/>
                  <a:sym typeface="Arial"/>
                </a:rPr>
                <a:t>Built-in augmentation</a:t>
              </a:r>
              <a:endParaRPr sz="972">
                <a:solidFill>
                  <a:schemeClr val="dk1"/>
                </a:solidFill>
                <a:latin typeface="Calibri"/>
                <a:ea typeface="Calibri"/>
                <a:cs typeface="Calibri"/>
                <a:sym typeface="Calibri"/>
              </a:endParaRPr>
            </a:p>
          </p:txBody>
        </p:sp>
        <p:sp>
          <p:nvSpPr>
            <p:cNvPr id="331" name="Google Shape;331;p8"/>
            <p:cNvSpPr/>
            <p:nvPr/>
          </p:nvSpPr>
          <p:spPr>
            <a:xfrm>
              <a:off x="548640" y="1792224"/>
              <a:ext cx="23000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029"/>
                <a:buFont typeface="Arial"/>
                <a:buNone/>
              </a:pPr>
              <a:r>
                <a:rPr i="1" lang="en-US" sz="1029">
                  <a:solidFill>
                    <a:srgbClr val="B8C5D6"/>
                  </a:solidFill>
                  <a:latin typeface="Arial"/>
                  <a:ea typeface="Arial"/>
                  <a:cs typeface="Arial"/>
                  <a:sym typeface="Arial"/>
                </a:rPr>
                <a:t>Flip H+V · Rot/Zoom/Contrast 0.10</a:t>
              </a:r>
              <a:endParaRPr sz="1029">
                <a:solidFill>
                  <a:schemeClr val="dk1"/>
                </a:solidFill>
                <a:latin typeface="Calibri"/>
                <a:ea typeface="Calibri"/>
                <a:cs typeface="Calibri"/>
                <a:sym typeface="Calibri"/>
              </a:endParaRPr>
            </a:p>
          </p:txBody>
        </p:sp>
      </p:grpSp>
      <p:sp>
        <p:nvSpPr>
          <p:cNvPr id="332" name="Google Shape;332;p8"/>
          <p:cNvSpPr/>
          <p:nvPr/>
        </p:nvSpPr>
        <p:spPr>
          <a:xfrm>
            <a:off x="457113" y="3799323"/>
            <a:ext cx="67665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900"/>
              <a:buFont typeface="Arial"/>
              <a:buNone/>
            </a:pPr>
            <a:r>
              <a:rPr b="1" lang="en-US" sz="1500">
                <a:solidFill>
                  <a:srgbClr val="5B9573"/>
                </a:solidFill>
                <a:latin typeface="Arial"/>
                <a:ea typeface="Arial"/>
                <a:cs typeface="Arial"/>
                <a:sym typeface="Arial"/>
              </a:rPr>
              <a:t>ARCHITECTURE CHOICES</a:t>
            </a:r>
            <a:endParaRPr sz="1500">
              <a:solidFill>
                <a:schemeClr val="dk1"/>
              </a:solidFill>
              <a:latin typeface="Calibri"/>
              <a:ea typeface="Calibri"/>
              <a:cs typeface="Calibri"/>
              <a:sym typeface="Calibri"/>
            </a:endParaRPr>
          </a:p>
        </p:txBody>
      </p:sp>
      <p:sp>
        <p:nvSpPr>
          <p:cNvPr id="333" name="Google Shape;333;p8"/>
          <p:cNvSpPr/>
          <p:nvPr/>
        </p:nvSpPr>
        <p:spPr>
          <a:xfrm>
            <a:off x="457200" y="4038311"/>
            <a:ext cx="2441400" cy="2040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8"/>
          <p:cNvSpPr/>
          <p:nvPr/>
        </p:nvSpPr>
        <p:spPr>
          <a:xfrm>
            <a:off x="457100" y="4201650"/>
            <a:ext cx="2164200" cy="192030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8"/>
          <p:cNvSpPr/>
          <p:nvPr/>
        </p:nvSpPr>
        <p:spPr>
          <a:xfrm>
            <a:off x="639980" y="4338815"/>
            <a:ext cx="548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1400"/>
              <a:buFont typeface="Arial"/>
              <a:buNone/>
            </a:pPr>
            <a:r>
              <a:rPr b="1" lang="en-US" sz="1400">
                <a:solidFill>
                  <a:srgbClr val="5B9573"/>
                </a:solidFill>
                <a:latin typeface="Arial"/>
                <a:ea typeface="Arial"/>
                <a:cs typeface="Arial"/>
                <a:sym typeface="Arial"/>
              </a:rPr>
              <a:t>01</a:t>
            </a:r>
            <a:endParaRPr sz="1400">
              <a:solidFill>
                <a:schemeClr val="dk1"/>
              </a:solidFill>
              <a:latin typeface="Calibri"/>
              <a:ea typeface="Calibri"/>
              <a:cs typeface="Calibri"/>
              <a:sym typeface="Calibri"/>
            </a:endParaRPr>
          </a:p>
        </p:txBody>
      </p:sp>
      <p:sp>
        <p:nvSpPr>
          <p:cNvPr id="336" name="Google Shape;336;p8"/>
          <p:cNvSpPr/>
          <p:nvPr/>
        </p:nvSpPr>
        <p:spPr>
          <a:xfrm>
            <a:off x="597332" y="4613135"/>
            <a:ext cx="1883700" cy="502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150"/>
              <a:buFont typeface="Arial"/>
              <a:buNone/>
            </a:pPr>
            <a:r>
              <a:rPr b="1" lang="en-US" sz="1200">
                <a:solidFill>
                  <a:srgbClr val="FFFFFF"/>
                </a:solidFill>
                <a:latin typeface="Arial"/>
                <a:ea typeface="Arial"/>
                <a:cs typeface="Arial"/>
                <a:sym typeface="Arial"/>
              </a:rPr>
              <a:t>Channel doubling</a:t>
            </a:r>
            <a:r>
              <a:rPr b="1" lang="en-US" sz="1200">
                <a:solidFill>
                  <a:srgbClr val="FFFFFF"/>
                </a:solidFill>
              </a:rPr>
              <a:t> + </a:t>
            </a:r>
            <a:r>
              <a:rPr b="1" lang="en-US" sz="1200">
                <a:solidFill>
                  <a:srgbClr val="FFFFFF"/>
                </a:solidFill>
                <a:latin typeface="Arial"/>
                <a:ea typeface="Arial"/>
                <a:cs typeface="Arial"/>
                <a:sym typeface="Arial"/>
              </a:rPr>
              <a:t>spatial halving</a:t>
            </a:r>
            <a:endParaRPr sz="1200">
              <a:solidFill>
                <a:schemeClr val="dk1"/>
              </a:solidFill>
              <a:latin typeface="Calibri"/>
              <a:ea typeface="Calibri"/>
              <a:cs typeface="Calibri"/>
              <a:sym typeface="Calibri"/>
            </a:endParaRPr>
          </a:p>
        </p:txBody>
      </p:sp>
      <p:sp>
        <p:nvSpPr>
          <p:cNvPr id="337" name="Google Shape;337;p8"/>
          <p:cNvSpPr/>
          <p:nvPr/>
        </p:nvSpPr>
        <p:spPr>
          <a:xfrm>
            <a:off x="597407" y="5073043"/>
            <a:ext cx="1883700" cy="82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800"/>
              <a:buFont typeface="Arial"/>
              <a:buNone/>
            </a:pPr>
            <a:r>
              <a:rPr lang="en-US" sz="1000">
                <a:solidFill>
                  <a:schemeClr val="lt2"/>
                </a:solidFill>
                <a:latin typeface="Arial"/>
                <a:ea typeface="Arial"/>
                <a:cs typeface="Arial"/>
                <a:sym typeface="Arial"/>
              </a:rPr>
              <a:t>Each block </a:t>
            </a:r>
            <a:r>
              <a:rPr lang="en-US" sz="1000">
                <a:solidFill>
                  <a:schemeClr val="lt2"/>
                </a:solidFill>
              </a:rPr>
              <a:t>2X</a:t>
            </a:r>
            <a:r>
              <a:rPr lang="en-US" sz="1000">
                <a:solidFill>
                  <a:schemeClr val="lt2"/>
                </a:solidFill>
                <a:latin typeface="Arial"/>
                <a:ea typeface="Arial"/>
                <a:cs typeface="Arial"/>
                <a:sym typeface="Arial"/>
              </a:rPr>
              <a:t> filter count (32→256) while </a:t>
            </a:r>
            <a:r>
              <a:rPr lang="en-US" sz="1000">
                <a:solidFill>
                  <a:schemeClr val="lt2"/>
                </a:solidFill>
              </a:rPr>
              <a:t>0.5X</a:t>
            </a:r>
            <a:r>
              <a:rPr lang="en-US" sz="1000">
                <a:solidFill>
                  <a:schemeClr val="lt2"/>
                </a:solidFill>
                <a:latin typeface="Arial"/>
                <a:ea typeface="Arial"/>
                <a:cs typeface="Arial"/>
                <a:sym typeface="Arial"/>
              </a:rPr>
              <a:t> spatial size (160→10). Shallow layers detect edges; deep layers compose abstract structural cues.</a:t>
            </a:r>
            <a:endParaRPr sz="1000">
              <a:solidFill>
                <a:schemeClr val="lt2"/>
              </a:solidFill>
              <a:latin typeface="Calibri"/>
              <a:ea typeface="Calibri"/>
              <a:cs typeface="Calibri"/>
              <a:sym typeface="Calibri"/>
            </a:endParaRPr>
          </a:p>
        </p:txBody>
      </p:sp>
      <p:sp>
        <p:nvSpPr>
          <p:cNvPr id="338" name="Google Shape;338;p8"/>
          <p:cNvSpPr/>
          <p:nvPr/>
        </p:nvSpPr>
        <p:spPr>
          <a:xfrm>
            <a:off x="2758350" y="4201650"/>
            <a:ext cx="2164200" cy="192030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8"/>
          <p:cNvSpPr/>
          <p:nvPr/>
        </p:nvSpPr>
        <p:spPr>
          <a:xfrm>
            <a:off x="2941220" y="4338815"/>
            <a:ext cx="548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1400"/>
              <a:buFont typeface="Arial"/>
              <a:buNone/>
            </a:pPr>
            <a:r>
              <a:rPr b="1" lang="en-US" sz="1400">
                <a:solidFill>
                  <a:srgbClr val="5B9573"/>
                </a:solidFill>
                <a:latin typeface="Arial"/>
                <a:ea typeface="Arial"/>
                <a:cs typeface="Arial"/>
                <a:sym typeface="Arial"/>
              </a:rPr>
              <a:t>02</a:t>
            </a:r>
            <a:endParaRPr sz="1400">
              <a:solidFill>
                <a:schemeClr val="dk1"/>
              </a:solidFill>
              <a:latin typeface="Calibri"/>
              <a:ea typeface="Calibri"/>
              <a:cs typeface="Calibri"/>
              <a:sym typeface="Calibri"/>
            </a:endParaRPr>
          </a:p>
        </p:txBody>
      </p:sp>
      <p:sp>
        <p:nvSpPr>
          <p:cNvPr id="340" name="Google Shape;340;p8"/>
          <p:cNvSpPr/>
          <p:nvPr/>
        </p:nvSpPr>
        <p:spPr>
          <a:xfrm>
            <a:off x="2898572" y="4613135"/>
            <a:ext cx="1883700" cy="502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150"/>
              <a:buFont typeface="Arial"/>
              <a:buNone/>
            </a:pPr>
            <a:r>
              <a:rPr b="1" lang="en-US" sz="1150">
                <a:solidFill>
                  <a:srgbClr val="FFFFFF"/>
                </a:solidFill>
                <a:latin typeface="Arial"/>
                <a:ea typeface="Arial"/>
                <a:cs typeface="Arial"/>
                <a:sym typeface="Arial"/>
              </a:rPr>
              <a:t>Global Average Pooling</a:t>
            </a:r>
            <a:r>
              <a:rPr b="1" lang="en-US" sz="1150">
                <a:solidFill>
                  <a:srgbClr val="FFFFFF"/>
                </a:solidFill>
              </a:rPr>
              <a:t>  ✔</a:t>
            </a:r>
            <a:r>
              <a:rPr b="1" lang="en-US" sz="1150">
                <a:solidFill>
                  <a:srgbClr val="FFFFFF"/>
                </a:solidFill>
                <a:latin typeface="Arial"/>
                <a:ea typeface="Arial"/>
                <a:cs typeface="Arial"/>
                <a:sym typeface="Arial"/>
              </a:rPr>
              <a:t> Flatten		</a:t>
            </a:r>
            <a:r>
              <a:rPr b="1" lang="en-US" sz="1150">
                <a:solidFill>
                  <a:srgbClr val="FFFFFF"/>
                </a:solidFill>
              </a:rPr>
              <a:t>         ✘</a:t>
            </a:r>
            <a:endParaRPr sz="1150">
              <a:solidFill>
                <a:schemeClr val="dk1"/>
              </a:solidFill>
              <a:latin typeface="Calibri"/>
              <a:ea typeface="Calibri"/>
              <a:cs typeface="Calibri"/>
              <a:sym typeface="Calibri"/>
            </a:endParaRPr>
          </a:p>
        </p:txBody>
      </p:sp>
      <p:sp>
        <p:nvSpPr>
          <p:cNvPr id="341" name="Google Shape;341;p8"/>
          <p:cNvSpPr/>
          <p:nvPr/>
        </p:nvSpPr>
        <p:spPr>
          <a:xfrm>
            <a:off x="2898522" y="5073043"/>
            <a:ext cx="1883700" cy="82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800"/>
              <a:buFont typeface="Arial"/>
              <a:buNone/>
            </a:pPr>
            <a:r>
              <a:rPr lang="en-US" sz="1000">
                <a:solidFill>
                  <a:schemeClr val="lt2"/>
                </a:solidFill>
                <a:latin typeface="Arial"/>
                <a:ea typeface="Arial"/>
                <a:cs typeface="Arial"/>
                <a:sym typeface="Arial"/>
              </a:rPr>
              <a:t>GAP collapses 10×10×256 to a 256-vector by averaging each channel. Drops ~25K params vs. Flatten+Dense, reduces overfit, and adds translation invariance.</a:t>
            </a:r>
            <a:endParaRPr sz="1000">
              <a:solidFill>
                <a:schemeClr val="lt2"/>
              </a:solidFill>
              <a:latin typeface="Calibri"/>
              <a:ea typeface="Calibri"/>
              <a:cs typeface="Calibri"/>
              <a:sym typeface="Calibri"/>
            </a:endParaRPr>
          </a:p>
        </p:txBody>
      </p:sp>
      <p:sp>
        <p:nvSpPr>
          <p:cNvPr id="342" name="Google Shape;342;p8"/>
          <p:cNvSpPr/>
          <p:nvPr/>
        </p:nvSpPr>
        <p:spPr>
          <a:xfrm>
            <a:off x="5059575" y="4201650"/>
            <a:ext cx="2164200" cy="192030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8"/>
          <p:cNvSpPr/>
          <p:nvPr/>
        </p:nvSpPr>
        <p:spPr>
          <a:xfrm>
            <a:off x="5242460" y="4338815"/>
            <a:ext cx="548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1400"/>
              <a:buFont typeface="Arial"/>
              <a:buNone/>
            </a:pPr>
            <a:r>
              <a:rPr b="1" lang="en-US" sz="1400">
                <a:solidFill>
                  <a:srgbClr val="5B9573"/>
                </a:solidFill>
                <a:latin typeface="Arial"/>
                <a:ea typeface="Arial"/>
                <a:cs typeface="Arial"/>
                <a:sym typeface="Arial"/>
              </a:rPr>
              <a:t>03</a:t>
            </a:r>
            <a:endParaRPr sz="1400">
              <a:solidFill>
                <a:schemeClr val="dk1"/>
              </a:solidFill>
              <a:latin typeface="Calibri"/>
              <a:ea typeface="Calibri"/>
              <a:cs typeface="Calibri"/>
              <a:sym typeface="Calibri"/>
            </a:endParaRPr>
          </a:p>
        </p:txBody>
      </p:sp>
      <p:sp>
        <p:nvSpPr>
          <p:cNvPr id="344" name="Google Shape;344;p8"/>
          <p:cNvSpPr/>
          <p:nvPr/>
        </p:nvSpPr>
        <p:spPr>
          <a:xfrm>
            <a:off x="5199812" y="4613135"/>
            <a:ext cx="1883700" cy="502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150"/>
              <a:buFont typeface="Arial"/>
              <a:buNone/>
            </a:pPr>
            <a:r>
              <a:rPr b="1" lang="en-US" sz="1150">
                <a:solidFill>
                  <a:srgbClr val="FFFFFF"/>
                </a:solidFill>
                <a:latin typeface="Arial"/>
                <a:ea typeface="Arial"/>
                <a:cs typeface="Arial"/>
                <a:sym typeface="Arial"/>
              </a:rPr>
              <a:t>Binary cross-entropy + sigmoid</a:t>
            </a:r>
            <a:endParaRPr sz="1150">
              <a:solidFill>
                <a:schemeClr val="dk1"/>
              </a:solidFill>
              <a:latin typeface="Calibri"/>
              <a:ea typeface="Calibri"/>
              <a:cs typeface="Calibri"/>
              <a:sym typeface="Calibri"/>
            </a:endParaRPr>
          </a:p>
        </p:txBody>
      </p:sp>
      <p:sp>
        <p:nvSpPr>
          <p:cNvPr id="345" name="Google Shape;345;p8"/>
          <p:cNvSpPr/>
          <p:nvPr/>
        </p:nvSpPr>
        <p:spPr>
          <a:xfrm>
            <a:off x="5143450" y="5073050"/>
            <a:ext cx="1883700" cy="82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800"/>
              <a:buFont typeface="Arial"/>
              <a:buNone/>
            </a:pPr>
            <a:r>
              <a:rPr lang="en-US" sz="900">
                <a:solidFill>
                  <a:schemeClr val="lt2"/>
                </a:solidFill>
                <a:latin typeface="Arial"/>
                <a:ea typeface="Arial"/>
                <a:cs typeface="Arial"/>
                <a:sym typeface="Arial"/>
              </a:rPr>
              <a:t>L</a:t>
            </a:r>
            <a:r>
              <a:rPr lang="en-US" sz="1000">
                <a:solidFill>
                  <a:schemeClr val="lt2"/>
                </a:solidFill>
                <a:latin typeface="Arial"/>
                <a:ea typeface="Arial"/>
                <a:cs typeface="Arial"/>
                <a:sym typeface="Arial"/>
              </a:rPr>
              <a:t>oss penalises confident wrong predictions </a:t>
            </a:r>
            <a:r>
              <a:rPr lang="en-US" sz="1000">
                <a:solidFill>
                  <a:schemeClr val="lt2"/>
                </a:solidFill>
              </a:rPr>
              <a:t>&gt; </a:t>
            </a:r>
            <a:r>
              <a:rPr lang="en-US" sz="1000">
                <a:solidFill>
                  <a:schemeClr val="lt2"/>
                </a:solidFill>
                <a:latin typeface="Arial"/>
                <a:ea typeface="Arial"/>
                <a:cs typeface="Arial"/>
                <a:sym typeface="Arial"/>
              </a:rPr>
              <a:t>uncertain ones, which matters with proxy labels. Sigmoid output is continuous P(built)</a:t>
            </a:r>
            <a:r>
              <a:rPr lang="en-US" sz="1000">
                <a:solidFill>
                  <a:schemeClr val="lt2"/>
                </a:solidFill>
              </a:rPr>
              <a:t>.</a:t>
            </a:r>
            <a:endParaRPr sz="1000">
              <a:solidFill>
                <a:schemeClr val="lt2"/>
              </a:solidFill>
              <a:latin typeface="Calibri"/>
              <a:ea typeface="Calibri"/>
              <a:cs typeface="Calibri"/>
              <a:sym typeface="Calibri"/>
            </a:endParaRPr>
          </a:p>
        </p:txBody>
      </p:sp>
      <p:cxnSp>
        <p:nvCxnSpPr>
          <p:cNvPr id="346" name="Google Shape;346;p8"/>
          <p:cNvCxnSpPr/>
          <p:nvPr/>
        </p:nvCxnSpPr>
        <p:spPr>
          <a:xfrm>
            <a:off x="7388352" y="4023360"/>
            <a:ext cx="0" cy="2331720"/>
          </a:xfrm>
          <a:prstGeom prst="straightConnector1">
            <a:avLst/>
          </a:prstGeom>
          <a:noFill/>
          <a:ln cap="flat" cmpd="sng" w="9525">
            <a:solidFill>
              <a:srgbClr val="2A4870"/>
            </a:solidFill>
            <a:prstDash val="solid"/>
            <a:round/>
            <a:headEnd len="sm" w="sm" type="none"/>
            <a:tailEnd len="sm" w="sm" type="none"/>
          </a:ln>
        </p:spPr>
      </p:cxnSp>
      <p:sp>
        <p:nvSpPr>
          <p:cNvPr id="347" name="Google Shape;347;p8"/>
          <p:cNvSpPr/>
          <p:nvPr/>
        </p:nvSpPr>
        <p:spPr>
          <a:xfrm>
            <a:off x="7552921" y="3758125"/>
            <a:ext cx="4486200" cy="25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1004"/>
              <a:buFont typeface="Arial"/>
              <a:buNone/>
            </a:pPr>
            <a:r>
              <a:rPr b="1" lang="en-US" sz="1500">
                <a:solidFill>
                  <a:srgbClr val="5B9573"/>
                </a:solidFill>
                <a:latin typeface="Arial"/>
                <a:ea typeface="Arial"/>
                <a:cs typeface="Arial"/>
                <a:sym typeface="Arial"/>
              </a:rPr>
              <a:t>FEATURE MAP EVOLUTION</a:t>
            </a:r>
            <a:endParaRPr sz="1500">
              <a:solidFill>
                <a:schemeClr val="dk1"/>
              </a:solidFill>
              <a:latin typeface="Calibri"/>
              <a:ea typeface="Calibri"/>
              <a:cs typeface="Calibri"/>
              <a:sym typeface="Calibri"/>
            </a:endParaRPr>
          </a:p>
        </p:txBody>
      </p:sp>
      <p:sp>
        <p:nvSpPr>
          <p:cNvPr id="348" name="Google Shape;348;p8"/>
          <p:cNvSpPr/>
          <p:nvPr/>
        </p:nvSpPr>
        <p:spPr>
          <a:xfrm>
            <a:off x="7552825" y="4003985"/>
            <a:ext cx="2564100" cy="20400"/>
          </a:xfrm>
          <a:prstGeom prst="rect">
            <a:avLst/>
          </a:prstGeom>
          <a:solidFill>
            <a:srgbClr val="5B9573"/>
          </a:solidFill>
          <a:ln cap="flat" cmpd="sng" w="14150">
            <a:solidFill>
              <a:srgbClr val="5B9573"/>
            </a:solidFill>
            <a:prstDash val="solid"/>
            <a:round/>
            <a:headEnd len="sm" w="sm" type="none"/>
            <a:tailEnd len="sm" w="sm" type="none"/>
          </a:ln>
        </p:spPr>
        <p:txBody>
          <a:bodyPr anchorCtr="0" anchor="t" bIns="50950" lIns="101950" spcFirstLastPara="1" rIns="101950" wrap="square" tIns="50950">
            <a:noAutofit/>
          </a:bodyPr>
          <a:lstStyle/>
          <a:p>
            <a:pPr indent="0" lvl="0" marL="0" marR="0" rtl="0" algn="l">
              <a:spcBef>
                <a:spcPts val="0"/>
              </a:spcBef>
              <a:spcAft>
                <a:spcPts val="0"/>
              </a:spcAft>
              <a:buNone/>
            </a:pPr>
            <a:r>
              <a:t/>
            </a:r>
            <a:endParaRPr sz="2007">
              <a:solidFill>
                <a:schemeClr val="dk1"/>
              </a:solidFill>
              <a:latin typeface="Calibri"/>
              <a:ea typeface="Calibri"/>
              <a:cs typeface="Calibri"/>
              <a:sym typeface="Calibri"/>
            </a:endParaRPr>
          </a:p>
        </p:txBody>
      </p:sp>
      <p:sp>
        <p:nvSpPr>
          <p:cNvPr id="349" name="Google Shape;349;p8"/>
          <p:cNvSpPr/>
          <p:nvPr/>
        </p:nvSpPr>
        <p:spPr>
          <a:xfrm>
            <a:off x="7552921" y="4165974"/>
            <a:ext cx="4486200" cy="662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8C5D6"/>
              </a:buClr>
              <a:buSzPts val="1059"/>
              <a:buFont typeface="Arial"/>
              <a:buNone/>
            </a:pPr>
            <a:r>
              <a:rPr i="1" lang="en-US" sz="1227">
                <a:solidFill>
                  <a:srgbClr val="B8C5D6"/>
                </a:solidFill>
                <a:latin typeface="Arial"/>
                <a:ea typeface="Arial"/>
                <a:cs typeface="Arial"/>
                <a:sym typeface="Arial"/>
              </a:rPr>
              <a:t>Activations from one test parcel, sampled at each conv depth. The network learns to localise the structure in shallow layers and abstract its silhouette in deep layers.</a:t>
            </a:r>
            <a:endParaRPr sz="1227">
              <a:solidFill>
                <a:schemeClr val="dk1"/>
              </a:solidFill>
              <a:latin typeface="Calibri"/>
              <a:ea typeface="Calibri"/>
              <a:cs typeface="Calibri"/>
              <a:sym typeface="Calibri"/>
            </a:endParaRPr>
          </a:p>
        </p:txBody>
      </p:sp>
      <p:sp>
        <p:nvSpPr>
          <p:cNvPr id="350" name="Google Shape;350;p8"/>
          <p:cNvSpPr/>
          <p:nvPr/>
        </p:nvSpPr>
        <p:spPr>
          <a:xfrm>
            <a:off x="7716060" y="5042850"/>
            <a:ext cx="815700" cy="815700"/>
          </a:xfrm>
          <a:prstGeom prst="rect">
            <a:avLst/>
          </a:prstGeom>
          <a:solidFill>
            <a:srgbClr val="1F3052"/>
          </a:solidFill>
          <a:ln cap="flat" cmpd="sng" w="10625">
            <a:solidFill>
              <a:srgbClr val="2A4870"/>
            </a:solidFill>
            <a:prstDash val="solid"/>
            <a:round/>
            <a:headEnd len="sm" w="sm" type="none"/>
            <a:tailEnd len="sm" w="sm" type="none"/>
          </a:ln>
        </p:spPr>
        <p:txBody>
          <a:bodyPr anchorCtr="0" anchor="t" bIns="50950" lIns="101950" spcFirstLastPara="1" rIns="101950" wrap="square" tIns="50950">
            <a:noAutofit/>
          </a:bodyPr>
          <a:lstStyle/>
          <a:p>
            <a:pPr indent="0" lvl="0" marL="0" marR="0" rtl="0" algn="l">
              <a:spcBef>
                <a:spcPts val="0"/>
              </a:spcBef>
              <a:spcAft>
                <a:spcPts val="0"/>
              </a:spcAft>
              <a:buNone/>
            </a:pPr>
            <a:r>
              <a:t/>
            </a:r>
            <a:endParaRPr sz="2007">
              <a:solidFill>
                <a:schemeClr val="dk1"/>
              </a:solidFill>
              <a:latin typeface="Calibri"/>
              <a:ea typeface="Calibri"/>
              <a:cs typeface="Calibri"/>
              <a:sym typeface="Calibri"/>
            </a:endParaRPr>
          </a:p>
        </p:txBody>
      </p:sp>
      <p:pic>
        <p:nvPicPr>
          <p:cNvPr id="351" name="Google Shape;351;p8"/>
          <p:cNvPicPr preferRelativeResize="0"/>
          <p:nvPr/>
        </p:nvPicPr>
        <p:blipFill rotWithShape="1">
          <a:blip r:embed="rId3">
            <a:alphaModFix/>
          </a:blip>
          <a:srcRect b="1052" l="35162" r="35178" t="55986"/>
          <a:stretch/>
        </p:blipFill>
        <p:spPr>
          <a:xfrm>
            <a:off x="7754472" y="5083635"/>
            <a:ext cx="738872" cy="734128"/>
          </a:xfrm>
          <a:prstGeom prst="rect">
            <a:avLst/>
          </a:prstGeom>
          <a:noFill/>
          <a:ln>
            <a:noFill/>
          </a:ln>
        </p:spPr>
      </p:pic>
      <p:sp>
        <p:nvSpPr>
          <p:cNvPr id="352" name="Google Shape;352;p8"/>
          <p:cNvSpPr/>
          <p:nvPr/>
        </p:nvSpPr>
        <p:spPr>
          <a:xfrm>
            <a:off x="7654882" y="5899334"/>
            <a:ext cx="938100" cy="22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6"/>
              <a:buFont typeface="Arial"/>
              <a:buNone/>
            </a:pPr>
            <a:r>
              <a:rPr b="1" lang="en-US" sz="836">
                <a:solidFill>
                  <a:srgbClr val="FFFFFF"/>
                </a:solidFill>
                <a:latin typeface="Arial"/>
                <a:ea typeface="Arial"/>
                <a:cs typeface="Arial"/>
                <a:sym typeface="Arial"/>
              </a:rPr>
              <a:t>Input</a:t>
            </a:r>
            <a:endParaRPr sz="836">
              <a:solidFill>
                <a:schemeClr val="dk1"/>
              </a:solidFill>
              <a:latin typeface="Calibri"/>
              <a:ea typeface="Calibri"/>
              <a:cs typeface="Calibri"/>
              <a:sym typeface="Calibri"/>
            </a:endParaRPr>
          </a:p>
        </p:txBody>
      </p:sp>
      <p:sp>
        <p:nvSpPr>
          <p:cNvPr id="353" name="Google Shape;353;p8"/>
          <p:cNvSpPr/>
          <p:nvPr/>
        </p:nvSpPr>
        <p:spPr>
          <a:xfrm>
            <a:off x="8552147" y="5042850"/>
            <a:ext cx="815700" cy="815700"/>
          </a:xfrm>
          <a:prstGeom prst="rect">
            <a:avLst/>
          </a:prstGeom>
          <a:solidFill>
            <a:srgbClr val="1F3052"/>
          </a:solidFill>
          <a:ln cap="flat" cmpd="sng" w="10625">
            <a:solidFill>
              <a:srgbClr val="2A4870"/>
            </a:solidFill>
            <a:prstDash val="solid"/>
            <a:round/>
            <a:headEnd len="sm" w="sm" type="none"/>
            <a:tailEnd len="sm" w="sm" type="none"/>
          </a:ln>
        </p:spPr>
        <p:txBody>
          <a:bodyPr anchorCtr="0" anchor="t" bIns="50950" lIns="101950" spcFirstLastPara="1" rIns="101950" wrap="square" tIns="50950">
            <a:noAutofit/>
          </a:bodyPr>
          <a:lstStyle/>
          <a:p>
            <a:pPr indent="0" lvl="0" marL="0" marR="0" rtl="0" algn="l">
              <a:spcBef>
                <a:spcPts val="0"/>
              </a:spcBef>
              <a:spcAft>
                <a:spcPts val="0"/>
              </a:spcAft>
              <a:buNone/>
            </a:pPr>
            <a:r>
              <a:t/>
            </a:r>
            <a:endParaRPr sz="2007">
              <a:solidFill>
                <a:schemeClr val="dk1"/>
              </a:solidFill>
              <a:latin typeface="Calibri"/>
              <a:ea typeface="Calibri"/>
              <a:cs typeface="Calibri"/>
              <a:sym typeface="Calibri"/>
            </a:endParaRPr>
          </a:p>
        </p:txBody>
      </p:sp>
      <p:pic>
        <p:nvPicPr>
          <p:cNvPr id="354" name="Google Shape;354;p8"/>
          <p:cNvPicPr preferRelativeResize="0"/>
          <p:nvPr/>
        </p:nvPicPr>
        <p:blipFill rotWithShape="1">
          <a:blip r:embed="rId4">
            <a:alphaModFix/>
          </a:blip>
          <a:srcRect b="69639" l="51976" r="37470" t="9489"/>
          <a:stretch/>
        </p:blipFill>
        <p:spPr>
          <a:xfrm>
            <a:off x="8587640" y="5083635"/>
            <a:ext cx="744710" cy="734129"/>
          </a:xfrm>
          <a:prstGeom prst="rect">
            <a:avLst/>
          </a:prstGeom>
          <a:noFill/>
          <a:ln>
            <a:noFill/>
          </a:ln>
        </p:spPr>
      </p:pic>
      <p:sp>
        <p:nvSpPr>
          <p:cNvPr id="355" name="Google Shape;355;p8"/>
          <p:cNvSpPr/>
          <p:nvPr/>
        </p:nvSpPr>
        <p:spPr>
          <a:xfrm>
            <a:off x="8490970" y="5899334"/>
            <a:ext cx="938100" cy="22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6"/>
              <a:buFont typeface="Arial"/>
              <a:buNone/>
            </a:pPr>
            <a:r>
              <a:rPr b="1" lang="en-US" sz="836">
                <a:solidFill>
                  <a:srgbClr val="FFFFFF"/>
                </a:solidFill>
                <a:latin typeface="Arial"/>
                <a:ea typeface="Arial"/>
                <a:cs typeface="Arial"/>
                <a:sym typeface="Arial"/>
              </a:rPr>
              <a:t>Conv 32</a:t>
            </a:r>
            <a:endParaRPr sz="836">
              <a:solidFill>
                <a:schemeClr val="dk1"/>
              </a:solidFill>
              <a:latin typeface="Calibri"/>
              <a:ea typeface="Calibri"/>
              <a:cs typeface="Calibri"/>
              <a:sym typeface="Calibri"/>
            </a:endParaRPr>
          </a:p>
        </p:txBody>
      </p:sp>
      <p:sp>
        <p:nvSpPr>
          <p:cNvPr id="356" name="Google Shape;356;p8"/>
          <p:cNvSpPr/>
          <p:nvPr/>
        </p:nvSpPr>
        <p:spPr>
          <a:xfrm>
            <a:off x="9388234" y="5042850"/>
            <a:ext cx="815700" cy="815700"/>
          </a:xfrm>
          <a:prstGeom prst="rect">
            <a:avLst/>
          </a:prstGeom>
          <a:solidFill>
            <a:srgbClr val="1F3052"/>
          </a:solidFill>
          <a:ln cap="flat" cmpd="sng" w="10625">
            <a:solidFill>
              <a:srgbClr val="2A4870"/>
            </a:solidFill>
            <a:prstDash val="solid"/>
            <a:round/>
            <a:headEnd len="sm" w="sm" type="none"/>
            <a:tailEnd len="sm" w="sm" type="none"/>
          </a:ln>
        </p:spPr>
        <p:txBody>
          <a:bodyPr anchorCtr="0" anchor="t" bIns="50950" lIns="101950" spcFirstLastPara="1" rIns="101950" wrap="square" tIns="50950">
            <a:noAutofit/>
          </a:bodyPr>
          <a:lstStyle/>
          <a:p>
            <a:pPr indent="0" lvl="0" marL="0" marR="0" rtl="0" algn="l">
              <a:spcBef>
                <a:spcPts val="0"/>
              </a:spcBef>
              <a:spcAft>
                <a:spcPts val="0"/>
              </a:spcAft>
              <a:buNone/>
            </a:pPr>
            <a:r>
              <a:t/>
            </a:r>
            <a:endParaRPr sz="2007">
              <a:solidFill>
                <a:schemeClr val="dk1"/>
              </a:solidFill>
              <a:latin typeface="Calibri"/>
              <a:ea typeface="Calibri"/>
              <a:cs typeface="Calibri"/>
              <a:sym typeface="Calibri"/>
            </a:endParaRPr>
          </a:p>
        </p:txBody>
      </p:sp>
      <p:pic>
        <p:nvPicPr>
          <p:cNvPr id="357" name="Google Shape;357;p8"/>
          <p:cNvPicPr preferRelativeResize="0"/>
          <p:nvPr/>
        </p:nvPicPr>
        <p:blipFill rotWithShape="1">
          <a:blip r:embed="rId4">
            <a:alphaModFix/>
          </a:blip>
          <a:srcRect b="46869" l="39656" r="49745" t="32295"/>
          <a:stretch/>
        </p:blipFill>
        <p:spPr>
          <a:xfrm>
            <a:off x="9421435" y="5083635"/>
            <a:ext cx="749297" cy="734129"/>
          </a:xfrm>
          <a:prstGeom prst="rect">
            <a:avLst/>
          </a:prstGeom>
          <a:noFill/>
          <a:ln>
            <a:noFill/>
          </a:ln>
        </p:spPr>
      </p:pic>
      <p:sp>
        <p:nvSpPr>
          <p:cNvPr id="358" name="Google Shape;358;p8"/>
          <p:cNvSpPr/>
          <p:nvPr/>
        </p:nvSpPr>
        <p:spPr>
          <a:xfrm>
            <a:off x="9327057" y="5899334"/>
            <a:ext cx="938100" cy="22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6"/>
              <a:buFont typeface="Arial"/>
              <a:buNone/>
            </a:pPr>
            <a:r>
              <a:rPr b="1" lang="en-US" sz="836">
                <a:solidFill>
                  <a:srgbClr val="FFFFFF"/>
                </a:solidFill>
                <a:latin typeface="Arial"/>
                <a:ea typeface="Arial"/>
                <a:cs typeface="Arial"/>
                <a:sym typeface="Arial"/>
              </a:rPr>
              <a:t>Conv 64</a:t>
            </a:r>
            <a:endParaRPr sz="836">
              <a:solidFill>
                <a:schemeClr val="dk1"/>
              </a:solidFill>
              <a:latin typeface="Calibri"/>
              <a:ea typeface="Calibri"/>
              <a:cs typeface="Calibri"/>
              <a:sym typeface="Calibri"/>
            </a:endParaRPr>
          </a:p>
        </p:txBody>
      </p:sp>
      <p:sp>
        <p:nvSpPr>
          <p:cNvPr id="359" name="Google Shape;359;p8"/>
          <p:cNvSpPr/>
          <p:nvPr/>
        </p:nvSpPr>
        <p:spPr>
          <a:xfrm>
            <a:off x="10224322" y="5042850"/>
            <a:ext cx="815700" cy="815700"/>
          </a:xfrm>
          <a:prstGeom prst="rect">
            <a:avLst/>
          </a:prstGeom>
          <a:solidFill>
            <a:srgbClr val="1F3052"/>
          </a:solidFill>
          <a:ln cap="flat" cmpd="sng" w="10625">
            <a:solidFill>
              <a:srgbClr val="2A4870"/>
            </a:solidFill>
            <a:prstDash val="solid"/>
            <a:round/>
            <a:headEnd len="sm" w="sm" type="none"/>
            <a:tailEnd len="sm" w="sm" type="none"/>
          </a:ln>
        </p:spPr>
        <p:txBody>
          <a:bodyPr anchorCtr="0" anchor="t" bIns="50950" lIns="101950" spcFirstLastPara="1" rIns="101950" wrap="square" tIns="50950">
            <a:noAutofit/>
          </a:bodyPr>
          <a:lstStyle/>
          <a:p>
            <a:pPr indent="0" lvl="0" marL="0" marR="0" rtl="0" algn="l">
              <a:spcBef>
                <a:spcPts val="0"/>
              </a:spcBef>
              <a:spcAft>
                <a:spcPts val="0"/>
              </a:spcAft>
              <a:buNone/>
            </a:pPr>
            <a:r>
              <a:t/>
            </a:r>
            <a:endParaRPr sz="2007">
              <a:solidFill>
                <a:schemeClr val="dk1"/>
              </a:solidFill>
              <a:latin typeface="Calibri"/>
              <a:ea typeface="Calibri"/>
              <a:cs typeface="Calibri"/>
              <a:sym typeface="Calibri"/>
            </a:endParaRPr>
          </a:p>
        </p:txBody>
      </p:sp>
      <p:pic>
        <p:nvPicPr>
          <p:cNvPr id="360" name="Google Shape;360;p8"/>
          <p:cNvPicPr preferRelativeResize="0"/>
          <p:nvPr/>
        </p:nvPicPr>
        <p:blipFill rotWithShape="1">
          <a:blip r:embed="rId4">
            <a:alphaModFix/>
          </a:blip>
          <a:srcRect b="23924" l="88843" r="557" t="55009"/>
          <a:stretch/>
        </p:blipFill>
        <p:spPr>
          <a:xfrm>
            <a:off x="10261666" y="5083635"/>
            <a:ext cx="741006" cy="734129"/>
          </a:xfrm>
          <a:prstGeom prst="rect">
            <a:avLst/>
          </a:prstGeom>
          <a:noFill/>
          <a:ln>
            <a:noFill/>
          </a:ln>
        </p:spPr>
      </p:pic>
      <p:sp>
        <p:nvSpPr>
          <p:cNvPr id="361" name="Google Shape;361;p8"/>
          <p:cNvSpPr/>
          <p:nvPr/>
        </p:nvSpPr>
        <p:spPr>
          <a:xfrm>
            <a:off x="10163145" y="5899334"/>
            <a:ext cx="938100" cy="22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6"/>
              <a:buFont typeface="Arial"/>
              <a:buNone/>
            </a:pPr>
            <a:r>
              <a:rPr b="1" lang="en-US" sz="836">
                <a:solidFill>
                  <a:srgbClr val="FFFFFF"/>
                </a:solidFill>
                <a:latin typeface="Arial"/>
                <a:ea typeface="Arial"/>
                <a:cs typeface="Arial"/>
                <a:sym typeface="Arial"/>
              </a:rPr>
              <a:t>Conv 128</a:t>
            </a:r>
            <a:endParaRPr sz="836">
              <a:solidFill>
                <a:schemeClr val="dk1"/>
              </a:solidFill>
              <a:latin typeface="Calibri"/>
              <a:ea typeface="Calibri"/>
              <a:cs typeface="Calibri"/>
              <a:sym typeface="Calibri"/>
            </a:endParaRPr>
          </a:p>
        </p:txBody>
      </p:sp>
      <p:sp>
        <p:nvSpPr>
          <p:cNvPr id="362" name="Google Shape;362;p8"/>
          <p:cNvSpPr/>
          <p:nvPr/>
        </p:nvSpPr>
        <p:spPr>
          <a:xfrm>
            <a:off x="11060409" y="5042850"/>
            <a:ext cx="815700" cy="815700"/>
          </a:xfrm>
          <a:prstGeom prst="rect">
            <a:avLst/>
          </a:prstGeom>
          <a:solidFill>
            <a:srgbClr val="1F3052"/>
          </a:solidFill>
          <a:ln cap="flat" cmpd="sng" w="10625">
            <a:solidFill>
              <a:srgbClr val="2A4870"/>
            </a:solidFill>
            <a:prstDash val="solid"/>
            <a:round/>
            <a:headEnd len="sm" w="sm" type="none"/>
            <a:tailEnd len="sm" w="sm" type="none"/>
          </a:ln>
        </p:spPr>
        <p:txBody>
          <a:bodyPr anchorCtr="0" anchor="t" bIns="50950" lIns="101950" spcFirstLastPara="1" rIns="101950" wrap="square" tIns="50950">
            <a:noAutofit/>
          </a:bodyPr>
          <a:lstStyle/>
          <a:p>
            <a:pPr indent="0" lvl="0" marL="0" marR="0" rtl="0" algn="l">
              <a:spcBef>
                <a:spcPts val="0"/>
              </a:spcBef>
              <a:spcAft>
                <a:spcPts val="0"/>
              </a:spcAft>
              <a:buNone/>
            </a:pPr>
            <a:r>
              <a:t/>
            </a:r>
            <a:endParaRPr sz="2007">
              <a:solidFill>
                <a:schemeClr val="dk1"/>
              </a:solidFill>
              <a:latin typeface="Calibri"/>
              <a:ea typeface="Calibri"/>
              <a:cs typeface="Calibri"/>
              <a:sym typeface="Calibri"/>
            </a:endParaRPr>
          </a:p>
        </p:txBody>
      </p:sp>
      <p:pic>
        <p:nvPicPr>
          <p:cNvPr id="363" name="Google Shape;363;p8"/>
          <p:cNvPicPr preferRelativeResize="0"/>
          <p:nvPr/>
        </p:nvPicPr>
        <p:blipFill rotWithShape="1">
          <a:blip r:embed="rId4">
            <a:alphaModFix/>
          </a:blip>
          <a:srcRect b="1234" l="88800" r="566" t="77625"/>
          <a:stretch/>
        </p:blipFill>
        <p:spPr>
          <a:xfrm>
            <a:off x="11097833" y="5083635"/>
            <a:ext cx="740848" cy="734129"/>
          </a:xfrm>
          <a:prstGeom prst="rect">
            <a:avLst/>
          </a:prstGeom>
          <a:noFill/>
          <a:ln>
            <a:noFill/>
          </a:ln>
        </p:spPr>
      </p:pic>
      <p:sp>
        <p:nvSpPr>
          <p:cNvPr id="364" name="Google Shape;364;p8"/>
          <p:cNvSpPr/>
          <p:nvPr/>
        </p:nvSpPr>
        <p:spPr>
          <a:xfrm>
            <a:off x="10999232" y="5899334"/>
            <a:ext cx="938100" cy="22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6"/>
              <a:buFont typeface="Arial"/>
              <a:buNone/>
            </a:pPr>
            <a:r>
              <a:rPr b="1" lang="en-US" sz="836">
                <a:solidFill>
                  <a:srgbClr val="FFFFFF"/>
                </a:solidFill>
                <a:latin typeface="Arial"/>
                <a:ea typeface="Arial"/>
                <a:cs typeface="Arial"/>
                <a:sym typeface="Arial"/>
              </a:rPr>
              <a:t>Conv 256</a:t>
            </a:r>
            <a:endParaRPr sz="836">
              <a:solidFill>
                <a:schemeClr val="dk1"/>
              </a:solidFill>
              <a:latin typeface="Calibri"/>
              <a:ea typeface="Calibri"/>
              <a:cs typeface="Calibri"/>
              <a:sym typeface="Calibri"/>
            </a:endParaRPr>
          </a:p>
        </p:txBody>
      </p:sp>
      <p:sp>
        <p:nvSpPr>
          <p:cNvPr id="365" name="Google Shape;365;p8"/>
          <p:cNvSpPr/>
          <p:nvPr/>
        </p:nvSpPr>
        <p:spPr>
          <a:xfrm>
            <a:off x="7552921" y="6103258"/>
            <a:ext cx="4486200" cy="22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5A3"/>
              </a:buClr>
              <a:buSzPts val="948"/>
              <a:buFont typeface="Arial"/>
              <a:buNone/>
            </a:pPr>
            <a:r>
              <a:rPr i="1" lang="en-US" sz="948">
                <a:solidFill>
                  <a:srgbClr val="8B95A3"/>
                </a:solidFill>
                <a:latin typeface="Arial"/>
                <a:ea typeface="Arial"/>
                <a:cs typeface="Arial"/>
                <a:sym typeface="Arial"/>
              </a:rPr>
              <a:t>shallow ←  representational depth  → deep</a:t>
            </a:r>
            <a:endParaRPr sz="948">
              <a:solidFill>
                <a:schemeClr val="dk1"/>
              </a:solidFill>
              <a:latin typeface="Calibri"/>
              <a:ea typeface="Calibri"/>
              <a:cs typeface="Calibri"/>
              <a:sym typeface="Calibri"/>
            </a:endParaRPr>
          </a:p>
        </p:txBody>
      </p:sp>
      <p:cxnSp>
        <p:nvCxnSpPr>
          <p:cNvPr id="366" name="Google Shape;366;p8"/>
          <p:cNvCxnSpPr/>
          <p:nvPr/>
        </p:nvCxnSpPr>
        <p:spPr>
          <a:xfrm>
            <a:off x="457200" y="6446520"/>
            <a:ext cx="11247120" cy="0"/>
          </a:xfrm>
          <a:prstGeom prst="straightConnector1">
            <a:avLst/>
          </a:prstGeom>
          <a:noFill/>
          <a:ln cap="flat" cmpd="sng" w="9525">
            <a:solidFill>
              <a:srgbClr val="3D5478"/>
            </a:solidFill>
            <a:prstDash val="solid"/>
            <a:round/>
            <a:headEnd len="sm" w="sm" type="none"/>
            <a:tailEnd len="sm" w="sm" type="none"/>
          </a:ln>
        </p:spPr>
      </p:cxnSp>
      <p:sp>
        <p:nvSpPr>
          <p:cNvPr id="367" name="Google Shape;367;p8"/>
          <p:cNvSpPr/>
          <p:nvPr/>
        </p:nvSpPr>
        <p:spPr>
          <a:xfrm>
            <a:off x="457200" y="6565392"/>
            <a:ext cx="9601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800"/>
              <a:buFont typeface="Arial"/>
              <a:buNone/>
            </a:pPr>
            <a:r>
              <a:rPr i="1" lang="en-US" sz="800">
                <a:solidFill>
                  <a:srgbClr val="8B95A3"/>
                </a:solidFill>
                <a:latin typeface="Arial"/>
                <a:ea typeface="Arial"/>
                <a:cs typeface="Arial"/>
                <a:sym typeface="Arial"/>
              </a:rPr>
              <a:t>Architecture: 4 × (Conv2D 3×3 + BN + ReLU + MaxPool) → GAP → Dense 128 (L2) → Dropout 0.40 → Sigmoid · ~422K parameters · Implemented in Keras / TensorFlow 2.19</a:t>
            </a:r>
            <a:endParaRPr sz="800">
              <a:solidFill>
                <a:schemeClr val="dk1"/>
              </a:solidFill>
              <a:latin typeface="Calibri"/>
              <a:ea typeface="Calibri"/>
              <a:cs typeface="Calibri"/>
              <a:sym typeface="Calibri"/>
            </a:endParaRPr>
          </a:p>
        </p:txBody>
      </p:sp>
      <p:sp>
        <p:nvSpPr>
          <p:cNvPr id="368" name="Google Shape;368;p8"/>
          <p:cNvSpPr/>
          <p:nvPr/>
        </p:nvSpPr>
        <p:spPr>
          <a:xfrm>
            <a:off x="10058400" y="6565392"/>
            <a:ext cx="164592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A3"/>
              </a:buClr>
              <a:buSzPts val="800"/>
              <a:buFont typeface="Arial"/>
              <a:buNone/>
            </a:pPr>
            <a:r>
              <a:rPr b="1" lang="en-US" sz="800">
                <a:solidFill>
                  <a:srgbClr val="8B95A3"/>
                </a:solidFill>
                <a:latin typeface="Arial"/>
                <a:ea typeface="Arial"/>
                <a:cs typeface="Arial"/>
                <a:sym typeface="Arial"/>
              </a:rPr>
              <a:t>08 / 19</a:t>
            </a:r>
            <a:endParaRPr sz="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373" name="Shape 373"/>
        <p:cNvGrpSpPr/>
        <p:nvPr/>
      </p:nvGrpSpPr>
      <p:grpSpPr>
        <a:xfrm>
          <a:off x="0" y="0"/>
          <a:ext cx="0" cy="0"/>
          <a:chOff x="0" y="0"/>
          <a:chExt cx="0" cy="0"/>
        </a:xfrm>
      </p:grpSpPr>
      <p:sp>
        <p:nvSpPr>
          <p:cNvPr id="374" name="Google Shape;374;p9"/>
          <p:cNvSpPr/>
          <p:nvPr/>
        </p:nvSpPr>
        <p:spPr>
          <a:xfrm>
            <a:off x="457200" y="365760"/>
            <a:ext cx="320040" cy="18288"/>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9"/>
          <p:cNvSpPr/>
          <p:nvPr/>
        </p:nvSpPr>
        <p:spPr>
          <a:xfrm>
            <a:off x="457200" y="411480"/>
            <a:ext cx="11247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lang="en-US" sz="2800">
                <a:solidFill>
                  <a:srgbClr val="FFFFFF"/>
                </a:solidFill>
                <a:latin typeface="Arial"/>
                <a:ea typeface="Arial"/>
                <a:cs typeface="Arial"/>
                <a:sym typeface="Arial"/>
              </a:rPr>
              <a:t>Transferred Learning </a:t>
            </a:r>
            <a:r>
              <a:rPr b="1" lang="en-US" sz="2800">
                <a:solidFill>
                  <a:srgbClr val="FFFFFF"/>
                </a:solidFill>
              </a:rPr>
              <a:t>Across a Pre-Trained Model</a:t>
            </a:r>
            <a:endParaRPr sz="2800">
              <a:solidFill>
                <a:schemeClr val="dk1"/>
              </a:solidFill>
              <a:latin typeface="Calibri"/>
              <a:ea typeface="Calibri"/>
              <a:cs typeface="Calibri"/>
              <a:sym typeface="Calibri"/>
            </a:endParaRPr>
          </a:p>
        </p:txBody>
      </p:sp>
      <p:sp>
        <p:nvSpPr>
          <p:cNvPr id="376" name="Google Shape;376;p9"/>
          <p:cNvSpPr/>
          <p:nvPr/>
        </p:nvSpPr>
        <p:spPr>
          <a:xfrm>
            <a:off x="457200" y="960120"/>
            <a:ext cx="11247120" cy="5029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MobileNetV2: pretrained ImageNet backbone (frozen) with a trainable head of ~82K parameters</a:t>
            </a:r>
            <a:endParaRPr sz="1600">
              <a:solidFill>
                <a:schemeClr val="dk1"/>
              </a:solidFill>
              <a:latin typeface="Calibri"/>
              <a:ea typeface="Calibri"/>
              <a:cs typeface="Calibri"/>
              <a:sym typeface="Calibri"/>
            </a:endParaRPr>
          </a:p>
        </p:txBody>
      </p:sp>
      <p:sp>
        <p:nvSpPr>
          <p:cNvPr id="377" name="Google Shape;377;p9"/>
          <p:cNvSpPr/>
          <p:nvPr/>
        </p:nvSpPr>
        <p:spPr>
          <a:xfrm>
            <a:off x="457200" y="1449648"/>
            <a:ext cx="11247120" cy="260604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78" name="Google Shape;378;p9"/>
          <p:cNvGrpSpPr/>
          <p:nvPr/>
        </p:nvGrpSpPr>
        <p:grpSpPr>
          <a:xfrm>
            <a:off x="1021080" y="1744288"/>
            <a:ext cx="10149840" cy="1783080"/>
            <a:chOff x="685800" y="1988820"/>
            <a:chExt cx="10149840" cy="1783080"/>
          </a:xfrm>
        </p:grpSpPr>
        <p:sp>
          <p:nvSpPr>
            <p:cNvPr id="379" name="Google Shape;379;p9"/>
            <p:cNvSpPr/>
            <p:nvPr/>
          </p:nvSpPr>
          <p:spPr>
            <a:xfrm>
              <a:off x="777240" y="2400300"/>
              <a:ext cx="685800" cy="1005840"/>
            </a:xfrm>
            <a:prstGeom prst="rect">
              <a:avLst/>
            </a:prstGeom>
            <a:solidFill>
              <a:srgbClr val="1F3052"/>
            </a:solidFill>
            <a:ln cap="flat" cmpd="sng" w="9525">
              <a:solidFill>
                <a:srgbClr val="2A487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9"/>
            <p:cNvSpPr/>
            <p:nvPr/>
          </p:nvSpPr>
          <p:spPr>
            <a:xfrm>
              <a:off x="777240" y="2400300"/>
              <a:ext cx="685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Input</a:t>
              </a:r>
              <a:endParaRPr sz="1000">
                <a:solidFill>
                  <a:schemeClr val="dk1"/>
                </a:solidFill>
                <a:latin typeface="Calibri"/>
                <a:ea typeface="Calibri"/>
                <a:cs typeface="Calibri"/>
                <a:sym typeface="Calibri"/>
              </a:endParaRPr>
            </a:p>
          </p:txBody>
        </p:sp>
        <p:sp>
          <p:nvSpPr>
            <p:cNvPr id="381" name="Google Shape;381;p9"/>
            <p:cNvSpPr/>
            <p:nvPr/>
          </p:nvSpPr>
          <p:spPr>
            <a:xfrm>
              <a:off x="685800" y="2857500"/>
              <a:ext cx="8686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lang="en-US" sz="800">
                  <a:solidFill>
                    <a:srgbClr val="FFFFFF"/>
                  </a:solidFill>
                  <a:latin typeface="Arial"/>
                  <a:ea typeface="Arial"/>
                  <a:cs typeface="Arial"/>
                  <a:sym typeface="Arial"/>
                </a:rPr>
                <a:t>160×160×3</a:t>
              </a:r>
              <a:endParaRPr sz="800">
                <a:solidFill>
                  <a:schemeClr val="dk1"/>
                </a:solidFill>
                <a:latin typeface="Calibri"/>
                <a:ea typeface="Calibri"/>
                <a:cs typeface="Calibri"/>
                <a:sym typeface="Calibri"/>
              </a:endParaRPr>
            </a:p>
          </p:txBody>
        </p:sp>
        <p:cxnSp>
          <p:nvCxnSpPr>
            <p:cNvPr id="382" name="Google Shape;382;p9"/>
            <p:cNvCxnSpPr/>
            <p:nvPr/>
          </p:nvCxnSpPr>
          <p:spPr>
            <a:xfrm>
              <a:off x="1508760" y="2903220"/>
              <a:ext cx="274320" cy="0"/>
            </a:xfrm>
            <a:prstGeom prst="straightConnector1">
              <a:avLst/>
            </a:prstGeom>
            <a:noFill/>
            <a:ln cap="flat" cmpd="sng" w="12700">
              <a:solidFill>
                <a:srgbClr val="B8C5D6"/>
              </a:solidFill>
              <a:prstDash val="solid"/>
              <a:round/>
              <a:headEnd len="sm" w="sm" type="none"/>
              <a:tailEnd len="med" w="med" type="triangle"/>
            </a:ln>
          </p:spPr>
        </p:cxnSp>
        <p:sp>
          <p:nvSpPr>
            <p:cNvPr id="383" name="Google Shape;383;p9"/>
            <p:cNvSpPr/>
            <p:nvPr/>
          </p:nvSpPr>
          <p:spPr>
            <a:xfrm>
              <a:off x="1783080" y="1988820"/>
              <a:ext cx="4937760" cy="1783080"/>
            </a:xfrm>
            <a:prstGeom prst="rect">
              <a:avLst/>
            </a:prstGeom>
            <a:solidFill>
              <a:srgbClr val="1F3052"/>
            </a:solidFill>
            <a:ln cap="flat" cmpd="sng" w="19050">
              <a:solidFill>
                <a:srgbClr val="2A487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84" name="Google Shape;384;p9"/>
            <p:cNvCxnSpPr/>
            <p:nvPr/>
          </p:nvCxnSpPr>
          <p:spPr>
            <a:xfrm>
              <a:off x="1783080" y="3771900"/>
              <a:ext cx="0" cy="0"/>
            </a:xfrm>
            <a:prstGeom prst="straightConnector1">
              <a:avLst/>
            </a:prstGeom>
            <a:noFill/>
            <a:ln cap="flat" cmpd="sng" w="9525">
              <a:solidFill>
                <a:srgbClr val="2A4870"/>
              </a:solidFill>
              <a:prstDash val="solid"/>
              <a:round/>
              <a:headEnd len="sm" w="sm" type="none"/>
              <a:tailEnd len="sm" w="sm" type="none"/>
            </a:ln>
          </p:spPr>
        </p:cxnSp>
        <p:cxnSp>
          <p:nvCxnSpPr>
            <p:cNvPr id="385" name="Google Shape;385;p9"/>
            <p:cNvCxnSpPr/>
            <p:nvPr/>
          </p:nvCxnSpPr>
          <p:spPr>
            <a:xfrm>
              <a:off x="1783080" y="3479292"/>
              <a:ext cx="292608" cy="292608"/>
            </a:xfrm>
            <a:prstGeom prst="straightConnector1">
              <a:avLst/>
            </a:prstGeom>
            <a:noFill/>
            <a:ln cap="flat" cmpd="sng" w="9525">
              <a:solidFill>
                <a:srgbClr val="2A4870"/>
              </a:solidFill>
              <a:prstDash val="solid"/>
              <a:round/>
              <a:headEnd len="sm" w="sm" type="none"/>
              <a:tailEnd len="sm" w="sm" type="none"/>
            </a:ln>
          </p:spPr>
        </p:cxnSp>
        <p:cxnSp>
          <p:nvCxnSpPr>
            <p:cNvPr id="386" name="Google Shape;386;p9"/>
            <p:cNvCxnSpPr/>
            <p:nvPr/>
          </p:nvCxnSpPr>
          <p:spPr>
            <a:xfrm>
              <a:off x="1783080" y="3186684"/>
              <a:ext cx="585216" cy="585216"/>
            </a:xfrm>
            <a:prstGeom prst="straightConnector1">
              <a:avLst/>
            </a:prstGeom>
            <a:noFill/>
            <a:ln cap="flat" cmpd="sng" w="9525">
              <a:solidFill>
                <a:srgbClr val="2A4870"/>
              </a:solidFill>
              <a:prstDash val="solid"/>
              <a:round/>
              <a:headEnd len="sm" w="sm" type="none"/>
              <a:tailEnd len="sm" w="sm" type="none"/>
            </a:ln>
          </p:spPr>
        </p:cxnSp>
        <p:cxnSp>
          <p:nvCxnSpPr>
            <p:cNvPr id="387" name="Google Shape;387;p9"/>
            <p:cNvCxnSpPr/>
            <p:nvPr/>
          </p:nvCxnSpPr>
          <p:spPr>
            <a:xfrm>
              <a:off x="1783080" y="2894076"/>
              <a:ext cx="877824" cy="877824"/>
            </a:xfrm>
            <a:prstGeom prst="straightConnector1">
              <a:avLst/>
            </a:prstGeom>
            <a:noFill/>
            <a:ln cap="flat" cmpd="sng" w="9525">
              <a:solidFill>
                <a:srgbClr val="2A4870"/>
              </a:solidFill>
              <a:prstDash val="solid"/>
              <a:round/>
              <a:headEnd len="sm" w="sm" type="none"/>
              <a:tailEnd len="sm" w="sm" type="none"/>
            </a:ln>
          </p:spPr>
        </p:cxnSp>
        <p:cxnSp>
          <p:nvCxnSpPr>
            <p:cNvPr id="388" name="Google Shape;388;p9"/>
            <p:cNvCxnSpPr/>
            <p:nvPr/>
          </p:nvCxnSpPr>
          <p:spPr>
            <a:xfrm>
              <a:off x="1783080" y="2601468"/>
              <a:ext cx="1170432" cy="1170432"/>
            </a:xfrm>
            <a:prstGeom prst="straightConnector1">
              <a:avLst/>
            </a:prstGeom>
            <a:noFill/>
            <a:ln cap="flat" cmpd="sng" w="9525">
              <a:solidFill>
                <a:srgbClr val="2A4870"/>
              </a:solidFill>
              <a:prstDash val="solid"/>
              <a:round/>
              <a:headEnd len="sm" w="sm" type="none"/>
              <a:tailEnd len="sm" w="sm" type="none"/>
            </a:ln>
          </p:spPr>
        </p:cxnSp>
        <p:cxnSp>
          <p:nvCxnSpPr>
            <p:cNvPr id="389" name="Google Shape;389;p9"/>
            <p:cNvCxnSpPr/>
            <p:nvPr/>
          </p:nvCxnSpPr>
          <p:spPr>
            <a:xfrm>
              <a:off x="1783080" y="2308860"/>
              <a:ext cx="1463040" cy="1463040"/>
            </a:xfrm>
            <a:prstGeom prst="straightConnector1">
              <a:avLst/>
            </a:prstGeom>
            <a:noFill/>
            <a:ln cap="flat" cmpd="sng" w="9525">
              <a:solidFill>
                <a:srgbClr val="2A4870"/>
              </a:solidFill>
              <a:prstDash val="solid"/>
              <a:round/>
              <a:headEnd len="sm" w="sm" type="none"/>
              <a:tailEnd len="sm" w="sm" type="none"/>
            </a:ln>
          </p:spPr>
        </p:cxnSp>
        <p:cxnSp>
          <p:nvCxnSpPr>
            <p:cNvPr id="390" name="Google Shape;390;p9"/>
            <p:cNvCxnSpPr/>
            <p:nvPr/>
          </p:nvCxnSpPr>
          <p:spPr>
            <a:xfrm>
              <a:off x="1783080" y="2016252"/>
              <a:ext cx="1755648" cy="1755648"/>
            </a:xfrm>
            <a:prstGeom prst="straightConnector1">
              <a:avLst/>
            </a:prstGeom>
            <a:noFill/>
            <a:ln cap="flat" cmpd="sng" w="9525">
              <a:solidFill>
                <a:srgbClr val="2A4870"/>
              </a:solidFill>
              <a:prstDash val="solid"/>
              <a:round/>
              <a:headEnd len="sm" w="sm" type="none"/>
              <a:tailEnd len="sm" w="sm" type="none"/>
            </a:ln>
          </p:spPr>
        </p:cxnSp>
        <p:cxnSp>
          <p:nvCxnSpPr>
            <p:cNvPr id="391" name="Google Shape;391;p9"/>
            <p:cNvCxnSpPr/>
            <p:nvPr/>
          </p:nvCxnSpPr>
          <p:spPr>
            <a:xfrm>
              <a:off x="2048256" y="1988820"/>
              <a:ext cx="1783080" cy="1783080"/>
            </a:xfrm>
            <a:prstGeom prst="straightConnector1">
              <a:avLst/>
            </a:prstGeom>
            <a:noFill/>
            <a:ln cap="flat" cmpd="sng" w="9525">
              <a:solidFill>
                <a:srgbClr val="2A4870"/>
              </a:solidFill>
              <a:prstDash val="solid"/>
              <a:round/>
              <a:headEnd len="sm" w="sm" type="none"/>
              <a:tailEnd len="sm" w="sm" type="none"/>
            </a:ln>
          </p:spPr>
        </p:cxnSp>
        <p:cxnSp>
          <p:nvCxnSpPr>
            <p:cNvPr id="392" name="Google Shape;392;p9"/>
            <p:cNvCxnSpPr/>
            <p:nvPr/>
          </p:nvCxnSpPr>
          <p:spPr>
            <a:xfrm>
              <a:off x="2340864" y="1988820"/>
              <a:ext cx="1783080" cy="1783080"/>
            </a:xfrm>
            <a:prstGeom prst="straightConnector1">
              <a:avLst/>
            </a:prstGeom>
            <a:noFill/>
            <a:ln cap="flat" cmpd="sng" w="9525">
              <a:solidFill>
                <a:srgbClr val="2A4870"/>
              </a:solidFill>
              <a:prstDash val="solid"/>
              <a:round/>
              <a:headEnd len="sm" w="sm" type="none"/>
              <a:tailEnd len="sm" w="sm" type="none"/>
            </a:ln>
          </p:spPr>
        </p:cxnSp>
        <p:cxnSp>
          <p:nvCxnSpPr>
            <p:cNvPr id="393" name="Google Shape;393;p9"/>
            <p:cNvCxnSpPr/>
            <p:nvPr/>
          </p:nvCxnSpPr>
          <p:spPr>
            <a:xfrm>
              <a:off x="2633472" y="1988820"/>
              <a:ext cx="1783080" cy="1783080"/>
            </a:xfrm>
            <a:prstGeom prst="straightConnector1">
              <a:avLst/>
            </a:prstGeom>
            <a:noFill/>
            <a:ln cap="flat" cmpd="sng" w="9525">
              <a:solidFill>
                <a:srgbClr val="2A4870"/>
              </a:solidFill>
              <a:prstDash val="solid"/>
              <a:round/>
              <a:headEnd len="sm" w="sm" type="none"/>
              <a:tailEnd len="sm" w="sm" type="none"/>
            </a:ln>
          </p:spPr>
        </p:cxnSp>
        <p:cxnSp>
          <p:nvCxnSpPr>
            <p:cNvPr id="394" name="Google Shape;394;p9"/>
            <p:cNvCxnSpPr/>
            <p:nvPr/>
          </p:nvCxnSpPr>
          <p:spPr>
            <a:xfrm>
              <a:off x="2926080" y="1988820"/>
              <a:ext cx="1783080" cy="1783080"/>
            </a:xfrm>
            <a:prstGeom prst="straightConnector1">
              <a:avLst/>
            </a:prstGeom>
            <a:noFill/>
            <a:ln cap="flat" cmpd="sng" w="9525">
              <a:solidFill>
                <a:srgbClr val="2A4870"/>
              </a:solidFill>
              <a:prstDash val="solid"/>
              <a:round/>
              <a:headEnd len="sm" w="sm" type="none"/>
              <a:tailEnd len="sm" w="sm" type="none"/>
            </a:ln>
          </p:spPr>
        </p:cxnSp>
        <p:cxnSp>
          <p:nvCxnSpPr>
            <p:cNvPr id="395" name="Google Shape;395;p9"/>
            <p:cNvCxnSpPr/>
            <p:nvPr/>
          </p:nvCxnSpPr>
          <p:spPr>
            <a:xfrm>
              <a:off x="3218688" y="1988820"/>
              <a:ext cx="1783080" cy="1783080"/>
            </a:xfrm>
            <a:prstGeom prst="straightConnector1">
              <a:avLst/>
            </a:prstGeom>
            <a:noFill/>
            <a:ln cap="flat" cmpd="sng" w="9525">
              <a:solidFill>
                <a:srgbClr val="2A4870"/>
              </a:solidFill>
              <a:prstDash val="solid"/>
              <a:round/>
              <a:headEnd len="sm" w="sm" type="none"/>
              <a:tailEnd len="sm" w="sm" type="none"/>
            </a:ln>
          </p:spPr>
        </p:cxnSp>
        <p:cxnSp>
          <p:nvCxnSpPr>
            <p:cNvPr id="396" name="Google Shape;396;p9"/>
            <p:cNvCxnSpPr/>
            <p:nvPr/>
          </p:nvCxnSpPr>
          <p:spPr>
            <a:xfrm>
              <a:off x="3511296" y="1988820"/>
              <a:ext cx="1783080" cy="1783080"/>
            </a:xfrm>
            <a:prstGeom prst="straightConnector1">
              <a:avLst/>
            </a:prstGeom>
            <a:noFill/>
            <a:ln cap="flat" cmpd="sng" w="9525">
              <a:solidFill>
                <a:srgbClr val="2A4870"/>
              </a:solidFill>
              <a:prstDash val="solid"/>
              <a:round/>
              <a:headEnd len="sm" w="sm" type="none"/>
              <a:tailEnd len="sm" w="sm" type="none"/>
            </a:ln>
          </p:spPr>
        </p:cxnSp>
        <p:cxnSp>
          <p:nvCxnSpPr>
            <p:cNvPr id="397" name="Google Shape;397;p9"/>
            <p:cNvCxnSpPr/>
            <p:nvPr/>
          </p:nvCxnSpPr>
          <p:spPr>
            <a:xfrm>
              <a:off x="3803904" y="1988820"/>
              <a:ext cx="1783080" cy="1783080"/>
            </a:xfrm>
            <a:prstGeom prst="straightConnector1">
              <a:avLst/>
            </a:prstGeom>
            <a:noFill/>
            <a:ln cap="flat" cmpd="sng" w="9525">
              <a:solidFill>
                <a:srgbClr val="2A4870"/>
              </a:solidFill>
              <a:prstDash val="solid"/>
              <a:round/>
              <a:headEnd len="sm" w="sm" type="none"/>
              <a:tailEnd len="sm" w="sm" type="none"/>
            </a:ln>
          </p:spPr>
        </p:cxnSp>
        <p:cxnSp>
          <p:nvCxnSpPr>
            <p:cNvPr id="398" name="Google Shape;398;p9"/>
            <p:cNvCxnSpPr/>
            <p:nvPr/>
          </p:nvCxnSpPr>
          <p:spPr>
            <a:xfrm>
              <a:off x="4096512" y="1988820"/>
              <a:ext cx="1783080" cy="1783080"/>
            </a:xfrm>
            <a:prstGeom prst="straightConnector1">
              <a:avLst/>
            </a:prstGeom>
            <a:noFill/>
            <a:ln cap="flat" cmpd="sng" w="9525">
              <a:solidFill>
                <a:srgbClr val="2A4870"/>
              </a:solidFill>
              <a:prstDash val="solid"/>
              <a:round/>
              <a:headEnd len="sm" w="sm" type="none"/>
              <a:tailEnd len="sm" w="sm" type="none"/>
            </a:ln>
          </p:spPr>
        </p:cxnSp>
        <p:cxnSp>
          <p:nvCxnSpPr>
            <p:cNvPr id="399" name="Google Shape;399;p9"/>
            <p:cNvCxnSpPr/>
            <p:nvPr/>
          </p:nvCxnSpPr>
          <p:spPr>
            <a:xfrm>
              <a:off x="4389120" y="1988820"/>
              <a:ext cx="1783080" cy="1783080"/>
            </a:xfrm>
            <a:prstGeom prst="straightConnector1">
              <a:avLst/>
            </a:prstGeom>
            <a:noFill/>
            <a:ln cap="flat" cmpd="sng" w="9525">
              <a:solidFill>
                <a:srgbClr val="2A4870"/>
              </a:solidFill>
              <a:prstDash val="solid"/>
              <a:round/>
              <a:headEnd len="sm" w="sm" type="none"/>
              <a:tailEnd len="sm" w="sm" type="none"/>
            </a:ln>
          </p:spPr>
        </p:cxnSp>
        <p:cxnSp>
          <p:nvCxnSpPr>
            <p:cNvPr id="400" name="Google Shape;400;p9"/>
            <p:cNvCxnSpPr/>
            <p:nvPr/>
          </p:nvCxnSpPr>
          <p:spPr>
            <a:xfrm>
              <a:off x="4681728" y="1988820"/>
              <a:ext cx="1783080" cy="1783080"/>
            </a:xfrm>
            <a:prstGeom prst="straightConnector1">
              <a:avLst/>
            </a:prstGeom>
            <a:noFill/>
            <a:ln cap="flat" cmpd="sng" w="9525">
              <a:solidFill>
                <a:srgbClr val="2A4870"/>
              </a:solidFill>
              <a:prstDash val="solid"/>
              <a:round/>
              <a:headEnd len="sm" w="sm" type="none"/>
              <a:tailEnd len="sm" w="sm" type="none"/>
            </a:ln>
          </p:spPr>
        </p:cxnSp>
        <p:cxnSp>
          <p:nvCxnSpPr>
            <p:cNvPr id="401" name="Google Shape;401;p9"/>
            <p:cNvCxnSpPr/>
            <p:nvPr/>
          </p:nvCxnSpPr>
          <p:spPr>
            <a:xfrm>
              <a:off x="4974336" y="1988820"/>
              <a:ext cx="1746504" cy="1746504"/>
            </a:xfrm>
            <a:prstGeom prst="straightConnector1">
              <a:avLst/>
            </a:prstGeom>
            <a:noFill/>
            <a:ln cap="flat" cmpd="sng" w="9525">
              <a:solidFill>
                <a:srgbClr val="2A4870"/>
              </a:solidFill>
              <a:prstDash val="solid"/>
              <a:round/>
              <a:headEnd len="sm" w="sm" type="none"/>
              <a:tailEnd len="sm" w="sm" type="none"/>
            </a:ln>
          </p:spPr>
        </p:cxnSp>
        <p:cxnSp>
          <p:nvCxnSpPr>
            <p:cNvPr id="402" name="Google Shape;402;p9"/>
            <p:cNvCxnSpPr/>
            <p:nvPr/>
          </p:nvCxnSpPr>
          <p:spPr>
            <a:xfrm>
              <a:off x="5266944" y="1988820"/>
              <a:ext cx="1453896" cy="1453896"/>
            </a:xfrm>
            <a:prstGeom prst="straightConnector1">
              <a:avLst/>
            </a:prstGeom>
            <a:noFill/>
            <a:ln cap="flat" cmpd="sng" w="9525">
              <a:solidFill>
                <a:srgbClr val="2A4870"/>
              </a:solidFill>
              <a:prstDash val="solid"/>
              <a:round/>
              <a:headEnd len="sm" w="sm" type="none"/>
              <a:tailEnd len="sm" w="sm" type="none"/>
            </a:ln>
          </p:spPr>
        </p:cxnSp>
        <p:cxnSp>
          <p:nvCxnSpPr>
            <p:cNvPr id="403" name="Google Shape;403;p9"/>
            <p:cNvCxnSpPr/>
            <p:nvPr/>
          </p:nvCxnSpPr>
          <p:spPr>
            <a:xfrm>
              <a:off x="5559552" y="1988820"/>
              <a:ext cx="1161288" cy="1161288"/>
            </a:xfrm>
            <a:prstGeom prst="straightConnector1">
              <a:avLst/>
            </a:prstGeom>
            <a:noFill/>
            <a:ln cap="flat" cmpd="sng" w="9525">
              <a:solidFill>
                <a:srgbClr val="2A4870"/>
              </a:solidFill>
              <a:prstDash val="solid"/>
              <a:round/>
              <a:headEnd len="sm" w="sm" type="none"/>
              <a:tailEnd len="sm" w="sm" type="none"/>
            </a:ln>
          </p:spPr>
        </p:cxnSp>
        <p:cxnSp>
          <p:nvCxnSpPr>
            <p:cNvPr id="404" name="Google Shape;404;p9"/>
            <p:cNvCxnSpPr/>
            <p:nvPr/>
          </p:nvCxnSpPr>
          <p:spPr>
            <a:xfrm>
              <a:off x="5852160" y="1988820"/>
              <a:ext cx="868680" cy="868680"/>
            </a:xfrm>
            <a:prstGeom prst="straightConnector1">
              <a:avLst/>
            </a:prstGeom>
            <a:noFill/>
            <a:ln cap="flat" cmpd="sng" w="9525">
              <a:solidFill>
                <a:srgbClr val="2A4870"/>
              </a:solidFill>
              <a:prstDash val="solid"/>
              <a:round/>
              <a:headEnd len="sm" w="sm" type="none"/>
              <a:tailEnd len="sm" w="sm" type="none"/>
            </a:ln>
          </p:spPr>
        </p:cxnSp>
        <p:cxnSp>
          <p:nvCxnSpPr>
            <p:cNvPr id="405" name="Google Shape;405;p9"/>
            <p:cNvCxnSpPr/>
            <p:nvPr/>
          </p:nvCxnSpPr>
          <p:spPr>
            <a:xfrm>
              <a:off x="6144768" y="1988820"/>
              <a:ext cx="576072" cy="576072"/>
            </a:xfrm>
            <a:prstGeom prst="straightConnector1">
              <a:avLst/>
            </a:prstGeom>
            <a:noFill/>
            <a:ln cap="flat" cmpd="sng" w="9525">
              <a:solidFill>
                <a:srgbClr val="2A4870"/>
              </a:solidFill>
              <a:prstDash val="solid"/>
              <a:round/>
              <a:headEnd len="sm" w="sm" type="none"/>
              <a:tailEnd len="sm" w="sm" type="none"/>
            </a:ln>
          </p:spPr>
        </p:cxnSp>
        <p:cxnSp>
          <p:nvCxnSpPr>
            <p:cNvPr id="406" name="Google Shape;406;p9"/>
            <p:cNvCxnSpPr/>
            <p:nvPr/>
          </p:nvCxnSpPr>
          <p:spPr>
            <a:xfrm>
              <a:off x="6437376" y="1988820"/>
              <a:ext cx="283464" cy="283464"/>
            </a:xfrm>
            <a:prstGeom prst="straightConnector1">
              <a:avLst/>
            </a:prstGeom>
            <a:noFill/>
            <a:ln cap="flat" cmpd="sng" w="9525">
              <a:solidFill>
                <a:srgbClr val="2A4870"/>
              </a:solidFill>
              <a:prstDash val="solid"/>
              <a:round/>
              <a:headEnd len="sm" w="sm" type="none"/>
              <a:tailEnd len="sm" w="sm" type="none"/>
            </a:ln>
          </p:spPr>
        </p:cxnSp>
        <p:sp>
          <p:nvSpPr>
            <p:cNvPr id="407" name="Google Shape;407;p9"/>
            <p:cNvSpPr/>
            <p:nvPr/>
          </p:nvSpPr>
          <p:spPr>
            <a:xfrm>
              <a:off x="1965960" y="2153412"/>
              <a:ext cx="1417320" cy="365760"/>
            </a:xfrm>
            <a:prstGeom prst="rect">
              <a:avLst/>
            </a:prstGeom>
            <a:solidFill>
              <a:srgbClr val="C8553D"/>
            </a:solidFill>
            <a:ln cap="flat" cmpd="sng" w="12700">
              <a:solidFill>
                <a:srgbClr val="C855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08" name="Google Shape;408;p9"/>
            <p:cNvPicPr preferRelativeResize="0"/>
            <p:nvPr/>
          </p:nvPicPr>
          <p:blipFill rotWithShape="1">
            <a:blip r:embed="rId3">
              <a:alphaModFix/>
            </a:blip>
            <a:srcRect b="0" l="0" r="0" t="0"/>
            <a:stretch/>
          </p:blipFill>
          <p:spPr>
            <a:xfrm>
              <a:off x="2057400" y="2235708"/>
              <a:ext cx="201168" cy="201168"/>
            </a:xfrm>
            <a:prstGeom prst="rect">
              <a:avLst/>
            </a:prstGeom>
            <a:noFill/>
            <a:ln>
              <a:noFill/>
            </a:ln>
          </p:spPr>
        </p:pic>
        <p:sp>
          <p:nvSpPr>
            <p:cNvPr id="409" name="Google Shape;409;p9"/>
            <p:cNvSpPr/>
            <p:nvPr/>
          </p:nvSpPr>
          <p:spPr>
            <a:xfrm>
              <a:off x="2286000" y="2171700"/>
              <a:ext cx="1097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FROZEN</a:t>
              </a:r>
              <a:endParaRPr sz="1100">
                <a:solidFill>
                  <a:schemeClr val="dk1"/>
                </a:solidFill>
                <a:latin typeface="Calibri"/>
                <a:ea typeface="Calibri"/>
                <a:cs typeface="Calibri"/>
                <a:sym typeface="Calibri"/>
              </a:endParaRPr>
            </a:p>
          </p:txBody>
        </p:sp>
        <p:sp>
          <p:nvSpPr>
            <p:cNvPr id="410" name="Google Shape;410;p9"/>
            <p:cNvSpPr/>
            <p:nvPr/>
          </p:nvSpPr>
          <p:spPr>
            <a:xfrm>
              <a:off x="1783080" y="2628900"/>
              <a:ext cx="49377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lang="en-US" sz="2200">
                  <a:solidFill>
                    <a:srgbClr val="FFFFFF"/>
                  </a:solidFill>
                  <a:latin typeface="Arial"/>
                  <a:ea typeface="Arial"/>
                  <a:cs typeface="Arial"/>
                  <a:sym typeface="Arial"/>
                </a:rPr>
                <a:t>MobileNetV2</a:t>
              </a:r>
              <a:endParaRPr sz="2200">
                <a:solidFill>
                  <a:schemeClr val="dk1"/>
                </a:solidFill>
                <a:latin typeface="Calibri"/>
                <a:ea typeface="Calibri"/>
                <a:cs typeface="Calibri"/>
                <a:sym typeface="Calibri"/>
              </a:endParaRPr>
            </a:p>
          </p:txBody>
        </p:sp>
        <p:sp>
          <p:nvSpPr>
            <p:cNvPr id="411" name="Google Shape;411;p9"/>
            <p:cNvSpPr/>
            <p:nvPr/>
          </p:nvSpPr>
          <p:spPr>
            <a:xfrm>
              <a:off x="1783080" y="2994660"/>
              <a:ext cx="49377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Arial"/>
                <a:buNone/>
              </a:pPr>
              <a:r>
                <a:rPr i="1" lang="en-US" sz="1100">
                  <a:solidFill>
                    <a:srgbClr val="CADCFC"/>
                  </a:solidFill>
                  <a:latin typeface="Arial"/>
                  <a:ea typeface="Arial"/>
                  <a:cs typeface="Arial"/>
                  <a:sym typeface="Arial"/>
                </a:rPr>
                <a:t>Pretrained on ImageNet  ·  Feature extractor</a:t>
              </a:r>
              <a:endParaRPr sz="1100">
                <a:solidFill>
                  <a:schemeClr val="dk1"/>
                </a:solidFill>
                <a:latin typeface="Calibri"/>
                <a:ea typeface="Calibri"/>
                <a:cs typeface="Calibri"/>
                <a:sym typeface="Calibri"/>
              </a:endParaRPr>
            </a:p>
          </p:txBody>
        </p:sp>
        <p:sp>
          <p:nvSpPr>
            <p:cNvPr id="412" name="Google Shape;412;p9"/>
            <p:cNvSpPr/>
            <p:nvPr/>
          </p:nvSpPr>
          <p:spPr>
            <a:xfrm>
              <a:off x="1783080" y="3314700"/>
              <a:ext cx="49377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553D"/>
                </a:buClr>
                <a:buSzPts val="1000"/>
                <a:buFont typeface="Arial"/>
                <a:buNone/>
              </a:pPr>
              <a:r>
                <a:rPr b="1" lang="en-US" sz="1000">
                  <a:solidFill>
                    <a:srgbClr val="C8553D"/>
                  </a:solidFill>
                  <a:latin typeface="Arial"/>
                  <a:ea typeface="Arial"/>
                  <a:cs typeface="Arial"/>
                  <a:sym typeface="Arial"/>
                </a:rPr>
                <a:t>~2.34M parameters  ·  not trained</a:t>
              </a:r>
              <a:endParaRPr sz="1000">
                <a:solidFill>
                  <a:schemeClr val="dk1"/>
                </a:solidFill>
                <a:latin typeface="Calibri"/>
                <a:ea typeface="Calibri"/>
                <a:cs typeface="Calibri"/>
                <a:sym typeface="Calibri"/>
              </a:endParaRPr>
            </a:p>
          </p:txBody>
        </p:sp>
        <p:cxnSp>
          <p:nvCxnSpPr>
            <p:cNvPr id="413" name="Google Shape;413;p9"/>
            <p:cNvCxnSpPr/>
            <p:nvPr/>
          </p:nvCxnSpPr>
          <p:spPr>
            <a:xfrm>
              <a:off x="6766560" y="2903220"/>
              <a:ext cx="274320" cy="0"/>
            </a:xfrm>
            <a:prstGeom prst="straightConnector1">
              <a:avLst/>
            </a:prstGeom>
            <a:noFill/>
            <a:ln cap="flat" cmpd="sng" w="12700">
              <a:solidFill>
                <a:srgbClr val="B8C5D6"/>
              </a:solidFill>
              <a:prstDash val="solid"/>
              <a:round/>
              <a:headEnd len="sm" w="sm" type="none"/>
              <a:tailEnd len="med" w="med" type="triangle"/>
            </a:ln>
          </p:spPr>
        </p:cxnSp>
        <p:sp>
          <p:nvSpPr>
            <p:cNvPr id="414" name="Google Shape;414;p9"/>
            <p:cNvSpPr/>
            <p:nvPr/>
          </p:nvSpPr>
          <p:spPr>
            <a:xfrm>
              <a:off x="6995160" y="1988820"/>
              <a:ext cx="2971800" cy="1783080"/>
            </a:xfrm>
            <a:prstGeom prst="rect">
              <a:avLst/>
            </a:prstGeom>
            <a:solidFill>
              <a:srgbClr val="152540"/>
            </a:solidFill>
            <a:ln cap="flat" cmpd="sng" w="1905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9"/>
            <p:cNvSpPr/>
            <p:nvPr/>
          </p:nvSpPr>
          <p:spPr>
            <a:xfrm>
              <a:off x="7178040" y="2153412"/>
              <a:ext cx="1691640" cy="36576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16" name="Google Shape;416;p9"/>
            <p:cNvPicPr preferRelativeResize="0"/>
            <p:nvPr/>
          </p:nvPicPr>
          <p:blipFill rotWithShape="1">
            <a:blip r:embed="rId4">
              <a:alphaModFix/>
            </a:blip>
            <a:srcRect b="0" l="0" r="0" t="0"/>
            <a:stretch/>
          </p:blipFill>
          <p:spPr>
            <a:xfrm>
              <a:off x="7269480" y="2235708"/>
              <a:ext cx="201168" cy="201168"/>
            </a:xfrm>
            <a:prstGeom prst="rect">
              <a:avLst/>
            </a:prstGeom>
            <a:noFill/>
            <a:ln>
              <a:noFill/>
            </a:ln>
          </p:spPr>
        </p:pic>
        <p:sp>
          <p:nvSpPr>
            <p:cNvPr id="417" name="Google Shape;417;p9"/>
            <p:cNvSpPr/>
            <p:nvPr/>
          </p:nvSpPr>
          <p:spPr>
            <a:xfrm>
              <a:off x="7525512" y="2171700"/>
              <a:ext cx="1325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Arial"/>
                <a:buNone/>
              </a:pPr>
              <a:r>
                <a:rPr b="1" lang="en-US" sz="1050">
                  <a:solidFill>
                    <a:srgbClr val="FFFFFF"/>
                  </a:solidFill>
                  <a:latin typeface="Arial"/>
                  <a:ea typeface="Arial"/>
                  <a:cs typeface="Arial"/>
                  <a:sym typeface="Arial"/>
                </a:rPr>
                <a:t>TRAINABLE</a:t>
              </a:r>
              <a:endParaRPr sz="1050">
                <a:solidFill>
                  <a:schemeClr val="dk1"/>
                </a:solidFill>
                <a:latin typeface="Calibri"/>
                <a:ea typeface="Calibri"/>
                <a:cs typeface="Calibri"/>
                <a:sym typeface="Calibri"/>
              </a:endParaRPr>
            </a:p>
          </p:txBody>
        </p:sp>
        <p:sp>
          <p:nvSpPr>
            <p:cNvPr id="418" name="Google Shape;418;p9"/>
            <p:cNvSpPr/>
            <p:nvPr/>
          </p:nvSpPr>
          <p:spPr>
            <a:xfrm>
              <a:off x="7132320" y="2674620"/>
              <a:ext cx="838200" cy="502920"/>
            </a:xfrm>
            <a:prstGeom prst="roundRect">
              <a:avLst>
                <a:gd fmla="val 14545" name="adj"/>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9"/>
            <p:cNvSpPr/>
            <p:nvPr/>
          </p:nvSpPr>
          <p:spPr>
            <a:xfrm>
              <a:off x="7132320" y="2674620"/>
              <a:ext cx="8382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GAP</a:t>
              </a:r>
              <a:endParaRPr sz="1000">
                <a:solidFill>
                  <a:schemeClr val="dk1"/>
                </a:solidFill>
                <a:latin typeface="Calibri"/>
                <a:ea typeface="Calibri"/>
                <a:cs typeface="Calibri"/>
                <a:sym typeface="Calibri"/>
              </a:endParaRPr>
            </a:p>
          </p:txBody>
        </p:sp>
        <p:sp>
          <p:nvSpPr>
            <p:cNvPr id="420" name="Google Shape;420;p9"/>
            <p:cNvSpPr/>
            <p:nvPr/>
          </p:nvSpPr>
          <p:spPr>
            <a:xfrm>
              <a:off x="8061960" y="2674620"/>
              <a:ext cx="838200" cy="502920"/>
            </a:xfrm>
            <a:prstGeom prst="roundRect">
              <a:avLst>
                <a:gd fmla="val 14545" name="adj"/>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9"/>
            <p:cNvSpPr/>
            <p:nvPr/>
          </p:nvSpPr>
          <p:spPr>
            <a:xfrm>
              <a:off x="8061960" y="2674620"/>
              <a:ext cx="8382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Dense</a:t>
              </a:r>
              <a:endParaRPr sz="1000">
                <a:solidFill>
                  <a:schemeClr val="dk1"/>
                </a:solidFill>
                <a:latin typeface="Calibri"/>
                <a:ea typeface="Calibri"/>
                <a:cs typeface="Calibri"/>
                <a:sym typeface="Calibri"/>
              </a:endParaRPr>
            </a:p>
          </p:txBody>
        </p:sp>
        <p:sp>
          <p:nvSpPr>
            <p:cNvPr id="422" name="Google Shape;422;p9"/>
            <p:cNvSpPr/>
            <p:nvPr/>
          </p:nvSpPr>
          <p:spPr>
            <a:xfrm>
              <a:off x="8991600" y="2674620"/>
              <a:ext cx="838200" cy="502920"/>
            </a:xfrm>
            <a:prstGeom prst="roundRect">
              <a:avLst>
                <a:gd fmla="val 14545" name="adj"/>
              </a:avLst>
            </a:prstGeom>
            <a:solidFill>
              <a:srgbClr val="C8553D"/>
            </a:solidFill>
            <a:ln cap="flat" cmpd="sng" w="12700">
              <a:solidFill>
                <a:srgbClr val="C855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9"/>
            <p:cNvSpPr/>
            <p:nvPr/>
          </p:nvSpPr>
          <p:spPr>
            <a:xfrm>
              <a:off x="8991600" y="2674620"/>
              <a:ext cx="8382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Sigmoid</a:t>
              </a:r>
              <a:endParaRPr sz="1000">
                <a:solidFill>
                  <a:schemeClr val="dk1"/>
                </a:solidFill>
                <a:latin typeface="Calibri"/>
                <a:ea typeface="Calibri"/>
                <a:cs typeface="Calibri"/>
                <a:sym typeface="Calibri"/>
              </a:endParaRPr>
            </a:p>
          </p:txBody>
        </p:sp>
        <p:sp>
          <p:nvSpPr>
            <p:cNvPr id="424" name="Google Shape;424;p9"/>
            <p:cNvSpPr/>
            <p:nvPr/>
          </p:nvSpPr>
          <p:spPr>
            <a:xfrm>
              <a:off x="6995160" y="3314700"/>
              <a:ext cx="29718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9573"/>
                </a:buClr>
                <a:buSzPts val="1000"/>
                <a:buFont typeface="Arial"/>
                <a:buNone/>
              </a:pPr>
              <a:r>
                <a:rPr b="1" lang="en-US" sz="1000">
                  <a:solidFill>
                    <a:srgbClr val="5B9573"/>
                  </a:solidFill>
                  <a:latin typeface="Arial"/>
                  <a:ea typeface="Arial"/>
                  <a:cs typeface="Arial"/>
                  <a:sym typeface="Arial"/>
                </a:rPr>
                <a:t>~82K parameters  ·  the only thing that learns</a:t>
              </a:r>
              <a:endParaRPr sz="1000">
                <a:solidFill>
                  <a:schemeClr val="dk1"/>
                </a:solidFill>
                <a:latin typeface="Calibri"/>
                <a:ea typeface="Calibri"/>
                <a:cs typeface="Calibri"/>
                <a:sym typeface="Calibri"/>
              </a:endParaRPr>
            </a:p>
          </p:txBody>
        </p:sp>
        <p:cxnSp>
          <p:nvCxnSpPr>
            <p:cNvPr id="425" name="Google Shape;425;p9"/>
            <p:cNvCxnSpPr/>
            <p:nvPr/>
          </p:nvCxnSpPr>
          <p:spPr>
            <a:xfrm>
              <a:off x="10012680" y="2903220"/>
              <a:ext cx="274320" cy="0"/>
            </a:xfrm>
            <a:prstGeom prst="straightConnector1">
              <a:avLst/>
            </a:prstGeom>
            <a:noFill/>
            <a:ln cap="flat" cmpd="sng" w="12700">
              <a:solidFill>
                <a:srgbClr val="B8C5D6"/>
              </a:solidFill>
              <a:prstDash val="solid"/>
              <a:round/>
              <a:headEnd len="sm" w="sm" type="none"/>
              <a:tailEnd len="med" w="med" type="triangle"/>
            </a:ln>
          </p:spPr>
        </p:cxnSp>
        <p:sp>
          <p:nvSpPr>
            <p:cNvPr id="426" name="Google Shape;426;p9"/>
            <p:cNvSpPr/>
            <p:nvPr/>
          </p:nvSpPr>
          <p:spPr>
            <a:xfrm>
              <a:off x="10104120" y="2702052"/>
              <a:ext cx="402336" cy="402336"/>
            </a:xfrm>
            <a:prstGeom prst="roundRect">
              <a:avLst>
                <a:gd fmla="val 50000" name="adj"/>
              </a:avLst>
            </a:prstGeom>
            <a:solidFill>
              <a:srgbClr val="C8553D"/>
            </a:solidFill>
            <a:ln cap="flat" cmpd="sng" w="12700">
              <a:solidFill>
                <a:srgbClr val="C8553D"/>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9"/>
            <p:cNvSpPr/>
            <p:nvPr/>
          </p:nvSpPr>
          <p:spPr>
            <a:xfrm>
              <a:off x="10104120" y="270205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1" lang="en-US" sz="1800">
                  <a:solidFill>
                    <a:srgbClr val="FFFFFF"/>
                  </a:solidFill>
                  <a:latin typeface="Arial"/>
                  <a:ea typeface="Arial"/>
                  <a:cs typeface="Arial"/>
                  <a:sym typeface="Arial"/>
                </a:rPr>
                <a:t>σ</a:t>
              </a:r>
              <a:endParaRPr sz="1800">
                <a:solidFill>
                  <a:schemeClr val="dk1"/>
                </a:solidFill>
                <a:latin typeface="Calibri"/>
                <a:ea typeface="Calibri"/>
                <a:cs typeface="Calibri"/>
                <a:sym typeface="Calibri"/>
              </a:endParaRPr>
            </a:p>
          </p:txBody>
        </p:sp>
        <p:sp>
          <p:nvSpPr>
            <p:cNvPr id="428" name="Google Shape;428;p9"/>
            <p:cNvSpPr/>
            <p:nvPr/>
          </p:nvSpPr>
          <p:spPr>
            <a:xfrm>
              <a:off x="9738360" y="3177540"/>
              <a:ext cx="109728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553D"/>
                </a:buClr>
                <a:buSzPts val="900"/>
                <a:buFont typeface="Arial"/>
                <a:buNone/>
              </a:pPr>
              <a:r>
                <a:rPr b="1" lang="en-US" sz="900">
                  <a:solidFill>
                    <a:srgbClr val="C8553D"/>
                  </a:solidFill>
                  <a:latin typeface="Arial"/>
                  <a:ea typeface="Arial"/>
                  <a:cs typeface="Arial"/>
                  <a:sym typeface="Arial"/>
                </a:rPr>
                <a:t>P(built)</a:t>
              </a:r>
              <a:endParaRPr sz="900">
                <a:solidFill>
                  <a:schemeClr val="dk1"/>
                </a:solidFill>
                <a:latin typeface="Calibri"/>
                <a:ea typeface="Calibri"/>
                <a:cs typeface="Calibri"/>
                <a:sym typeface="Calibri"/>
              </a:endParaRPr>
            </a:p>
          </p:txBody>
        </p:sp>
      </p:grpSp>
      <p:sp>
        <p:nvSpPr>
          <p:cNvPr id="429" name="Google Shape;429;p9"/>
          <p:cNvSpPr/>
          <p:nvPr/>
        </p:nvSpPr>
        <p:spPr>
          <a:xfrm>
            <a:off x="457200" y="3703898"/>
            <a:ext cx="112471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Trainable share:  </a:t>
            </a:r>
            <a:r>
              <a:rPr lang="en-US" sz="1100">
                <a:solidFill>
                  <a:srgbClr val="B8C5D6"/>
                </a:solidFill>
                <a:latin typeface="Arial"/>
                <a:ea typeface="Arial"/>
                <a:cs typeface="Arial"/>
                <a:sym typeface="Arial"/>
              </a:rPr>
              <a:t>82,049 / 2,340,033  ≈  </a:t>
            </a:r>
            <a:r>
              <a:rPr b="1" lang="en-US" sz="1100">
                <a:solidFill>
                  <a:srgbClr val="5B9573"/>
                </a:solidFill>
                <a:latin typeface="Arial"/>
                <a:ea typeface="Arial"/>
                <a:cs typeface="Arial"/>
                <a:sym typeface="Arial"/>
              </a:rPr>
              <a:t>3.5%</a:t>
            </a:r>
            <a:r>
              <a:rPr lang="en-US" sz="1100">
                <a:solidFill>
                  <a:srgbClr val="B8C5D6"/>
                </a:solidFill>
                <a:latin typeface="Arial"/>
                <a:ea typeface="Arial"/>
                <a:cs typeface="Arial"/>
                <a:sym typeface="Arial"/>
              </a:rPr>
              <a:t>  of total parameters</a:t>
            </a:r>
            <a:endParaRPr sz="1100">
              <a:solidFill>
                <a:schemeClr val="dk1"/>
              </a:solidFill>
              <a:latin typeface="Calibri"/>
              <a:ea typeface="Calibri"/>
              <a:cs typeface="Calibri"/>
              <a:sym typeface="Calibri"/>
            </a:endParaRPr>
          </a:p>
        </p:txBody>
      </p:sp>
      <p:sp>
        <p:nvSpPr>
          <p:cNvPr id="430" name="Google Shape;430;p9"/>
          <p:cNvSpPr/>
          <p:nvPr/>
        </p:nvSpPr>
        <p:spPr>
          <a:xfrm>
            <a:off x="457200" y="4147128"/>
            <a:ext cx="11247120" cy="210312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9"/>
          <p:cNvSpPr/>
          <p:nvPr/>
        </p:nvSpPr>
        <p:spPr>
          <a:xfrm>
            <a:off x="457200" y="4147128"/>
            <a:ext cx="11247120" cy="45720"/>
          </a:xfrm>
          <a:prstGeom prst="rect">
            <a:avLst/>
          </a:prstGeom>
          <a:solidFill>
            <a:srgbClr val="C8553D"/>
          </a:solidFill>
          <a:ln cap="flat" cmpd="sng" w="12700">
            <a:solidFill>
              <a:srgbClr val="C855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9"/>
          <p:cNvSpPr/>
          <p:nvPr/>
        </p:nvSpPr>
        <p:spPr>
          <a:xfrm>
            <a:off x="731520" y="4284288"/>
            <a:ext cx="10698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Hyperparameters &amp; training setup (both models)</a:t>
            </a:r>
            <a:endParaRPr sz="1400">
              <a:solidFill>
                <a:schemeClr val="dk1"/>
              </a:solidFill>
              <a:latin typeface="Calibri"/>
              <a:ea typeface="Calibri"/>
              <a:cs typeface="Calibri"/>
              <a:sym typeface="Calibri"/>
            </a:endParaRPr>
          </a:p>
        </p:txBody>
      </p:sp>
      <p:sp>
        <p:nvSpPr>
          <p:cNvPr id="433" name="Google Shape;433;p9"/>
          <p:cNvSpPr/>
          <p:nvPr/>
        </p:nvSpPr>
        <p:spPr>
          <a:xfrm>
            <a:off x="731520" y="4741488"/>
            <a:ext cx="24917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900"/>
              <a:buFont typeface="Arial"/>
              <a:buNone/>
            </a:pPr>
            <a:r>
              <a:rPr b="1" lang="en-US" sz="900">
                <a:solidFill>
                  <a:srgbClr val="C8553D"/>
                </a:solidFill>
                <a:latin typeface="Arial"/>
                <a:ea typeface="Arial"/>
                <a:cs typeface="Arial"/>
                <a:sym typeface="Arial"/>
              </a:rPr>
              <a:t>OPTIMIZER</a:t>
            </a:r>
            <a:endParaRPr sz="900">
              <a:solidFill>
                <a:schemeClr val="dk1"/>
              </a:solidFill>
              <a:latin typeface="Calibri"/>
              <a:ea typeface="Calibri"/>
              <a:cs typeface="Calibri"/>
              <a:sym typeface="Calibri"/>
            </a:endParaRPr>
          </a:p>
        </p:txBody>
      </p:sp>
      <p:sp>
        <p:nvSpPr>
          <p:cNvPr id="434" name="Google Shape;434;p9"/>
          <p:cNvSpPr/>
          <p:nvPr/>
        </p:nvSpPr>
        <p:spPr>
          <a:xfrm>
            <a:off x="731520" y="4970088"/>
            <a:ext cx="24917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Adam, lr = 1e-3</a:t>
            </a:r>
            <a:endParaRPr sz="1150">
              <a:solidFill>
                <a:schemeClr val="dk1"/>
              </a:solidFill>
              <a:latin typeface="Calibri"/>
              <a:ea typeface="Calibri"/>
              <a:cs typeface="Calibri"/>
              <a:sym typeface="Calibri"/>
            </a:endParaRPr>
          </a:p>
        </p:txBody>
      </p:sp>
      <p:sp>
        <p:nvSpPr>
          <p:cNvPr id="435" name="Google Shape;435;p9"/>
          <p:cNvSpPr/>
          <p:nvPr/>
        </p:nvSpPr>
        <p:spPr>
          <a:xfrm>
            <a:off x="3406140" y="4741488"/>
            <a:ext cx="24917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900"/>
              <a:buFont typeface="Arial"/>
              <a:buNone/>
            </a:pPr>
            <a:r>
              <a:rPr b="1" lang="en-US" sz="900">
                <a:solidFill>
                  <a:srgbClr val="C8553D"/>
                </a:solidFill>
                <a:latin typeface="Arial"/>
                <a:ea typeface="Arial"/>
                <a:cs typeface="Arial"/>
                <a:sym typeface="Arial"/>
              </a:rPr>
              <a:t>BATCH SIZE</a:t>
            </a:r>
            <a:endParaRPr sz="900">
              <a:solidFill>
                <a:schemeClr val="dk1"/>
              </a:solidFill>
              <a:latin typeface="Calibri"/>
              <a:ea typeface="Calibri"/>
              <a:cs typeface="Calibri"/>
              <a:sym typeface="Calibri"/>
            </a:endParaRPr>
          </a:p>
        </p:txBody>
      </p:sp>
      <p:sp>
        <p:nvSpPr>
          <p:cNvPr id="436" name="Google Shape;436;p9"/>
          <p:cNvSpPr/>
          <p:nvPr/>
        </p:nvSpPr>
        <p:spPr>
          <a:xfrm>
            <a:off x="3406140" y="4970088"/>
            <a:ext cx="24917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32</a:t>
            </a:r>
            <a:endParaRPr sz="1150">
              <a:solidFill>
                <a:schemeClr val="dk1"/>
              </a:solidFill>
              <a:latin typeface="Calibri"/>
              <a:ea typeface="Calibri"/>
              <a:cs typeface="Calibri"/>
              <a:sym typeface="Calibri"/>
            </a:endParaRPr>
          </a:p>
        </p:txBody>
      </p:sp>
      <p:sp>
        <p:nvSpPr>
          <p:cNvPr id="437" name="Google Shape;437;p9"/>
          <p:cNvSpPr/>
          <p:nvPr/>
        </p:nvSpPr>
        <p:spPr>
          <a:xfrm>
            <a:off x="6080760" y="4741488"/>
            <a:ext cx="24917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900"/>
              <a:buFont typeface="Arial"/>
              <a:buNone/>
            </a:pPr>
            <a:r>
              <a:rPr b="1" lang="en-US" sz="900">
                <a:solidFill>
                  <a:srgbClr val="C8553D"/>
                </a:solidFill>
                <a:latin typeface="Arial"/>
                <a:ea typeface="Arial"/>
                <a:cs typeface="Arial"/>
                <a:sym typeface="Arial"/>
              </a:rPr>
              <a:t>EPOCHS</a:t>
            </a:r>
            <a:endParaRPr sz="900">
              <a:solidFill>
                <a:schemeClr val="dk1"/>
              </a:solidFill>
              <a:latin typeface="Calibri"/>
              <a:ea typeface="Calibri"/>
              <a:cs typeface="Calibri"/>
              <a:sym typeface="Calibri"/>
            </a:endParaRPr>
          </a:p>
        </p:txBody>
      </p:sp>
      <p:sp>
        <p:nvSpPr>
          <p:cNvPr id="438" name="Google Shape;438;p9"/>
          <p:cNvSpPr/>
          <p:nvPr/>
        </p:nvSpPr>
        <p:spPr>
          <a:xfrm>
            <a:off x="6080760" y="4970088"/>
            <a:ext cx="24917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30 (baseline) / 15 (MobileNet)</a:t>
            </a:r>
            <a:endParaRPr sz="1150">
              <a:solidFill>
                <a:schemeClr val="dk1"/>
              </a:solidFill>
              <a:latin typeface="Calibri"/>
              <a:ea typeface="Calibri"/>
              <a:cs typeface="Calibri"/>
              <a:sym typeface="Calibri"/>
            </a:endParaRPr>
          </a:p>
        </p:txBody>
      </p:sp>
      <p:sp>
        <p:nvSpPr>
          <p:cNvPr id="439" name="Google Shape;439;p9"/>
          <p:cNvSpPr/>
          <p:nvPr/>
        </p:nvSpPr>
        <p:spPr>
          <a:xfrm>
            <a:off x="8755380" y="4741488"/>
            <a:ext cx="24917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900"/>
              <a:buFont typeface="Arial"/>
              <a:buNone/>
            </a:pPr>
            <a:r>
              <a:rPr b="1" lang="en-US" sz="900">
                <a:solidFill>
                  <a:srgbClr val="C8553D"/>
                </a:solidFill>
                <a:latin typeface="Arial"/>
                <a:ea typeface="Arial"/>
                <a:cs typeface="Arial"/>
                <a:sym typeface="Arial"/>
              </a:rPr>
              <a:t>CALLBACKS</a:t>
            </a:r>
            <a:endParaRPr sz="900">
              <a:solidFill>
                <a:schemeClr val="dk1"/>
              </a:solidFill>
              <a:latin typeface="Calibri"/>
              <a:ea typeface="Calibri"/>
              <a:cs typeface="Calibri"/>
              <a:sym typeface="Calibri"/>
            </a:endParaRPr>
          </a:p>
        </p:txBody>
      </p:sp>
      <p:sp>
        <p:nvSpPr>
          <p:cNvPr id="440" name="Google Shape;440;p9"/>
          <p:cNvSpPr/>
          <p:nvPr/>
        </p:nvSpPr>
        <p:spPr>
          <a:xfrm>
            <a:off x="8755380" y="4970088"/>
            <a:ext cx="24917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EarlyStopping &amp; ModelCheckpoint on val_auc (patience 5)</a:t>
            </a:r>
            <a:endParaRPr sz="1150">
              <a:solidFill>
                <a:schemeClr val="dk1"/>
              </a:solidFill>
              <a:latin typeface="Calibri"/>
              <a:ea typeface="Calibri"/>
              <a:cs typeface="Calibri"/>
              <a:sym typeface="Calibri"/>
            </a:endParaRPr>
          </a:p>
        </p:txBody>
      </p:sp>
      <p:sp>
        <p:nvSpPr>
          <p:cNvPr id="441" name="Google Shape;441;p9"/>
          <p:cNvSpPr/>
          <p:nvPr/>
        </p:nvSpPr>
        <p:spPr>
          <a:xfrm>
            <a:off x="731520" y="5454720"/>
            <a:ext cx="24917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900"/>
              <a:buFont typeface="Arial"/>
              <a:buNone/>
            </a:pPr>
            <a:r>
              <a:rPr b="1" lang="en-US" sz="900">
                <a:solidFill>
                  <a:srgbClr val="C8553D"/>
                </a:solidFill>
                <a:latin typeface="Arial"/>
                <a:ea typeface="Arial"/>
                <a:cs typeface="Arial"/>
                <a:sym typeface="Arial"/>
              </a:rPr>
              <a:t>CLASS WEIGHTING</a:t>
            </a:r>
            <a:endParaRPr sz="900">
              <a:solidFill>
                <a:schemeClr val="dk1"/>
              </a:solidFill>
              <a:latin typeface="Calibri"/>
              <a:ea typeface="Calibri"/>
              <a:cs typeface="Calibri"/>
              <a:sym typeface="Calibri"/>
            </a:endParaRPr>
          </a:p>
        </p:txBody>
      </p:sp>
      <p:sp>
        <p:nvSpPr>
          <p:cNvPr id="442" name="Google Shape;442;p9"/>
          <p:cNvSpPr/>
          <p:nvPr/>
        </p:nvSpPr>
        <p:spPr>
          <a:xfrm>
            <a:off x="731520" y="5683320"/>
            <a:ext cx="24917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~1.0 / ~1.0  ·  sample is balanced 50/50</a:t>
            </a:r>
            <a:endParaRPr sz="1150">
              <a:solidFill>
                <a:schemeClr val="dk1"/>
              </a:solidFill>
              <a:latin typeface="Calibri"/>
              <a:ea typeface="Calibri"/>
              <a:cs typeface="Calibri"/>
              <a:sym typeface="Calibri"/>
            </a:endParaRPr>
          </a:p>
        </p:txBody>
      </p:sp>
      <p:sp>
        <p:nvSpPr>
          <p:cNvPr id="443" name="Google Shape;443;p9"/>
          <p:cNvSpPr/>
          <p:nvPr/>
        </p:nvSpPr>
        <p:spPr>
          <a:xfrm>
            <a:off x="3406140" y="5454720"/>
            <a:ext cx="24917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900"/>
              <a:buFont typeface="Arial"/>
              <a:buNone/>
            </a:pPr>
            <a:r>
              <a:rPr b="1" lang="en-US" sz="900">
                <a:solidFill>
                  <a:srgbClr val="C8553D"/>
                </a:solidFill>
                <a:latin typeface="Arial"/>
                <a:ea typeface="Arial"/>
                <a:cs typeface="Arial"/>
                <a:sym typeface="Arial"/>
              </a:rPr>
              <a:t>TRAIN / VAL / TEST SPLIT</a:t>
            </a:r>
            <a:endParaRPr sz="900">
              <a:solidFill>
                <a:schemeClr val="dk1"/>
              </a:solidFill>
              <a:latin typeface="Calibri"/>
              <a:ea typeface="Calibri"/>
              <a:cs typeface="Calibri"/>
              <a:sym typeface="Calibri"/>
            </a:endParaRPr>
          </a:p>
        </p:txBody>
      </p:sp>
      <p:sp>
        <p:nvSpPr>
          <p:cNvPr id="444" name="Google Shape;444;p9"/>
          <p:cNvSpPr/>
          <p:nvPr/>
        </p:nvSpPr>
        <p:spPr>
          <a:xfrm>
            <a:off x="3406140" y="5683320"/>
            <a:ext cx="24917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70 / 15 / 15  ·  stratified, fixed seed</a:t>
            </a:r>
            <a:endParaRPr sz="1150">
              <a:solidFill>
                <a:schemeClr val="dk1"/>
              </a:solidFill>
              <a:latin typeface="Calibri"/>
              <a:ea typeface="Calibri"/>
              <a:cs typeface="Calibri"/>
              <a:sym typeface="Calibri"/>
            </a:endParaRPr>
          </a:p>
        </p:txBody>
      </p:sp>
      <p:sp>
        <p:nvSpPr>
          <p:cNvPr id="445" name="Google Shape;445;p9"/>
          <p:cNvSpPr/>
          <p:nvPr/>
        </p:nvSpPr>
        <p:spPr>
          <a:xfrm>
            <a:off x="6080760" y="5454720"/>
            <a:ext cx="24917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900"/>
              <a:buFont typeface="Arial"/>
              <a:buNone/>
            </a:pPr>
            <a:r>
              <a:rPr b="1" lang="en-US" sz="900">
                <a:solidFill>
                  <a:srgbClr val="C8553D"/>
                </a:solidFill>
                <a:latin typeface="Arial"/>
                <a:ea typeface="Arial"/>
                <a:cs typeface="Arial"/>
                <a:sym typeface="Arial"/>
              </a:rPr>
              <a:t>LOSS</a:t>
            </a:r>
            <a:endParaRPr sz="900">
              <a:solidFill>
                <a:schemeClr val="dk1"/>
              </a:solidFill>
              <a:latin typeface="Calibri"/>
              <a:ea typeface="Calibri"/>
              <a:cs typeface="Calibri"/>
              <a:sym typeface="Calibri"/>
            </a:endParaRPr>
          </a:p>
        </p:txBody>
      </p:sp>
      <p:sp>
        <p:nvSpPr>
          <p:cNvPr id="446" name="Google Shape;446;p9"/>
          <p:cNvSpPr/>
          <p:nvPr/>
        </p:nvSpPr>
        <p:spPr>
          <a:xfrm>
            <a:off x="6080760" y="5683320"/>
            <a:ext cx="24917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Binary cross-entropy</a:t>
            </a:r>
            <a:endParaRPr sz="1150">
              <a:solidFill>
                <a:schemeClr val="dk1"/>
              </a:solidFill>
              <a:latin typeface="Calibri"/>
              <a:ea typeface="Calibri"/>
              <a:cs typeface="Calibri"/>
              <a:sym typeface="Calibri"/>
            </a:endParaRPr>
          </a:p>
        </p:txBody>
      </p:sp>
      <p:sp>
        <p:nvSpPr>
          <p:cNvPr id="447" name="Google Shape;447;p9"/>
          <p:cNvSpPr/>
          <p:nvPr/>
        </p:nvSpPr>
        <p:spPr>
          <a:xfrm>
            <a:off x="8755380" y="5454720"/>
            <a:ext cx="24917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900"/>
              <a:buFont typeface="Arial"/>
              <a:buNone/>
            </a:pPr>
            <a:r>
              <a:rPr b="1" lang="en-US" sz="900">
                <a:solidFill>
                  <a:srgbClr val="C8553D"/>
                </a:solidFill>
                <a:latin typeface="Arial"/>
                <a:ea typeface="Arial"/>
                <a:cs typeface="Arial"/>
                <a:sym typeface="Arial"/>
              </a:rPr>
              <a:t>AUGMENTATION</a:t>
            </a:r>
            <a:endParaRPr sz="900">
              <a:solidFill>
                <a:schemeClr val="dk1"/>
              </a:solidFill>
              <a:latin typeface="Calibri"/>
              <a:ea typeface="Calibri"/>
              <a:cs typeface="Calibri"/>
              <a:sym typeface="Calibri"/>
            </a:endParaRPr>
          </a:p>
        </p:txBody>
      </p:sp>
      <p:sp>
        <p:nvSpPr>
          <p:cNvPr id="448" name="Google Shape;448;p9"/>
          <p:cNvSpPr/>
          <p:nvPr/>
        </p:nvSpPr>
        <p:spPr>
          <a:xfrm>
            <a:off x="8755380" y="5683320"/>
            <a:ext cx="285225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Baseline: Flip H+V · Rot/Zoom/Contrast 0.10  ·  MobileNet: Flip H · Rot 0.05</a:t>
            </a:r>
            <a:endParaRPr sz="1150">
              <a:solidFill>
                <a:schemeClr val="dk1"/>
              </a:solidFill>
              <a:latin typeface="Calibri"/>
              <a:ea typeface="Calibri"/>
              <a:cs typeface="Calibri"/>
              <a:sym typeface="Calibri"/>
            </a:endParaRPr>
          </a:p>
        </p:txBody>
      </p:sp>
      <p:cxnSp>
        <p:nvCxnSpPr>
          <p:cNvPr id="449" name="Google Shape;449;p9"/>
          <p:cNvCxnSpPr/>
          <p:nvPr/>
        </p:nvCxnSpPr>
        <p:spPr>
          <a:xfrm>
            <a:off x="457200" y="6446520"/>
            <a:ext cx="11247120" cy="0"/>
          </a:xfrm>
          <a:prstGeom prst="straightConnector1">
            <a:avLst/>
          </a:prstGeom>
          <a:noFill/>
          <a:ln cap="flat" cmpd="sng" w="9525">
            <a:solidFill>
              <a:srgbClr val="3D5478"/>
            </a:solidFill>
            <a:prstDash val="solid"/>
            <a:round/>
            <a:headEnd len="sm" w="sm" type="none"/>
            <a:tailEnd len="sm" w="sm" type="none"/>
          </a:ln>
        </p:spPr>
      </p:cxnSp>
      <p:sp>
        <p:nvSpPr>
          <p:cNvPr id="450" name="Google Shape;450;p9"/>
          <p:cNvSpPr/>
          <p:nvPr/>
        </p:nvSpPr>
        <p:spPr>
          <a:xfrm>
            <a:off x="457200" y="6565392"/>
            <a:ext cx="9601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800"/>
              <a:buFont typeface="Arial"/>
              <a:buNone/>
            </a:pPr>
            <a:r>
              <a:rPr i="1" lang="en-US" sz="800">
                <a:solidFill>
                  <a:srgbClr val="8B95A3"/>
                </a:solidFill>
                <a:latin typeface="Arial"/>
                <a:ea typeface="Arial"/>
                <a:cs typeface="Arial"/>
                <a:sym typeface="Arial"/>
              </a:rPr>
              <a:t>MobileNetV2 backbone pretrained on ImageNet; convolutional base frozen</a:t>
            </a:r>
            <a:endParaRPr sz="800">
              <a:solidFill>
                <a:schemeClr val="dk1"/>
              </a:solidFill>
              <a:latin typeface="Calibri"/>
              <a:ea typeface="Calibri"/>
              <a:cs typeface="Calibri"/>
              <a:sym typeface="Calibri"/>
            </a:endParaRPr>
          </a:p>
        </p:txBody>
      </p:sp>
      <p:sp>
        <p:nvSpPr>
          <p:cNvPr id="451" name="Google Shape;451;p9"/>
          <p:cNvSpPr/>
          <p:nvPr/>
        </p:nvSpPr>
        <p:spPr>
          <a:xfrm>
            <a:off x="10058400" y="6565392"/>
            <a:ext cx="164592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A3"/>
              </a:buClr>
              <a:buSzPts val="800"/>
              <a:buFont typeface="Arial"/>
              <a:buNone/>
            </a:pPr>
            <a:r>
              <a:rPr b="1" lang="en-US" sz="800">
                <a:solidFill>
                  <a:srgbClr val="8B95A3"/>
                </a:solidFill>
                <a:latin typeface="Arial"/>
                <a:ea typeface="Arial"/>
                <a:cs typeface="Arial"/>
                <a:sym typeface="Arial"/>
              </a:rPr>
              <a:t>09 / 19</a:t>
            </a:r>
            <a:endParaRPr sz="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456" name="Shape 456"/>
        <p:cNvGrpSpPr/>
        <p:nvPr/>
      </p:nvGrpSpPr>
      <p:grpSpPr>
        <a:xfrm>
          <a:off x="0" y="0"/>
          <a:ext cx="0" cy="0"/>
          <a:chOff x="0" y="0"/>
          <a:chExt cx="0" cy="0"/>
        </a:xfrm>
      </p:grpSpPr>
      <p:sp>
        <p:nvSpPr>
          <p:cNvPr id="457" name="Google Shape;457;p11"/>
          <p:cNvSpPr/>
          <p:nvPr/>
        </p:nvSpPr>
        <p:spPr>
          <a:xfrm>
            <a:off x="457200" y="365760"/>
            <a:ext cx="320040" cy="18288"/>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11"/>
          <p:cNvSpPr/>
          <p:nvPr/>
        </p:nvSpPr>
        <p:spPr>
          <a:xfrm>
            <a:off x="457200" y="411480"/>
            <a:ext cx="11247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lang="en-US" sz="2800">
                <a:solidFill>
                  <a:srgbClr val="FFFFFF"/>
                </a:solidFill>
                <a:latin typeface="Arial"/>
                <a:ea typeface="Arial"/>
                <a:cs typeface="Arial"/>
                <a:sym typeface="Arial"/>
              </a:rPr>
              <a:t>Performance</a:t>
            </a:r>
            <a:endParaRPr sz="2800">
              <a:solidFill>
                <a:schemeClr val="dk1"/>
              </a:solidFill>
              <a:latin typeface="Calibri"/>
              <a:ea typeface="Calibri"/>
              <a:cs typeface="Calibri"/>
              <a:sym typeface="Calibri"/>
            </a:endParaRPr>
          </a:p>
        </p:txBody>
      </p:sp>
      <p:sp>
        <p:nvSpPr>
          <p:cNvPr id="459" name="Google Shape;459;p11"/>
          <p:cNvSpPr/>
          <p:nvPr/>
        </p:nvSpPr>
        <p:spPr>
          <a:xfrm>
            <a:off x="457200" y="960120"/>
            <a:ext cx="11247120" cy="5029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Both models reach 0.92+ accuracy and ~0.99 AUC; the upgraded baseline edges MobileNetV2 on most metrics</a:t>
            </a:r>
            <a:endParaRPr sz="1600">
              <a:solidFill>
                <a:schemeClr val="dk1"/>
              </a:solidFill>
              <a:latin typeface="Calibri"/>
              <a:ea typeface="Calibri"/>
              <a:cs typeface="Calibri"/>
              <a:sym typeface="Calibri"/>
            </a:endParaRPr>
          </a:p>
        </p:txBody>
      </p:sp>
      <p:sp>
        <p:nvSpPr>
          <p:cNvPr id="460" name="Google Shape;460;p11"/>
          <p:cNvSpPr/>
          <p:nvPr/>
        </p:nvSpPr>
        <p:spPr>
          <a:xfrm>
            <a:off x="457200" y="1554480"/>
            <a:ext cx="2194560" cy="50292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11"/>
          <p:cNvSpPr/>
          <p:nvPr/>
        </p:nvSpPr>
        <p:spPr>
          <a:xfrm>
            <a:off x="548640" y="1554480"/>
            <a:ext cx="20116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Model</a:t>
            </a:r>
            <a:endParaRPr sz="1100">
              <a:solidFill>
                <a:schemeClr val="dk1"/>
              </a:solidFill>
              <a:latin typeface="Calibri"/>
              <a:ea typeface="Calibri"/>
              <a:cs typeface="Calibri"/>
              <a:sym typeface="Calibri"/>
            </a:endParaRPr>
          </a:p>
        </p:txBody>
      </p:sp>
      <p:sp>
        <p:nvSpPr>
          <p:cNvPr id="462" name="Google Shape;462;p11"/>
          <p:cNvSpPr/>
          <p:nvPr/>
        </p:nvSpPr>
        <p:spPr>
          <a:xfrm>
            <a:off x="2651760" y="1554480"/>
            <a:ext cx="1280160" cy="50292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11"/>
          <p:cNvSpPr/>
          <p:nvPr/>
        </p:nvSpPr>
        <p:spPr>
          <a:xfrm>
            <a:off x="2743200" y="1554480"/>
            <a:ext cx="10972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Accuracy</a:t>
            </a:r>
            <a:endParaRPr sz="1100">
              <a:solidFill>
                <a:schemeClr val="dk1"/>
              </a:solidFill>
              <a:latin typeface="Calibri"/>
              <a:ea typeface="Calibri"/>
              <a:cs typeface="Calibri"/>
              <a:sym typeface="Calibri"/>
            </a:endParaRPr>
          </a:p>
        </p:txBody>
      </p:sp>
      <p:sp>
        <p:nvSpPr>
          <p:cNvPr id="464" name="Google Shape;464;p11"/>
          <p:cNvSpPr/>
          <p:nvPr/>
        </p:nvSpPr>
        <p:spPr>
          <a:xfrm>
            <a:off x="3931920" y="1554480"/>
            <a:ext cx="1005840" cy="50292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11"/>
          <p:cNvSpPr/>
          <p:nvPr/>
        </p:nvSpPr>
        <p:spPr>
          <a:xfrm>
            <a:off x="4023360" y="1554480"/>
            <a:ext cx="8229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AUC</a:t>
            </a:r>
            <a:endParaRPr sz="1100">
              <a:solidFill>
                <a:schemeClr val="dk1"/>
              </a:solidFill>
              <a:latin typeface="Calibri"/>
              <a:ea typeface="Calibri"/>
              <a:cs typeface="Calibri"/>
              <a:sym typeface="Calibri"/>
            </a:endParaRPr>
          </a:p>
        </p:txBody>
      </p:sp>
      <p:sp>
        <p:nvSpPr>
          <p:cNvPr id="466" name="Google Shape;466;p11"/>
          <p:cNvSpPr/>
          <p:nvPr/>
        </p:nvSpPr>
        <p:spPr>
          <a:xfrm>
            <a:off x="4937760" y="1554480"/>
            <a:ext cx="1371600" cy="50292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11"/>
          <p:cNvSpPr/>
          <p:nvPr/>
        </p:nvSpPr>
        <p:spPr>
          <a:xfrm>
            <a:off x="5029200" y="1554480"/>
            <a:ext cx="11887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Precision</a:t>
            </a:r>
            <a:endParaRPr sz="1100">
              <a:solidFill>
                <a:schemeClr val="dk1"/>
              </a:solidFill>
              <a:latin typeface="Calibri"/>
              <a:ea typeface="Calibri"/>
              <a:cs typeface="Calibri"/>
              <a:sym typeface="Calibri"/>
            </a:endParaRPr>
          </a:p>
        </p:txBody>
      </p:sp>
      <p:sp>
        <p:nvSpPr>
          <p:cNvPr id="468" name="Google Shape;468;p11"/>
          <p:cNvSpPr/>
          <p:nvPr/>
        </p:nvSpPr>
        <p:spPr>
          <a:xfrm>
            <a:off x="6309360" y="1554480"/>
            <a:ext cx="1005840" cy="50292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11"/>
          <p:cNvSpPr/>
          <p:nvPr/>
        </p:nvSpPr>
        <p:spPr>
          <a:xfrm>
            <a:off x="6400800" y="1554480"/>
            <a:ext cx="8229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Recall</a:t>
            </a:r>
            <a:endParaRPr sz="1100">
              <a:solidFill>
                <a:schemeClr val="dk1"/>
              </a:solidFill>
              <a:latin typeface="Calibri"/>
              <a:ea typeface="Calibri"/>
              <a:cs typeface="Calibri"/>
              <a:sym typeface="Calibri"/>
            </a:endParaRPr>
          </a:p>
        </p:txBody>
      </p:sp>
      <p:sp>
        <p:nvSpPr>
          <p:cNvPr id="470" name="Google Shape;470;p11"/>
          <p:cNvSpPr/>
          <p:nvPr/>
        </p:nvSpPr>
        <p:spPr>
          <a:xfrm>
            <a:off x="457200" y="2057400"/>
            <a:ext cx="2194560" cy="64008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11"/>
          <p:cNvSpPr/>
          <p:nvPr/>
        </p:nvSpPr>
        <p:spPr>
          <a:xfrm>
            <a:off x="548640" y="2057400"/>
            <a:ext cx="20116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1300"/>
              <a:buFont typeface="Arial"/>
              <a:buNone/>
            </a:pPr>
            <a:r>
              <a:rPr b="1" lang="en-US" sz="1300">
                <a:solidFill>
                  <a:srgbClr val="B8C5D6"/>
                </a:solidFill>
                <a:latin typeface="Arial"/>
                <a:ea typeface="Arial"/>
                <a:cs typeface="Arial"/>
                <a:sym typeface="Arial"/>
              </a:rPr>
              <a:t>Naive (majority class)</a:t>
            </a:r>
            <a:endParaRPr sz="1300">
              <a:solidFill>
                <a:schemeClr val="dk1"/>
              </a:solidFill>
              <a:latin typeface="Calibri"/>
              <a:ea typeface="Calibri"/>
              <a:cs typeface="Calibri"/>
              <a:sym typeface="Calibri"/>
            </a:endParaRPr>
          </a:p>
        </p:txBody>
      </p:sp>
      <p:sp>
        <p:nvSpPr>
          <p:cNvPr id="472" name="Google Shape;472;p11"/>
          <p:cNvSpPr/>
          <p:nvPr/>
        </p:nvSpPr>
        <p:spPr>
          <a:xfrm>
            <a:off x="2651760" y="2057400"/>
            <a:ext cx="1280160" cy="64008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11"/>
          <p:cNvSpPr/>
          <p:nvPr/>
        </p:nvSpPr>
        <p:spPr>
          <a:xfrm>
            <a:off x="2743200" y="2057400"/>
            <a:ext cx="10972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6"/>
              </a:buClr>
              <a:buSzPts val="1300"/>
              <a:buFont typeface="Arial"/>
              <a:buNone/>
            </a:pPr>
            <a:r>
              <a:rPr lang="en-US" sz="1300">
                <a:solidFill>
                  <a:srgbClr val="B8C5D6"/>
                </a:solidFill>
                <a:latin typeface="Arial"/>
                <a:ea typeface="Arial"/>
                <a:cs typeface="Arial"/>
                <a:sym typeface="Arial"/>
              </a:rPr>
              <a:t>0.50</a:t>
            </a:r>
            <a:endParaRPr sz="1300">
              <a:solidFill>
                <a:schemeClr val="dk1"/>
              </a:solidFill>
              <a:latin typeface="Calibri"/>
              <a:ea typeface="Calibri"/>
              <a:cs typeface="Calibri"/>
              <a:sym typeface="Calibri"/>
            </a:endParaRPr>
          </a:p>
        </p:txBody>
      </p:sp>
      <p:sp>
        <p:nvSpPr>
          <p:cNvPr id="474" name="Google Shape;474;p11"/>
          <p:cNvSpPr/>
          <p:nvPr/>
        </p:nvSpPr>
        <p:spPr>
          <a:xfrm>
            <a:off x="3931920" y="2057400"/>
            <a:ext cx="1005840" cy="64008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11"/>
          <p:cNvSpPr/>
          <p:nvPr/>
        </p:nvSpPr>
        <p:spPr>
          <a:xfrm>
            <a:off x="4023360" y="2057400"/>
            <a:ext cx="8229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6"/>
              </a:buClr>
              <a:buSzPts val="1300"/>
              <a:buFont typeface="Arial"/>
              <a:buNone/>
            </a:pPr>
            <a:r>
              <a:rPr lang="en-US" sz="1300">
                <a:solidFill>
                  <a:srgbClr val="B8C5D6"/>
                </a:solidFill>
                <a:latin typeface="Arial"/>
                <a:ea typeface="Arial"/>
                <a:cs typeface="Arial"/>
                <a:sym typeface="Arial"/>
              </a:rPr>
              <a:t>0.50</a:t>
            </a:r>
            <a:endParaRPr sz="1300">
              <a:solidFill>
                <a:schemeClr val="dk1"/>
              </a:solidFill>
              <a:latin typeface="Calibri"/>
              <a:ea typeface="Calibri"/>
              <a:cs typeface="Calibri"/>
              <a:sym typeface="Calibri"/>
            </a:endParaRPr>
          </a:p>
        </p:txBody>
      </p:sp>
      <p:sp>
        <p:nvSpPr>
          <p:cNvPr id="476" name="Google Shape;476;p11"/>
          <p:cNvSpPr/>
          <p:nvPr/>
        </p:nvSpPr>
        <p:spPr>
          <a:xfrm>
            <a:off x="4937760" y="2057400"/>
            <a:ext cx="1371600" cy="64008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11"/>
          <p:cNvSpPr/>
          <p:nvPr/>
        </p:nvSpPr>
        <p:spPr>
          <a:xfrm>
            <a:off x="5029200" y="2057400"/>
            <a:ext cx="11887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6"/>
              </a:buClr>
              <a:buSzPts val="1300"/>
              <a:buFont typeface="Arial"/>
              <a:buNone/>
            </a:pPr>
            <a:r>
              <a:rPr lang="en-US" sz="1300">
                <a:solidFill>
                  <a:srgbClr val="B8C5D6"/>
                </a:solidFill>
                <a:latin typeface="Arial"/>
                <a:ea typeface="Arial"/>
                <a:cs typeface="Arial"/>
                <a:sym typeface="Arial"/>
              </a:rPr>
              <a:t>0.50</a:t>
            </a:r>
            <a:endParaRPr sz="1300">
              <a:solidFill>
                <a:schemeClr val="dk1"/>
              </a:solidFill>
              <a:latin typeface="Calibri"/>
              <a:ea typeface="Calibri"/>
              <a:cs typeface="Calibri"/>
              <a:sym typeface="Calibri"/>
            </a:endParaRPr>
          </a:p>
        </p:txBody>
      </p:sp>
      <p:sp>
        <p:nvSpPr>
          <p:cNvPr id="478" name="Google Shape;478;p11"/>
          <p:cNvSpPr/>
          <p:nvPr/>
        </p:nvSpPr>
        <p:spPr>
          <a:xfrm>
            <a:off x="6309360" y="2057400"/>
            <a:ext cx="1005840" cy="64008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11"/>
          <p:cNvSpPr/>
          <p:nvPr/>
        </p:nvSpPr>
        <p:spPr>
          <a:xfrm>
            <a:off x="6400800" y="2057400"/>
            <a:ext cx="8229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6"/>
              </a:buClr>
              <a:buSzPts val="1300"/>
              <a:buFont typeface="Arial"/>
              <a:buNone/>
            </a:pPr>
            <a:r>
              <a:rPr lang="en-US" sz="1300">
                <a:solidFill>
                  <a:srgbClr val="B8C5D6"/>
                </a:solidFill>
                <a:latin typeface="Arial"/>
                <a:ea typeface="Arial"/>
                <a:cs typeface="Arial"/>
                <a:sym typeface="Arial"/>
              </a:rPr>
              <a:t>1.00</a:t>
            </a:r>
            <a:endParaRPr sz="1300">
              <a:solidFill>
                <a:schemeClr val="dk1"/>
              </a:solidFill>
              <a:latin typeface="Calibri"/>
              <a:ea typeface="Calibri"/>
              <a:cs typeface="Calibri"/>
              <a:sym typeface="Calibri"/>
            </a:endParaRPr>
          </a:p>
        </p:txBody>
      </p:sp>
      <p:sp>
        <p:nvSpPr>
          <p:cNvPr id="480" name="Google Shape;480;p11"/>
          <p:cNvSpPr/>
          <p:nvPr/>
        </p:nvSpPr>
        <p:spPr>
          <a:xfrm>
            <a:off x="457200" y="2697480"/>
            <a:ext cx="2194560" cy="64008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11"/>
          <p:cNvSpPr/>
          <p:nvPr/>
        </p:nvSpPr>
        <p:spPr>
          <a:xfrm>
            <a:off x="548640" y="2697480"/>
            <a:ext cx="20116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547"/>
              </a:buClr>
              <a:buSzPts val="1300"/>
              <a:buFont typeface="Arial"/>
              <a:buNone/>
            </a:pPr>
            <a:r>
              <a:rPr b="1" lang="en-US" sz="1300">
                <a:solidFill>
                  <a:srgbClr val="D4A547"/>
                </a:solidFill>
                <a:latin typeface="Arial"/>
                <a:ea typeface="Arial"/>
                <a:cs typeface="Arial"/>
                <a:sym typeface="Arial"/>
              </a:rPr>
              <a:t>Baseline CNN</a:t>
            </a:r>
            <a:endParaRPr sz="1300">
              <a:solidFill>
                <a:schemeClr val="dk1"/>
              </a:solidFill>
              <a:latin typeface="Calibri"/>
              <a:ea typeface="Calibri"/>
              <a:cs typeface="Calibri"/>
              <a:sym typeface="Calibri"/>
            </a:endParaRPr>
          </a:p>
        </p:txBody>
      </p:sp>
      <p:sp>
        <p:nvSpPr>
          <p:cNvPr id="482" name="Google Shape;482;p11"/>
          <p:cNvSpPr/>
          <p:nvPr/>
        </p:nvSpPr>
        <p:spPr>
          <a:xfrm>
            <a:off x="2651760" y="2697480"/>
            <a:ext cx="1280160" cy="64008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11"/>
          <p:cNvSpPr/>
          <p:nvPr/>
        </p:nvSpPr>
        <p:spPr>
          <a:xfrm>
            <a:off x="2743200" y="2697480"/>
            <a:ext cx="10972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547"/>
              </a:buClr>
              <a:buSzPts val="1300"/>
              <a:buFont typeface="Arial"/>
              <a:buNone/>
            </a:pPr>
            <a:r>
              <a:rPr b="1" lang="en-US" sz="1300">
                <a:solidFill>
                  <a:srgbClr val="D4A547"/>
                </a:solidFill>
                <a:latin typeface="Arial"/>
                <a:ea typeface="Arial"/>
                <a:cs typeface="Arial"/>
                <a:sym typeface="Arial"/>
              </a:rPr>
              <a:t>0.95</a:t>
            </a:r>
            <a:endParaRPr sz="1300">
              <a:solidFill>
                <a:schemeClr val="dk1"/>
              </a:solidFill>
              <a:latin typeface="Calibri"/>
              <a:ea typeface="Calibri"/>
              <a:cs typeface="Calibri"/>
              <a:sym typeface="Calibri"/>
            </a:endParaRPr>
          </a:p>
        </p:txBody>
      </p:sp>
      <p:sp>
        <p:nvSpPr>
          <p:cNvPr id="484" name="Google Shape;484;p11"/>
          <p:cNvSpPr/>
          <p:nvPr/>
        </p:nvSpPr>
        <p:spPr>
          <a:xfrm>
            <a:off x="3931920" y="2697480"/>
            <a:ext cx="1005840" cy="64008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11"/>
          <p:cNvSpPr/>
          <p:nvPr/>
        </p:nvSpPr>
        <p:spPr>
          <a:xfrm>
            <a:off x="4023360" y="2697480"/>
            <a:ext cx="8229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547"/>
              </a:buClr>
              <a:buSzPts val="1300"/>
              <a:buFont typeface="Arial"/>
              <a:buNone/>
            </a:pPr>
            <a:r>
              <a:rPr b="1" lang="en-US" sz="1300">
                <a:solidFill>
                  <a:srgbClr val="D4A547"/>
                </a:solidFill>
                <a:latin typeface="Arial"/>
                <a:ea typeface="Arial"/>
                <a:cs typeface="Arial"/>
                <a:sym typeface="Arial"/>
              </a:rPr>
              <a:t>0.99</a:t>
            </a:r>
            <a:endParaRPr sz="1300">
              <a:solidFill>
                <a:schemeClr val="dk1"/>
              </a:solidFill>
              <a:latin typeface="Calibri"/>
              <a:ea typeface="Calibri"/>
              <a:cs typeface="Calibri"/>
              <a:sym typeface="Calibri"/>
            </a:endParaRPr>
          </a:p>
        </p:txBody>
      </p:sp>
      <p:sp>
        <p:nvSpPr>
          <p:cNvPr id="486" name="Google Shape;486;p11"/>
          <p:cNvSpPr/>
          <p:nvPr/>
        </p:nvSpPr>
        <p:spPr>
          <a:xfrm>
            <a:off x="4937760" y="2697480"/>
            <a:ext cx="1371600" cy="64008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11"/>
          <p:cNvSpPr/>
          <p:nvPr/>
        </p:nvSpPr>
        <p:spPr>
          <a:xfrm>
            <a:off x="5029200" y="2697480"/>
            <a:ext cx="11887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547"/>
              </a:buClr>
              <a:buSzPts val="1300"/>
              <a:buFont typeface="Arial"/>
              <a:buNone/>
            </a:pPr>
            <a:r>
              <a:rPr b="1" lang="en-US" sz="1300">
                <a:solidFill>
                  <a:srgbClr val="D4A547"/>
                </a:solidFill>
                <a:latin typeface="Arial"/>
                <a:ea typeface="Arial"/>
                <a:cs typeface="Arial"/>
                <a:sym typeface="Arial"/>
              </a:rPr>
              <a:t>0.97</a:t>
            </a:r>
            <a:endParaRPr sz="1300">
              <a:solidFill>
                <a:schemeClr val="dk1"/>
              </a:solidFill>
              <a:latin typeface="Calibri"/>
              <a:ea typeface="Calibri"/>
              <a:cs typeface="Calibri"/>
              <a:sym typeface="Calibri"/>
            </a:endParaRPr>
          </a:p>
        </p:txBody>
      </p:sp>
      <p:sp>
        <p:nvSpPr>
          <p:cNvPr id="488" name="Google Shape;488;p11"/>
          <p:cNvSpPr/>
          <p:nvPr/>
        </p:nvSpPr>
        <p:spPr>
          <a:xfrm>
            <a:off x="6309360" y="2697480"/>
            <a:ext cx="1005840" cy="64008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11"/>
          <p:cNvSpPr/>
          <p:nvPr/>
        </p:nvSpPr>
        <p:spPr>
          <a:xfrm>
            <a:off x="6400800" y="2697480"/>
            <a:ext cx="8229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547"/>
              </a:buClr>
              <a:buSzPts val="1300"/>
              <a:buFont typeface="Arial"/>
              <a:buNone/>
            </a:pPr>
            <a:r>
              <a:rPr b="1" lang="en-US" sz="1300">
                <a:solidFill>
                  <a:srgbClr val="D4A547"/>
                </a:solidFill>
                <a:latin typeface="Arial"/>
                <a:ea typeface="Arial"/>
                <a:cs typeface="Arial"/>
                <a:sym typeface="Arial"/>
              </a:rPr>
              <a:t>0.93</a:t>
            </a:r>
            <a:endParaRPr sz="1300">
              <a:solidFill>
                <a:schemeClr val="dk1"/>
              </a:solidFill>
              <a:latin typeface="Calibri"/>
              <a:ea typeface="Calibri"/>
              <a:cs typeface="Calibri"/>
              <a:sym typeface="Calibri"/>
            </a:endParaRPr>
          </a:p>
        </p:txBody>
      </p:sp>
      <p:sp>
        <p:nvSpPr>
          <p:cNvPr id="490" name="Google Shape;490;p11"/>
          <p:cNvSpPr/>
          <p:nvPr/>
        </p:nvSpPr>
        <p:spPr>
          <a:xfrm>
            <a:off x="457200" y="3337560"/>
            <a:ext cx="2194560" cy="640080"/>
          </a:xfrm>
          <a:prstGeom prst="rect">
            <a:avLst/>
          </a:prstGeom>
          <a:solidFill>
            <a:srgbClr val="1A29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11"/>
          <p:cNvSpPr/>
          <p:nvPr/>
        </p:nvSpPr>
        <p:spPr>
          <a:xfrm>
            <a:off x="548640" y="3337560"/>
            <a:ext cx="20116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MobileNetV2</a:t>
            </a:r>
            <a:endParaRPr sz="1300">
              <a:solidFill>
                <a:schemeClr val="dk1"/>
              </a:solidFill>
              <a:latin typeface="Calibri"/>
              <a:ea typeface="Calibri"/>
              <a:cs typeface="Calibri"/>
              <a:sym typeface="Calibri"/>
            </a:endParaRPr>
          </a:p>
        </p:txBody>
      </p:sp>
      <p:sp>
        <p:nvSpPr>
          <p:cNvPr id="492" name="Google Shape;492;p11"/>
          <p:cNvSpPr/>
          <p:nvPr/>
        </p:nvSpPr>
        <p:spPr>
          <a:xfrm>
            <a:off x="2651760" y="3337560"/>
            <a:ext cx="1280160" cy="640080"/>
          </a:xfrm>
          <a:prstGeom prst="rect">
            <a:avLst/>
          </a:prstGeom>
          <a:solidFill>
            <a:srgbClr val="1A29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11"/>
          <p:cNvSpPr/>
          <p:nvPr/>
        </p:nvSpPr>
        <p:spPr>
          <a:xfrm>
            <a:off x="2743200" y="3337560"/>
            <a:ext cx="10972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lang="en-US" sz="1300">
                <a:solidFill>
                  <a:srgbClr val="FFFFFF"/>
                </a:solidFill>
                <a:latin typeface="Arial"/>
                <a:ea typeface="Arial"/>
                <a:cs typeface="Arial"/>
                <a:sym typeface="Arial"/>
              </a:rPr>
              <a:t>0.92</a:t>
            </a:r>
            <a:endParaRPr sz="1300">
              <a:solidFill>
                <a:schemeClr val="dk1"/>
              </a:solidFill>
              <a:latin typeface="Calibri"/>
              <a:ea typeface="Calibri"/>
              <a:cs typeface="Calibri"/>
              <a:sym typeface="Calibri"/>
            </a:endParaRPr>
          </a:p>
        </p:txBody>
      </p:sp>
      <p:sp>
        <p:nvSpPr>
          <p:cNvPr id="494" name="Google Shape;494;p11"/>
          <p:cNvSpPr/>
          <p:nvPr/>
        </p:nvSpPr>
        <p:spPr>
          <a:xfrm>
            <a:off x="3931920" y="3337560"/>
            <a:ext cx="1005840" cy="640080"/>
          </a:xfrm>
          <a:prstGeom prst="rect">
            <a:avLst/>
          </a:prstGeom>
          <a:solidFill>
            <a:srgbClr val="1A29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11"/>
          <p:cNvSpPr/>
          <p:nvPr/>
        </p:nvSpPr>
        <p:spPr>
          <a:xfrm>
            <a:off x="4023360" y="3337560"/>
            <a:ext cx="8229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lang="en-US" sz="1300">
                <a:solidFill>
                  <a:srgbClr val="FFFFFF"/>
                </a:solidFill>
                <a:latin typeface="Arial"/>
                <a:ea typeface="Arial"/>
                <a:cs typeface="Arial"/>
                <a:sym typeface="Arial"/>
              </a:rPr>
              <a:t>0.98</a:t>
            </a:r>
            <a:endParaRPr sz="1300">
              <a:solidFill>
                <a:schemeClr val="dk1"/>
              </a:solidFill>
              <a:latin typeface="Calibri"/>
              <a:ea typeface="Calibri"/>
              <a:cs typeface="Calibri"/>
              <a:sym typeface="Calibri"/>
            </a:endParaRPr>
          </a:p>
        </p:txBody>
      </p:sp>
      <p:sp>
        <p:nvSpPr>
          <p:cNvPr id="496" name="Google Shape;496;p11"/>
          <p:cNvSpPr/>
          <p:nvPr/>
        </p:nvSpPr>
        <p:spPr>
          <a:xfrm>
            <a:off x="4937760" y="3337560"/>
            <a:ext cx="1371600" cy="640080"/>
          </a:xfrm>
          <a:prstGeom prst="rect">
            <a:avLst/>
          </a:prstGeom>
          <a:solidFill>
            <a:srgbClr val="1A29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11"/>
          <p:cNvSpPr/>
          <p:nvPr/>
        </p:nvSpPr>
        <p:spPr>
          <a:xfrm>
            <a:off x="5029200" y="3337560"/>
            <a:ext cx="11887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lang="en-US" sz="1300">
                <a:solidFill>
                  <a:srgbClr val="FFFFFF"/>
                </a:solidFill>
                <a:latin typeface="Arial"/>
                <a:ea typeface="Arial"/>
                <a:cs typeface="Arial"/>
                <a:sym typeface="Arial"/>
              </a:rPr>
              <a:t>0.91</a:t>
            </a:r>
            <a:endParaRPr sz="1300">
              <a:solidFill>
                <a:schemeClr val="dk1"/>
              </a:solidFill>
              <a:latin typeface="Calibri"/>
              <a:ea typeface="Calibri"/>
              <a:cs typeface="Calibri"/>
              <a:sym typeface="Calibri"/>
            </a:endParaRPr>
          </a:p>
        </p:txBody>
      </p:sp>
      <p:sp>
        <p:nvSpPr>
          <p:cNvPr id="498" name="Google Shape;498;p11"/>
          <p:cNvSpPr/>
          <p:nvPr/>
        </p:nvSpPr>
        <p:spPr>
          <a:xfrm>
            <a:off x="6309360" y="3337560"/>
            <a:ext cx="1005840" cy="640080"/>
          </a:xfrm>
          <a:prstGeom prst="rect">
            <a:avLst/>
          </a:prstGeom>
          <a:solidFill>
            <a:srgbClr val="1A29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11"/>
          <p:cNvSpPr/>
          <p:nvPr/>
        </p:nvSpPr>
        <p:spPr>
          <a:xfrm>
            <a:off x="6400800" y="3337560"/>
            <a:ext cx="8229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lang="en-US" sz="1300">
                <a:solidFill>
                  <a:srgbClr val="FFFFFF"/>
                </a:solidFill>
                <a:latin typeface="Arial"/>
                <a:ea typeface="Arial"/>
                <a:cs typeface="Arial"/>
                <a:sym typeface="Arial"/>
              </a:rPr>
              <a:t>0.93</a:t>
            </a:r>
            <a:endParaRPr sz="1300">
              <a:solidFill>
                <a:schemeClr val="dk1"/>
              </a:solidFill>
              <a:latin typeface="Calibri"/>
              <a:ea typeface="Calibri"/>
              <a:cs typeface="Calibri"/>
              <a:sym typeface="Calibri"/>
            </a:endParaRPr>
          </a:p>
        </p:txBody>
      </p:sp>
      <p:sp>
        <p:nvSpPr>
          <p:cNvPr id="500" name="Google Shape;500;p11"/>
          <p:cNvSpPr/>
          <p:nvPr/>
        </p:nvSpPr>
        <p:spPr>
          <a:xfrm>
            <a:off x="457200" y="4114800"/>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950"/>
              <a:buFont typeface="Arial"/>
              <a:buNone/>
            </a:pPr>
            <a:r>
              <a:rPr i="1" lang="en-US" sz="950">
                <a:solidFill>
                  <a:srgbClr val="8B95A3"/>
                </a:solidFill>
                <a:latin typeface="Arial"/>
                <a:ea typeface="Arial"/>
                <a:cs typeface="Arial"/>
                <a:sym typeface="Arial"/>
              </a:rPr>
              <a:t>Test set: 599 parcels, stratified 15% holdout (~50% built / ~50% not built). Best checkpoint per val_auc.</a:t>
            </a:r>
            <a:endParaRPr sz="950">
              <a:solidFill>
                <a:schemeClr val="dk1"/>
              </a:solidFill>
              <a:latin typeface="Calibri"/>
              <a:ea typeface="Calibri"/>
              <a:cs typeface="Calibri"/>
              <a:sym typeface="Calibri"/>
            </a:endParaRPr>
          </a:p>
        </p:txBody>
      </p:sp>
      <p:sp>
        <p:nvSpPr>
          <p:cNvPr id="501" name="Google Shape;501;p11"/>
          <p:cNvSpPr/>
          <p:nvPr/>
        </p:nvSpPr>
        <p:spPr>
          <a:xfrm>
            <a:off x="7863840" y="1554480"/>
            <a:ext cx="3840480" cy="4206240"/>
          </a:xfrm>
          <a:prstGeom prst="rect">
            <a:avLst/>
          </a:prstGeom>
          <a:solidFill>
            <a:srgbClr val="152540"/>
          </a:solidFill>
          <a:ln cap="flat" cmpd="sng" w="12700">
            <a:solidFill>
              <a:srgbClr val="15254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11"/>
          <p:cNvSpPr/>
          <p:nvPr/>
        </p:nvSpPr>
        <p:spPr>
          <a:xfrm>
            <a:off x="8138160" y="178308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1000"/>
              <a:buFont typeface="Arial"/>
              <a:buNone/>
            </a:pPr>
            <a:r>
              <a:rPr b="1" lang="en-US" sz="1000">
                <a:solidFill>
                  <a:srgbClr val="C8553D"/>
                </a:solidFill>
                <a:latin typeface="Arial"/>
                <a:ea typeface="Arial"/>
                <a:cs typeface="Arial"/>
                <a:sym typeface="Arial"/>
              </a:rPr>
              <a:t>TAKEAWAY</a:t>
            </a:r>
            <a:endParaRPr sz="1000">
              <a:solidFill>
                <a:schemeClr val="dk1"/>
              </a:solidFill>
              <a:latin typeface="Calibri"/>
              <a:ea typeface="Calibri"/>
              <a:cs typeface="Calibri"/>
              <a:sym typeface="Calibri"/>
            </a:endParaRPr>
          </a:p>
        </p:txBody>
      </p:sp>
      <p:sp>
        <p:nvSpPr>
          <p:cNvPr id="503" name="Google Shape;503;p11"/>
          <p:cNvSpPr/>
          <p:nvPr/>
        </p:nvSpPr>
        <p:spPr>
          <a:xfrm>
            <a:off x="8138160" y="2103120"/>
            <a:ext cx="3291840" cy="11887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1700"/>
              <a:buFont typeface="Arial"/>
              <a:buNone/>
            </a:pPr>
            <a:r>
              <a:rPr b="1" i="1" lang="en-US" sz="1700">
                <a:solidFill>
                  <a:srgbClr val="FFFFFF"/>
                </a:solidFill>
                <a:latin typeface="Arial"/>
                <a:ea typeface="Arial"/>
                <a:cs typeface="Arial"/>
                <a:sym typeface="Arial"/>
              </a:rPr>
              <a:t>The upgraded baseline CNN matches or beats MobileNetV2 on every metric except recall.</a:t>
            </a:r>
            <a:endParaRPr sz="1700">
              <a:solidFill>
                <a:schemeClr val="dk1"/>
              </a:solidFill>
              <a:latin typeface="Calibri"/>
              <a:ea typeface="Calibri"/>
              <a:cs typeface="Calibri"/>
              <a:sym typeface="Calibri"/>
            </a:endParaRPr>
          </a:p>
        </p:txBody>
      </p:sp>
      <p:cxnSp>
        <p:nvCxnSpPr>
          <p:cNvPr id="504" name="Google Shape;504;p11"/>
          <p:cNvCxnSpPr/>
          <p:nvPr/>
        </p:nvCxnSpPr>
        <p:spPr>
          <a:xfrm>
            <a:off x="8138160" y="3474720"/>
            <a:ext cx="1371600" cy="0"/>
          </a:xfrm>
          <a:prstGeom prst="straightConnector1">
            <a:avLst/>
          </a:prstGeom>
          <a:noFill/>
          <a:ln cap="flat" cmpd="sng" w="19050">
            <a:solidFill>
              <a:srgbClr val="C8553D"/>
            </a:solidFill>
            <a:prstDash val="solid"/>
            <a:round/>
            <a:headEnd len="sm" w="sm" type="none"/>
            <a:tailEnd len="sm" w="sm" type="none"/>
          </a:ln>
        </p:spPr>
      </p:cxnSp>
      <p:sp>
        <p:nvSpPr>
          <p:cNvPr id="505" name="Google Shape;505;p11"/>
          <p:cNvSpPr/>
          <p:nvPr/>
        </p:nvSpPr>
        <p:spPr>
          <a:xfrm>
            <a:off x="8138160" y="3657600"/>
            <a:ext cx="3291840" cy="201168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ADCFC"/>
              </a:buClr>
              <a:buSzPts val="1150"/>
              <a:buFont typeface="Arial"/>
              <a:buNone/>
            </a:pPr>
            <a:r>
              <a:rPr lang="en-US" sz="1150">
                <a:solidFill>
                  <a:srgbClr val="CADCFC"/>
                </a:solidFill>
                <a:latin typeface="Arial"/>
                <a:ea typeface="Arial"/>
                <a:cs typeface="Arial"/>
                <a:sym typeface="Arial"/>
              </a:rPr>
              <a:t>BatchNorm, stronger augmentation, L2 weight decay, and the now-balanced training set close the gap to MobileNetV2 and slightly surpass it on accuracy and precision.</a:t>
            </a:r>
            <a:endParaRPr sz="115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CADCFC"/>
              </a:buClr>
              <a:buSzPts val="400"/>
              <a:buFont typeface="Arial"/>
              <a:buNone/>
            </a:pPr>
            <a:r>
              <a:rPr lang="en-US" sz="400">
                <a:solidFill>
                  <a:srgbClr val="CADCFC"/>
                </a:solidFill>
                <a:latin typeface="Arial"/>
                <a:ea typeface="Arial"/>
                <a:cs typeface="Arial"/>
                <a:sym typeface="Arial"/>
              </a:rPr>
              <a:t> </a:t>
            </a:r>
            <a:endParaRPr sz="115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CADCFC"/>
              </a:buClr>
              <a:buSzPts val="1150"/>
              <a:buFont typeface="Arial"/>
              <a:buNone/>
            </a:pPr>
            <a:r>
              <a:rPr lang="en-US" sz="1150">
                <a:solidFill>
                  <a:srgbClr val="CADCFC"/>
                </a:solidFill>
                <a:latin typeface="Arial"/>
                <a:ea typeface="Arial"/>
                <a:cs typeface="Arial"/>
                <a:sym typeface="Arial"/>
              </a:rPr>
              <a:t>MobileNetV2's recall edge is essentially a tie (0.933 vs 0.930), and it comes at the cost of more false positives. Either model is usable for the parcel-built classification task.</a:t>
            </a:r>
            <a:endParaRPr sz="1150">
              <a:solidFill>
                <a:schemeClr val="dk1"/>
              </a:solidFill>
              <a:latin typeface="Calibri"/>
              <a:ea typeface="Calibri"/>
              <a:cs typeface="Calibri"/>
              <a:sym typeface="Calibri"/>
            </a:endParaRPr>
          </a:p>
        </p:txBody>
      </p:sp>
      <p:sp>
        <p:nvSpPr>
          <p:cNvPr id="506" name="Google Shape;506;p11"/>
          <p:cNvSpPr/>
          <p:nvPr/>
        </p:nvSpPr>
        <p:spPr>
          <a:xfrm>
            <a:off x="457200" y="4520000"/>
            <a:ext cx="6858000" cy="2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95A3"/>
              </a:buClr>
              <a:buSzPts val="900"/>
              <a:buFont typeface="Arial"/>
              <a:buNone/>
            </a:pPr>
            <a:r>
              <a:rPr b="1" lang="en-US" sz="900">
                <a:solidFill>
                  <a:srgbClr val="8B95A3"/>
                </a:solidFill>
                <a:latin typeface="Arial"/>
                <a:ea typeface="Arial"/>
                <a:cs typeface="Arial"/>
                <a:sym typeface="Arial"/>
              </a:rPr>
              <a:t>ACCURACY (TEST SET, 599 PARCELS)</a:t>
            </a:r>
            <a:endParaRPr sz="900">
              <a:solidFill>
                <a:schemeClr val="dk1"/>
              </a:solidFill>
              <a:latin typeface="Calibri"/>
              <a:ea typeface="Calibri"/>
              <a:cs typeface="Calibri"/>
              <a:sym typeface="Calibri"/>
            </a:endParaRPr>
          </a:p>
        </p:txBody>
      </p:sp>
      <p:sp>
        <p:nvSpPr>
          <p:cNvPr id="507" name="Google Shape;507;p11"/>
          <p:cNvSpPr/>
          <p:nvPr/>
        </p:nvSpPr>
        <p:spPr>
          <a:xfrm>
            <a:off x="457200" y="4870000"/>
            <a:ext cx="1900000" cy="380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300"/>
              <a:buFont typeface="Arial"/>
              <a:buNone/>
            </a:pPr>
            <a:r>
              <a:rPr lang="en-US" sz="1300">
                <a:solidFill>
                  <a:srgbClr val="FFFFFF"/>
                </a:solidFill>
                <a:latin typeface="Arial"/>
                <a:ea typeface="Arial"/>
                <a:cs typeface="Arial"/>
                <a:sym typeface="Arial"/>
              </a:rPr>
              <a:t>Naive (majority class)</a:t>
            </a:r>
            <a:endParaRPr sz="1300">
              <a:solidFill>
                <a:schemeClr val="dk1"/>
              </a:solidFill>
              <a:latin typeface="Calibri"/>
              <a:ea typeface="Calibri"/>
              <a:cs typeface="Calibri"/>
              <a:sym typeface="Calibri"/>
            </a:endParaRPr>
          </a:p>
        </p:txBody>
      </p:sp>
      <p:sp>
        <p:nvSpPr>
          <p:cNvPr id="508" name="Google Shape;508;p11"/>
          <p:cNvSpPr/>
          <p:nvPr/>
        </p:nvSpPr>
        <p:spPr>
          <a:xfrm>
            <a:off x="2400000" y="4970000"/>
            <a:ext cx="4400000" cy="180000"/>
          </a:xfrm>
          <a:prstGeom prst="rect">
            <a:avLst/>
          </a:prstGeom>
          <a:solidFill>
            <a:srgbClr val="1A25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p11"/>
          <p:cNvSpPr/>
          <p:nvPr/>
        </p:nvSpPr>
        <p:spPr>
          <a:xfrm>
            <a:off x="2400000" y="4970000"/>
            <a:ext cx="2200000" cy="180000"/>
          </a:xfrm>
          <a:prstGeom prst="rect">
            <a:avLst/>
          </a:prstGeom>
          <a:solidFill>
            <a:srgbClr val="5C2F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11"/>
          <p:cNvSpPr/>
          <p:nvPr/>
        </p:nvSpPr>
        <p:spPr>
          <a:xfrm>
            <a:off x="6840000" y="4870000"/>
            <a:ext cx="475200" cy="380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5D6"/>
              </a:buClr>
              <a:buSzPts val="1300"/>
              <a:buFont typeface="Arial"/>
              <a:buNone/>
            </a:pPr>
            <a:r>
              <a:rPr b="1" lang="en-US" sz="1300">
                <a:solidFill>
                  <a:srgbClr val="B8C5D6"/>
                </a:solidFill>
                <a:latin typeface="Arial"/>
                <a:ea typeface="Arial"/>
                <a:cs typeface="Arial"/>
                <a:sym typeface="Arial"/>
              </a:rPr>
              <a:t>0.50</a:t>
            </a:r>
            <a:endParaRPr sz="1300">
              <a:solidFill>
                <a:schemeClr val="dk1"/>
              </a:solidFill>
              <a:latin typeface="Calibri"/>
              <a:ea typeface="Calibri"/>
              <a:cs typeface="Calibri"/>
              <a:sym typeface="Calibri"/>
            </a:endParaRPr>
          </a:p>
        </p:txBody>
      </p:sp>
      <p:sp>
        <p:nvSpPr>
          <p:cNvPr id="511" name="Google Shape;511;p11"/>
          <p:cNvSpPr/>
          <p:nvPr/>
        </p:nvSpPr>
        <p:spPr>
          <a:xfrm>
            <a:off x="457200" y="5300000"/>
            <a:ext cx="1900000" cy="380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4A547"/>
              </a:buClr>
              <a:buSzPts val="1300"/>
              <a:buFont typeface="Arial"/>
              <a:buNone/>
            </a:pPr>
            <a:r>
              <a:rPr b="1" lang="en-US" sz="1300">
                <a:solidFill>
                  <a:srgbClr val="D4A547"/>
                </a:solidFill>
                <a:latin typeface="Arial"/>
                <a:ea typeface="Arial"/>
                <a:cs typeface="Arial"/>
                <a:sym typeface="Arial"/>
              </a:rPr>
              <a:t>Baseline CNN</a:t>
            </a:r>
            <a:endParaRPr sz="1300">
              <a:solidFill>
                <a:schemeClr val="dk1"/>
              </a:solidFill>
              <a:latin typeface="Calibri"/>
              <a:ea typeface="Calibri"/>
              <a:cs typeface="Calibri"/>
              <a:sym typeface="Calibri"/>
            </a:endParaRPr>
          </a:p>
        </p:txBody>
      </p:sp>
      <p:sp>
        <p:nvSpPr>
          <p:cNvPr id="512" name="Google Shape;512;p11"/>
          <p:cNvSpPr/>
          <p:nvPr/>
        </p:nvSpPr>
        <p:spPr>
          <a:xfrm>
            <a:off x="2400000" y="5400000"/>
            <a:ext cx="4400000" cy="180000"/>
          </a:xfrm>
          <a:prstGeom prst="rect">
            <a:avLst/>
          </a:prstGeom>
          <a:solidFill>
            <a:srgbClr val="1A25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11"/>
          <p:cNvSpPr/>
          <p:nvPr/>
        </p:nvSpPr>
        <p:spPr>
          <a:xfrm>
            <a:off x="2400000" y="5400000"/>
            <a:ext cx="4180000" cy="180000"/>
          </a:xfrm>
          <a:prstGeom prst="rect">
            <a:avLst/>
          </a:prstGeom>
          <a:solidFill>
            <a:srgbClr val="5B957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11"/>
          <p:cNvSpPr/>
          <p:nvPr/>
        </p:nvSpPr>
        <p:spPr>
          <a:xfrm>
            <a:off x="6840000" y="5300000"/>
            <a:ext cx="475200" cy="380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4A547"/>
              </a:buClr>
              <a:buSzPts val="1300"/>
              <a:buFont typeface="Arial"/>
              <a:buNone/>
            </a:pPr>
            <a:r>
              <a:rPr b="1" lang="en-US" sz="1300">
                <a:solidFill>
                  <a:srgbClr val="D4A547"/>
                </a:solidFill>
                <a:latin typeface="Arial"/>
                <a:ea typeface="Arial"/>
                <a:cs typeface="Arial"/>
                <a:sym typeface="Arial"/>
              </a:rPr>
              <a:t>0.95</a:t>
            </a:r>
            <a:endParaRPr sz="1300">
              <a:solidFill>
                <a:schemeClr val="dk1"/>
              </a:solidFill>
              <a:latin typeface="Calibri"/>
              <a:ea typeface="Calibri"/>
              <a:cs typeface="Calibri"/>
              <a:sym typeface="Calibri"/>
            </a:endParaRPr>
          </a:p>
        </p:txBody>
      </p:sp>
      <p:sp>
        <p:nvSpPr>
          <p:cNvPr id="515" name="Google Shape;515;p11"/>
          <p:cNvSpPr/>
          <p:nvPr/>
        </p:nvSpPr>
        <p:spPr>
          <a:xfrm>
            <a:off x="457200" y="5730000"/>
            <a:ext cx="1900000" cy="380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300"/>
              <a:buFont typeface="Arial"/>
              <a:buNone/>
            </a:pPr>
            <a:r>
              <a:rPr lang="en-US" sz="1300">
                <a:solidFill>
                  <a:srgbClr val="FFFFFF"/>
                </a:solidFill>
                <a:latin typeface="Arial"/>
                <a:ea typeface="Arial"/>
                <a:cs typeface="Arial"/>
                <a:sym typeface="Arial"/>
              </a:rPr>
              <a:t>MobileNetV2</a:t>
            </a:r>
            <a:endParaRPr sz="1300">
              <a:solidFill>
                <a:schemeClr val="dk1"/>
              </a:solidFill>
              <a:latin typeface="Calibri"/>
              <a:ea typeface="Calibri"/>
              <a:cs typeface="Calibri"/>
              <a:sym typeface="Calibri"/>
            </a:endParaRPr>
          </a:p>
        </p:txBody>
      </p:sp>
      <p:sp>
        <p:nvSpPr>
          <p:cNvPr id="516" name="Google Shape;516;p11"/>
          <p:cNvSpPr/>
          <p:nvPr/>
        </p:nvSpPr>
        <p:spPr>
          <a:xfrm>
            <a:off x="2400000" y="5830000"/>
            <a:ext cx="4400000" cy="180000"/>
          </a:xfrm>
          <a:prstGeom prst="rect">
            <a:avLst/>
          </a:prstGeom>
          <a:solidFill>
            <a:srgbClr val="1A25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11"/>
          <p:cNvSpPr/>
          <p:nvPr/>
        </p:nvSpPr>
        <p:spPr>
          <a:xfrm>
            <a:off x="2400000" y="5830000"/>
            <a:ext cx="4048000" cy="180000"/>
          </a:xfrm>
          <a:prstGeom prst="rect">
            <a:avLst/>
          </a:prstGeom>
          <a:solidFill>
            <a:srgbClr val="3D547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11"/>
          <p:cNvSpPr/>
          <p:nvPr/>
        </p:nvSpPr>
        <p:spPr>
          <a:xfrm>
            <a:off x="6840000" y="5730000"/>
            <a:ext cx="475200" cy="380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300"/>
              <a:buFont typeface="Arial"/>
              <a:buNone/>
            </a:pPr>
            <a:r>
              <a:rPr lang="en-US" sz="1300">
                <a:solidFill>
                  <a:srgbClr val="FFFFFF"/>
                </a:solidFill>
                <a:latin typeface="Arial"/>
                <a:ea typeface="Arial"/>
                <a:cs typeface="Arial"/>
                <a:sym typeface="Arial"/>
              </a:rPr>
              <a:t>0.92</a:t>
            </a:r>
            <a:endParaRPr sz="1300">
              <a:solidFill>
                <a:schemeClr val="dk1"/>
              </a:solidFill>
              <a:latin typeface="Calibri"/>
              <a:ea typeface="Calibri"/>
              <a:cs typeface="Calibri"/>
              <a:sym typeface="Calibri"/>
            </a:endParaRPr>
          </a:p>
        </p:txBody>
      </p:sp>
      <p:sp>
        <p:nvSpPr>
          <p:cNvPr id="519" name="Google Shape;519;p11"/>
          <p:cNvSpPr/>
          <p:nvPr/>
        </p:nvSpPr>
        <p:spPr>
          <a:xfrm>
            <a:off x="457200" y="6190000"/>
            <a:ext cx="6858000" cy="24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95A3"/>
              </a:buClr>
              <a:buSzPts val="1000"/>
              <a:buFont typeface="Arial"/>
              <a:buNone/>
            </a:pPr>
            <a:r>
              <a:rPr i="1" lang="en-US" sz="1000">
                <a:solidFill>
                  <a:srgbClr val="8B95A3"/>
                </a:solidFill>
                <a:latin typeface="Arial"/>
                <a:ea typeface="Arial"/>
                <a:cs typeface="Arial"/>
                <a:sym typeface="Arial"/>
              </a:rPr>
              <a:t>Same 599-parcel held-out test set; threshold P(built) ≥ 0.5 for all three.</a:t>
            </a:r>
            <a:endParaRPr sz="1000">
              <a:solidFill>
                <a:schemeClr val="dk1"/>
              </a:solidFill>
              <a:latin typeface="Calibri"/>
              <a:ea typeface="Calibri"/>
              <a:cs typeface="Calibri"/>
              <a:sym typeface="Calibri"/>
            </a:endParaRPr>
          </a:p>
        </p:txBody>
      </p:sp>
      <p:cxnSp>
        <p:nvCxnSpPr>
          <p:cNvPr id="520" name="Google Shape;520;p11"/>
          <p:cNvCxnSpPr/>
          <p:nvPr/>
        </p:nvCxnSpPr>
        <p:spPr>
          <a:xfrm>
            <a:off x="457200" y="6446520"/>
            <a:ext cx="11247120" cy="0"/>
          </a:xfrm>
          <a:prstGeom prst="straightConnector1">
            <a:avLst/>
          </a:prstGeom>
          <a:noFill/>
          <a:ln cap="flat" cmpd="sng" w="9525">
            <a:solidFill>
              <a:srgbClr val="3D5478"/>
            </a:solidFill>
            <a:prstDash val="solid"/>
            <a:round/>
            <a:headEnd len="sm" w="sm" type="none"/>
            <a:tailEnd len="sm" w="sm" type="none"/>
          </a:ln>
        </p:spPr>
      </p:cxnSp>
      <p:sp>
        <p:nvSpPr>
          <p:cNvPr id="521" name="Google Shape;521;p11"/>
          <p:cNvSpPr/>
          <p:nvPr/>
        </p:nvSpPr>
        <p:spPr>
          <a:xfrm>
            <a:off x="457200" y="6565392"/>
            <a:ext cx="9601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800"/>
              <a:buFont typeface="Arial"/>
              <a:buNone/>
            </a:pPr>
            <a:r>
              <a:rPr i="1" lang="en-US" sz="800">
                <a:solidFill>
                  <a:srgbClr val="8B95A3"/>
                </a:solidFill>
                <a:latin typeface="Arial"/>
                <a:ea typeface="Arial"/>
                <a:cs typeface="Arial"/>
                <a:sym typeface="Arial"/>
              </a:rPr>
              <a:t>Test set: 599 parcels (15% stratified holdout). Decision threshold: P(built) ≥ 0.5</a:t>
            </a:r>
            <a:endParaRPr sz="800">
              <a:solidFill>
                <a:schemeClr val="dk1"/>
              </a:solidFill>
              <a:latin typeface="Calibri"/>
              <a:ea typeface="Calibri"/>
              <a:cs typeface="Calibri"/>
              <a:sym typeface="Calibri"/>
            </a:endParaRPr>
          </a:p>
        </p:txBody>
      </p:sp>
      <p:sp>
        <p:nvSpPr>
          <p:cNvPr id="522" name="Google Shape;522;p11"/>
          <p:cNvSpPr/>
          <p:nvPr/>
        </p:nvSpPr>
        <p:spPr>
          <a:xfrm>
            <a:off x="10058400" y="6565392"/>
            <a:ext cx="164592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A3"/>
              </a:buClr>
              <a:buSzPts val="800"/>
              <a:buFont typeface="Arial"/>
              <a:buNone/>
            </a:pPr>
            <a:r>
              <a:rPr b="1" lang="en-US" sz="800">
                <a:solidFill>
                  <a:srgbClr val="8B95A3"/>
                </a:solidFill>
                <a:latin typeface="Arial"/>
                <a:ea typeface="Arial"/>
                <a:cs typeface="Arial"/>
                <a:sym typeface="Arial"/>
              </a:rPr>
              <a:t>11 / 19</a:t>
            </a:r>
            <a:endParaRPr sz="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527" name="Shape 527"/>
        <p:cNvGrpSpPr/>
        <p:nvPr/>
      </p:nvGrpSpPr>
      <p:grpSpPr>
        <a:xfrm>
          <a:off x="0" y="0"/>
          <a:ext cx="0" cy="0"/>
          <a:chOff x="0" y="0"/>
          <a:chExt cx="0" cy="0"/>
        </a:xfrm>
      </p:grpSpPr>
      <p:sp>
        <p:nvSpPr>
          <p:cNvPr id="528" name="Google Shape;528;p12"/>
          <p:cNvSpPr/>
          <p:nvPr/>
        </p:nvSpPr>
        <p:spPr>
          <a:xfrm>
            <a:off x="457200" y="365760"/>
            <a:ext cx="320040" cy="18288"/>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12"/>
          <p:cNvSpPr/>
          <p:nvPr/>
        </p:nvSpPr>
        <p:spPr>
          <a:xfrm>
            <a:off x="457200" y="411480"/>
            <a:ext cx="11247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lang="en-US" sz="2800">
                <a:solidFill>
                  <a:srgbClr val="FFFFFF"/>
                </a:solidFill>
                <a:latin typeface="Arial"/>
                <a:ea typeface="Arial"/>
                <a:cs typeface="Arial"/>
                <a:sym typeface="Arial"/>
              </a:rPr>
              <a:t>Confusion Matrices</a:t>
            </a:r>
            <a:endParaRPr sz="2800">
              <a:solidFill>
                <a:schemeClr val="dk1"/>
              </a:solidFill>
              <a:latin typeface="Calibri"/>
              <a:ea typeface="Calibri"/>
              <a:cs typeface="Calibri"/>
              <a:sym typeface="Calibri"/>
            </a:endParaRPr>
          </a:p>
        </p:txBody>
      </p:sp>
      <p:sp>
        <p:nvSpPr>
          <p:cNvPr id="530" name="Google Shape;530;p12"/>
          <p:cNvSpPr/>
          <p:nvPr/>
        </p:nvSpPr>
        <p:spPr>
          <a:xfrm>
            <a:off x="457200" y="960120"/>
            <a:ext cx="11247120" cy="5029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The upgraded baseline CNN holds f</a:t>
            </a:r>
            <a:r>
              <a:rPr b="1" i="1" lang="en-US" sz="1600">
                <a:solidFill>
                  <a:srgbClr val="B8C5D6"/>
                </a:solidFill>
              </a:rPr>
              <a:t>alse positives to 10 of 599</a:t>
            </a:r>
            <a:r>
              <a:rPr i="1" lang="en-US" sz="1600">
                <a:solidFill>
                  <a:srgbClr val="B8C5D6"/>
                </a:solidFill>
                <a:latin typeface="Arial"/>
                <a:ea typeface="Arial"/>
                <a:cs typeface="Arial"/>
                <a:sym typeface="Arial"/>
              </a:rPr>
              <a:t>; both models keep </a:t>
            </a:r>
            <a:r>
              <a:rPr b="1" i="1" lang="en-US" sz="1600">
                <a:solidFill>
                  <a:srgbClr val="B8C5D6"/>
                </a:solidFill>
              </a:rPr>
              <a:t>recall in the low 0.930s</a:t>
            </a:r>
            <a:endParaRPr b="1" sz="1600">
              <a:solidFill>
                <a:schemeClr val="dk1"/>
              </a:solidFill>
              <a:latin typeface="Calibri"/>
              <a:ea typeface="Calibri"/>
              <a:cs typeface="Calibri"/>
              <a:sym typeface="Calibri"/>
            </a:endParaRPr>
          </a:p>
        </p:txBody>
      </p:sp>
      <p:sp>
        <p:nvSpPr>
          <p:cNvPr id="531" name="Google Shape;531;p12"/>
          <p:cNvSpPr/>
          <p:nvPr/>
        </p:nvSpPr>
        <p:spPr>
          <a:xfrm>
            <a:off x="457200" y="1600200"/>
            <a:ext cx="5532120" cy="384048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12"/>
          <p:cNvSpPr/>
          <p:nvPr/>
        </p:nvSpPr>
        <p:spPr>
          <a:xfrm>
            <a:off x="640080" y="1737360"/>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Baseline CNN</a:t>
            </a:r>
            <a:endParaRPr sz="1400">
              <a:solidFill>
                <a:schemeClr val="dk1"/>
              </a:solidFill>
              <a:latin typeface="Calibri"/>
              <a:ea typeface="Calibri"/>
              <a:cs typeface="Calibri"/>
              <a:sym typeface="Calibri"/>
            </a:endParaRPr>
          </a:p>
        </p:txBody>
      </p:sp>
      <p:sp>
        <p:nvSpPr>
          <p:cNvPr id="533" name="Google Shape;533;p12"/>
          <p:cNvSpPr/>
          <p:nvPr/>
        </p:nvSpPr>
        <p:spPr>
          <a:xfrm>
            <a:off x="640080" y="2057400"/>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1100"/>
              <a:buFont typeface="Arial"/>
              <a:buNone/>
            </a:pPr>
            <a:r>
              <a:rPr b="1" lang="en-US" sz="1100">
                <a:solidFill>
                  <a:srgbClr val="C8553D"/>
                </a:solidFill>
                <a:latin typeface="Arial"/>
                <a:ea typeface="Arial"/>
                <a:cs typeface="Arial"/>
                <a:sym typeface="Arial"/>
              </a:rPr>
              <a:t>10 false positives  ·  21 false negatives</a:t>
            </a:r>
            <a:endParaRPr sz="1100">
              <a:solidFill>
                <a:schemeClr val="dk1"/>
              </a:solidFill>
              <a:latin typeface="Calibri"/>
              <a:ea typeface="Calibri"/>
              <a:cs typeface="Calibri"/>
              <a:sym typeface="Calibri"/>
            </a:endParaRPr>
          </a:p>
        </p:txBody>
      </p:sp>
      <p:sp>
        <p:nvSpPr>
          <p:cNvPr id="534" name="Google Shape;534;p12"/>
          <p:cNvSpPr/>
          <p:nvPr/>
        </p:nvSpPr>
        <p:spPr>
          <a:xfrm>
            <a:off x="1837200" y="2410000"/>
            <a:ext cx="387212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5A3"/>
              </a:buClr>
              <a:buSzPts val="900"/>
              <a:buFont typeface="Arial"/>
              <a:buNone/>
            </a:pPr>
            <a:r>
              <a:rPr b="1" lang="en-US" sz="900">
                <a:solidFill>
                  <a:srgbClr val="8B95A3"/>
                </a:solidFill>
                <a:latin typeface="Arial"/>
                <a:ea typeface="Arial"/>
                <a:cs typeface="Arial"/>
                <a:sym typeface="Arial"/>
              </a:rPr>
              <a:t>PREDICTED</a:t>
            </a:r>
            <a:endParaRPr sz="900">
              <a:solidFill>
                <a:schemeClr val="dk1"/>
              </a:solidFill>
              <a:latin typeface="Calibri"/>
              <a:ea typeface="Calibri"/>
              <a:cs typeface="Calibri"/>
              <a:sym typeface="Calibri"/>
            </a:endParaRPr>
          </a:p>
        </p:txBody>
      </p:sp>
      <p:sp>
        <p:nvSpPr>
          <p:cNvPr id="535" name="Google Shape;535;p12"/>
          <p:cNvSpPr/>
          <p:nvPr/>
        </p:nvSpPr>
        <p:spPr>
          <a:xfrm>
            <a:off x="1837200" y="2650000"/>
            <a:ext cx="1936060" cy="2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200"/>
              <a:buFont typeface="Arial"/>
              <a:buNone/>
            </a:pPr>
            <a:r>
              <a:rPr b="1" lang="en-US" sz="1200">
                <a:solidFill>
                  <a:srgbClr val="CADCFC"/>
                </a:solidFill>
                <a:latin typeface="Arial"/>
                <a:ea typeface="Arial"/>
                <a:cs typeface="Arial"/>
                <a:sym typeface="Arial"/>
              </a:rPr>
              <a:t>not built</a:t>
            </a:r>
            <a:endParaRPr sz="1200">
              <a:solidFill>
                <a:schemeClr val="dk1"/>
              </a:solidFill>
              <a:latin typeface="Calibri"/>
              <a:ea typeface="Calibri"/>
              <a:cs typeface="Calibri"/>
              <a:sym typeface="Calibri"/>
            </a:endParaRPr>
          </a:p>
        </p:txBody>
      </p:sp>
      <p:sp>
        <p:nvSpPr>
          <p:cNvPr id="536" name="Google Shape;536;p12"/>
          <p:cNvSpPr/>
          <p:nvPr/>
        </p:nvSpPr>
        <p:spPr>
          <a:xfrm>
            <a:off x="3773260" y="2650000"/>
            <a:ext cx="1936060" cy="2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200"/>
              <a:buFont typeface="Arial"/>
              <a:buNone/>
            </a:pPr>
            <a:r>
              <a:rPr b="1" lang="en-US" sz="1200">
                <a:solidFill>
                  <a:srgbClr val="CADCFC"/>
                </a:solidFill>
                <a:latin typeface="Arial"/>
                <a:ea typeface="Arial"/>
                <a:cs typeface="Arial"/>
                <a:sym typeface="Arial"/>
              </a:rPr>
              <a:t>built</a:t>
            </a:r>
            <a:endParaRPr sz="1200">
              <a:solidFill>
                <a:schemeClr val="dk1"/>
              </a:solidFill>
              <a:latin typeface="Calibri"/>
              <a:ea typeface="Calibri"/>
              <a:cs typeface="Calibri"/>
              <a:sym typeface="Calibri"/>
            </a:endParaRPr>
          </a:p>
        </p:txBody>
      </p:sp>
      <p:sp>
        <p:nvSpPr>
          <p:cNvPr id="537" name="Google Shape;537;p12"/>
          <p:cNvSpPr/>
          <p:nvPr/>
        </p:nvSpPr>
        <p:spPr>
          <a:xfrm>
            <a:off x="937200" y="2930000"/>
            <a:ext cx="820000" cy="1190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200"/>
              <a:buFont typeface="Arial"/>
              <a:buNone/>
            </a:pPr>
            <a:r>
              <a:rPr b="1" lang="en-US" sz="1200">
                <a:solidFill>
                  <a:srgbClr val="CADCFC"/>
                </a:solidFill>
                <a:latin typeface="Arial"/>
                <a:ea typeface="Arial"/>
                <a:cs typeface="Arial"/>
                <a:sym typeface="Arial"/>
              </a:rPr>
              <a:t>not built</a:t>
            </a:r>
            <a:endParaRPr sz="1200">
              <a:solidFill>
                <a:schemeClr val="dk1"/>
              </a:solidFill>
              <a:latin typeface="Calibri"/>
              <a:ea typeface="Calibri"/>
              <a:cs typeface="Calibri"/>
              <a:sym typeface="Calibri"/>
            </a:endParaRPr>
          </a:p>
        </p:txBody>
      </p:sp>
      <p:sp>
        <p:nvSpPr>
          <p:cNvPr id="538" name="Google Shape;538;p12"/>
          <p:cNvSpPr/>
          <p:nvPr/>
        </p:nvSpPr>
        <p:spPr>
          <a:xfrm>
            <a:off x="937200" y="4120000"/>
            <a:ext cx="820000" cy="1190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200"/>
              <a:buFont typeface="Arial"/>
              <a:buNone/>
            </a:pPr>
            <a:r>
              <a:rPr b="1" lang="en-US" sz="1200">
                <a:solidFill>
                  <a:srgbClr val="CADCFC"/>
                </a:solidFill>
                <a:latin typeface="Arial"/>
                <a:ea typeface="Arial"/>
                <a:cs typeface="Arial"/>
                <a:sym typeface="Arial"/>
              </a:rPr>
              <a:t>built</a:t>
            </a:r>
            <a:endParaRPr sz="1200">
              <a:solidFill>
                <a:schemeClr val="dk1"/>
              </a:solidFill>
              <a:latin typeface="Calibri"/>
              <a:ea typeface="Calibri"/>
              <a:cs typeface="Calibri"/>
              <a:sym typeface="Calibri"/>
            </a:endParaRPr>
          </a:p>
        </p:txBody>
      </p:sp>
      <p:sp>
        <p:nvSpPr>
          <p:cNvPr id="539" name="Google Shape;539;p12"/>
          <p:cNvSpPr/>
          <p:nvPr/>
        </p:nvSpPr>
        <p:spPr>
          <a:xfrm>
            <a:off x="1837200" y="2930000"/>
            <a:ext cx="1936060" cy="1190000"/>
          </a:xfrm>
          <a:prstGeom prst="rect">
            <a:avLst/>
          </a:prstGeom>
          <a:solidFill>
            <a:srgbClr val="1F3D2E"/>
          </a:solidFill>
          <a:ln cap="flat" cmpd="sng" w="12700">
            <a:solidFill>
              <a:srgbClr val="5B957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289</a:t>
            </a:r>
            <a:endParaRPr sz="3200">
              <a:solidFill>
                <a:schemeClr val="dk1"/>
              </a:solidFill>
              <a:latin typeface="Calibri"/>
              <a:ea typeface="Calibri"/>
              <a:cs typeface="Calibri"/>
              <a:sym typeface="Calibri"/>
            </a:endParaRPr>
          </a:p>
        </p:txBody>
      </p:sp>
      <p:sp>
        <p:nvSpPr>
          <p:cNvPr id="540" name="Google Shape;540;p12"/>
          <p:cNvSpPr/>
          <p:nvPr/>
        </p:nvSpPr>
        <p:spPr>
          <a:xfrm>
            <a:off x="3773260" y="2930000"/>
            <a:ext cx="1936060" cy="1190000"/>
          </a:xfrm>
          <a:prstGeom prst="rect">
            <a:avLst/>
          </a:prstGeom>
          <a:solidFill>
            <a:srgbClr val="2D1A14"/>
          </a:solidFill>
          <a:ln cap="flat" cmpd="sng" w="9525">
            <a:solidFill>
              <a:srgbClr val="C8553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B8C5D6"/>
              </a:buClr>
              <a:buSzPts val="3200"/>
              <a:buFont typeface="Arial"/>
              <a:buNone/>
            </a:pPr>
            <a:r>
              <a:rPr b="1" lang="en-US" sz="3200">
                <a:solidFill>
                  <a:srgbClr val="B8C5D6"/>
                </a:solidFill>
                <a:latin typeface="Arial"/>
                <a:ea typeface="Arial"/>
                <a:cs typeface="Arial"/>
                <a:sym typeface="Arial"/>
              </a:rPr>
              <a:t>10</a:t>
            </a:r>
            <a:endParaRPr sz="3200">
              <a:solidFill>
                <a:schemeClr val="dk1"/>
              </a:solidFill>
              <a:latin typeface="Calibri"/>
              <a:ea typeface="Calibri"/>
              <a:cs typeface="Calibri"/>
              <a:sym typeface="Calibri"/>
            </a:endParaRPr>
          </a:p>
        </p:txBody>
      </p:sp>
      <p:sp>
        <p:nvSpPr>
          <p:cNvPr id="541" name="Google Shape;541;p12"/>
          <p:cNvSpPr/>
          <p:nvPr/>
        </p:nvSpPr>
        <p:spPr>
          <a:xfrm>
            <a:off x="1837200" y="4120000"/>
            <a:ext cx="1936060" cy="1190000"/>
          </a:xfrm>
          <a:prstGeom prst="rect">
            <a:avLst/>
          </a:prstGeom>
          <a:solidFill>
            <a:srgbClr val="5C2F25"/>
          </a:solidFill>
          <a:ln cap="flat" cmpd="sng" w="9525">
            <a:solidFill>
              <a:srgbClr val="C8553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21</a:t>
            </a:r>
            <a:endParaRPr sz="3200">
              <a:solidFill>
                <a:schemeClr val="dk1"/>
              </a:solidFill>
              <a:latin typeface="Calibri"/>
              <a:ea typeface="Calibri"/>
              <a:cs typeface="Calibri"/>
              <a:sym typeface="Calibri"/>
            </a:endParaRPr>
          </a:p>
        </p:txBody>
      </p:sp>
      <p:sp>
        <p:nvSpPr>
          <p:cNvPr id="542" name="Google Shape;542;p12"/>
          <p:cNvSpPr/>
          <p:nvPr/>
        </p:nvSpPr>
        <p:spPr>
          <a:xfrm>
            <a:off x="3773260" y="4120000"/>
            <a:ext cx="1936060" cy="1190000"/>
          </a:xfrm>
          <a:prstGeom prst="rect">
            <a:avLst/>
          </a:prstGeom>
          <a:solidFill>
            <a:srgbClr val="1F3D2E"/>
          </a:solidFill>
          <a:ln cap="flat" cmpd="sng" w="12700">
            <a:solidFill>
              <a:srgbClr val="5B957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279</a:t>
            </a:r>
            <a:endParaRPr sz="3200">
              <a:solidFill>
                <a:schemeClr val="dk1"/>
              </a:solidFill>
              <a:latin typeface="Calibri"/>
              <a:ea typeface="Calibri"/>
              <a:cs typeface="Calibri"/>
              <a:sym typeface="Calibri"/>
            </a:endParaRPr>
          </a:p>
        </p:txBody>
      </p:sp>
      <p:sp>
        <p:nvSpPr>
          <p:cNvPr id="543" name="Google Shape;543;p12"/>
          <p:cNvSpPr/>
          <p:nvPr/>
        </p:nvSpPr>
        <p:spPr>
          <a:xfrm>
            <a:off x="6172200" y="1600200"/>
            <a:ext cx="5532120" cy="384048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12"/>
          <p:cNvSpPr/>
          <p:nvPr/>
        </p:nvSpPr>
        <p:spPr>
          <a:xfrm>
            <a:off x="6172200" y="1600200"/>
            <a:ext cx="5532120" cy="54864"/>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12"/>
          <p:cNvSpPr/>
          <p:nvPr/>
        </p:nvSpPr>
        <p:spPr>
          <a:xfrm>
            <a:off x="6355080" y="1737360"/>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MobileNetV2</a:t>
            </a:r>
            <a:endParaRPr sz="1400">
              <a:solidFill>
                <a:schemeClr val="dk1"/>
              </a:solidFill>
              <a:latin typeface="Calibri"/>
              <a:ea typeface="Calibri"/>
              <a:cs typeface="Calibri"/>
              <a:sym typeface="Calibri"/>
            </a:endParaRPr>
          </a:p>
        </p:txBody>
      </p:sp>
      <p:sp>
        <p:nvSpPr>
          <p:cNvPr id="546" name="Google Shape;546;p12"/>
          <p:cNvSpPr/>
          <p:nvPr/>
        </p:nvSpPr>
        <p:spPr>
          <a:xfrm>
            <a:off x="6355080" y="2057400"/>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1100"/>
              <a:buFont typeface="Arial"/>
              <a:buNone/>
            </a:pPr>
            <a:r>
              <a:rPr b="1" lang="en-US" sz="1100">
                <a:solidFill>
                  <a:srgbClr val="5B9573"/>
                </a:solidFill>
                <a:latin typeface="Arial"/>
                <a:ea typeface="Arial"/>
                <a:cs typeface="Arial"/>
                <a:sym typeface="Arial"/>
              </a:rPr>
              <a:t>27 false positives  ·  20 false negatives</a:t>
            </a:r>
            <a:endParaRPr sz="1100">
              <a:solidFill>
                <a:schemeClr val="dk1"/>
              </a:solidFill>
              <a:latin typeface="Calibri"/>
              <a:ea typeface="Calibri"/>
              <a:cs typeface="Calibri"/>
              <a:sym typeface="Calibri"/>
            </a:endParaRPr>
          </a:p>
        </p:txBody>
      </p:sp>
      <p:sp>
        <p:nvSpPr>
          <p:cNvPr id="547" name="Google Shape;547;p12"/>
          <p:cNvSpPr/>
          <p:nvPr/>
        </p:nvSpPr>
        <p:spPr>
          <a:xfrm>
            <a:off x="7552200" y="2410000"/>
            <a:ext cx="387212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5A3"/>
              </a:buClr>
              <a:buSzPts val="900"/>
              <a:buFont typeface="Arial"/>
              <a:buNone/>
            </a:pPr>
            <a:r>
              <a:rPr b="1" lang="en-US" sz="900">
                <a:solidFill>
                  <a:srgbClr val="8B95A3"/>
                </a:solidFill>
                <a:latin typeface="Arial"/>
                <a:ea typeface="Arial"/>
                <a:cs typeface="Arial"/>
                <a:sym typeface="Arial"/>
              </a:rPr>
              <a:t>PREDICTED</a:t>
            </a:r>
            <a:endParaRPr sz="900">
              <a:solidFill>
                <a:schemeClr val="dk1"/>
              </a:solidFill>
              <a:latin typeface="Calibri"/>
              <a:ea typeface="Calibri"/>
              <a:cs typeface="Calibri"/>
              <a:sym typeface="Calibri"/>
            </a:endParaRPr>
          </a:p>
        </p:txBody>
      </p:sp>
      <p:sp>
        <p:nvSpPr>
          <p:cNvPr id="548" name="Google Shape;548;p12"/>
          <p:cNvSpPr/>
          <p:nvPr/>
        </p:nvSpPr>
        <p:spPr>
          <a:xfrm>
            <a:off x="7552200" y="2650000"/>
            <a:ext cx="1936060" cy="2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200"/>
              <a:buFont typeface="Arial"/>
              <a:buNone/>
            </a:pPr>
            <a:r>
              <a:rPr b="1" lang="en-US" sz="1200">
                <a:solidFill>
                  <a:srgbClr val="CADCFC"/>
                </a:solidFill>
                <a:latin typeface="Arial"/>
                <a:ea typeface="Arial"/>
                <a:cs typeface="Arial"/>
                <a:sym typeface="Arial"/>
              </a:rPr>
              <a:t>not built</a:t>
            </a:r>
            <a:endParaRPr sz="1200">
              <a:solidFill>
                <a:schemeClr val="dk1"/>
              </a:solidFill>
              <a:latin typeface="Calibri"/>
              <a:ea typeface="Calibri"/>
              <a:cs typeface="Calibri"/>
              <a:sym typeface="Calibri"/>
            </a:endParaRPr>
          </a:p>
        </p:txBody>
      </p:sp>
      <p:sp>
        <p:nvSpPr>
          <p:cNvPr id="549" name="Google Shape;549;p12"/>
          <p:cNvSpPr/>
          <p:nvPr/>
        </p:nvSpPr>
        <p:spPr>
          <a:xfrm>
            <a:off x="9488260" y="2650000"/>
            <a:ext cx="1936060" cy="2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200"/>
              <a:buFont typeface="Arial"/>
              <a:buNone/>
            </a:pPr>
            <a:r>
              <a:rPr b="1" lang="en-US" sz="1200">
                <a:solidFill>
                  <a:srgbClr val="CADCFC"/>
                </a:solidFill>
                <a:latin typeface="Arial"/>
                <a:ea typeface="Arial"/>
                <a:cs typeface="Arial"/>
                <a:sym typeface="Arial"/>
              </a:rPr>
              <a:t>built</a:t>
            </a:r>
            <a:endParaRPr sz="1200">
              <a:solidFill>
                <a:schemeClr val="dk1"/>
              </a:solidFill>
              <a:latin typeface="Calibri"/>
              <a:ea typeface="Calibri"/>
              <a:cs typeface="Calibri"/>
              <a:sym typeface="Calibri"/>
            </a:endParaRPr>
          </a:p>
        </p:txBody>
      </p:sp>
      <p:sp>
        <p:nvSpPr>
          <p:cNvPr id="550" name="Google Shape;550;p12"/>
          <p:cNvSpPr/>
          <p:nvPr/>
        </p:nvSpPr>
        <p:spPr>
          <a:xfrm>
            <a:off x="6652200" y="2930000"/>
            <a:ext cx="820000" cy="1190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200"/>
              <a:buFont typeface="Arial"/>
              <a:buNone/>
            </a:pPr>
            <a:r>
              <a:rPr b="1" lang="en-US" sz="1200">
                <a:solidFill>
                  <a:srgbClr val="CADCFC"/>
                </a:solidFill>
                <a:latin typeface="Arial"/>
                <a:ea typeface="Arial"/>
                <a:cs typeface="Arial"/>
                <a:sym typeface="Arial"/>
              </a:rPr>
              <a:t>not built</a:t>
            </a:r>
            <a:endParaRPr sz="1200">
              <a:solidFill>
                <a:schemeClr val="dk1"/>
              </a:solidFill>
              <a:latin typeface="Calibri"/>
              <a:ea typeface="Calibri"/>
              <a:cs typeface="Calibri"/>
              <a:sym typeface="Calibri"/>
            </a:endParaRPr>
          </a:p>
        </p:txBody>
      </p:sp>
      <p:sp>
        <p:nvSpPr>
          <p:cNvPr id="551" name="Google Shape;551;p12"/>
          <p:cNvSpPr/>
          <p:nvPr/>
        </p:nvSpPr>
        <p:spPr>
          <a:xfrm>
            <a:off x="6652200" y="4120000"/>
            <a:ext cx="820000" cy="1190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200"/>
              <a:buFont typeface="Arial"/>
              <a:buNone/>
            </a:pPr>
            <a:r>
              <a:rPr b="1" lang="en-US" sz="1200">
                <a:solidFill>
                  <a:srgbClr val="CADCFC"/>
                </a:solidFill>
                <a:latin typeface="Arial"/>
                <a:ea typeface="Arial"/>
                <a:cs typeface="Arial"/>
                <a:sym typeface="Arial"/>
              </a:rPr>
              <a:t>built</a:t>
            </a:r>
            <a:endParaRPr sz="1200">
              <a:solidFill>
                <a:schemeClr val="dk1"/>
              </a:solidFill>
              <a:latin typeface="Calibri"/>
              <a:ea typeface="Calibri"/>
              <a:cs typeface="Calibri"/>
              <a:sym typeface="Calibri"/>
            </a:endParaRPr>
          </a:p>
        </p:txBody>
      </p:sp>
      <p:sp>
        <p:nvSpPr>
          <p:cNvPr id="552" name="Google Shape;552;p12"/>
          <p:cNvSpPr/>
          <p:nvPr/>
        </p:nvSpPr>
        <p:spPr>
          <a:xfrm>
            <a:off x="7552200" y="2930000"/>
            <a:ext cx="1936060" cy="1190000"/>
          </a:xfrm>
          <a:prstGeom prst="rect">
            <a:avLst/>
          </a:prstGeom>
          <a:solidFill>
            <a:srgbClr val="1F3D2E"/>
          </a:solidFill>
          <a:ln cap="flat" cmpd="sng" w="12700">
            <a:solidFill>
              <a:srgbClr val="5B957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272</a:t>
            </a:r>
            <a:endParaRPr sz="3200">
              <a:solidFill>
                <a:schemeClr val="dk1"/>
              </a:solidFill>
              <a:latin typeface="Calibri"/>
              <a:ea typeface="Calibri"/>
              <a:cs typeface="Calibri"/>
              <a:sym typeface="Calibri"/>
            </a:endParaRPr>
          </a:p>
        </p:txBody>
      </p:sp>
      <p:sp>
        <p:nvSpPr>
          <p:cNvPr id="553" name="Google Shape;553;p12"/>
          <p:cNvSpPr/>
          <p:nvPr/>
        </p:nvSpPr>
        <p:spPr>
          <a:xfrm>
            <a:off x="9488260" y="2930000"/>
            <a:ext cx="1936060" cy="1190000"/>
          </a:xfrm>
          <a:prstGeom prst="rect">
            <a:avLst/>
          </a:prstGeom>
          <a:solidFill>
            <a:srgbClr val="5C2F25"/>
          </a:solidFill>
          <a:ln cap="flat" cmpd="sng" w="9525">
            <a:solidFill>
              <a:srgbClr val="C8553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27</a:t>
            </a:r>
            <a:endParaRPr sz="3200">
              <a:solidFill>
                <a:schemeClr val="dk1"/>
              </a:solidFill>
              <a:latin typeface="Calibri"/>
              <a:ea typeface="Calibri"/>
              <a:cs typeface="Calibri"/>
              <a:sym typeface="Calibri"/>
            </a:endParaRPr>
          </a:p>
        </p:txBody>
      </p:sp>
      <p:sp>
        <p:nvSpPr>
          <p:cNvPr id="554" name="Google Shape;554;p12"/>
          <p:cNvSpPr/>
          <p:nvPr/>
        </p:nvSpPr>
        <p:spPr>
          <a:xfrm>
            <a:off x="7552200" y="4120000"/>
            <a:ext cx="1936060" cy="1190000"/>
          </a:xfrm>
          <a:prstGeom prst="rect">
            <a:avLst/>
          </a:prstGeom>
          <a:solidFill>
            <a:srgbClr val="5C2F25"/>
          </a:solidFill>
          <a:ln cap="flat" cmpd="sng" w="9525">
            <a:solidFill>
              <a:srgbClr val="C8553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20</a:t>
            </a:r>
            <a:endParaRPr sz="3200">
              <a:solidFill>
                <a:schemeClr val="dk1"/>
              </a:solidFill>
              <a:latin typeface="Calibri"/>
              <a:ea typeface="Calibri"/>
              <a:cs typeface="Calibri"/>
              <a:sym typeface="Calibri"/>
            </a:endParaRPr>
          </a:p>
        </p:txBody>
      </p:sp>
      <p:sp>
        <p:nvSpPr>
          <p:cNvPr id="555" name="Google Shape;555;p12"/>
          <p:cNvSpPr/>
          <p:nvPr/>
        </p:nvSpPr>
        <p:spPr>
          <a:xfrm>
            <a:off x="9488260" y="4120000"/>
            <a:ext cx="1936060" cy="1190000"/>
          </a:xfrm>
          <a:prstGeom prst="rect">
            <a:avLst/>
          </a:prstGeom>
          <a:solidFill>
            <a:srgbClr val="1F3D2E"/>
          </a:solidFill>
          <a:ln cap="flat" cmpd="sng" w="12700">
            <a:solidFill>
              <a:srgbClr val="5B957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280</a:t>
            </a:r>
            <a:endParaRPr sz="3200">
              <a:solidFill>
                <a:schemeClr val="dk1"/>
              </a:solidFill>
              <a:latin typeface="Calibri"/>
              <a:ea typeface="Calibri"/>
              <a:cs typeface="Calibri"/>
              <a:sym typeface="Calibri"/>
            </a:endParaRPr>
          </a:p>
        </p:txBody>
      </p:sp>
      <p:sp>
        <p:nvSpPr>
          <p:cNvPr id="556" name="Google Shape;556;p12"/>
          <p:cNvSpPr/>
          <p:nvPr/>
        </p:nvSpPr>
        <p:spPr>
          <a:xfrm>
            <a:off x="457200" y="5623560"/>
            <a:ext cx="11247120" cy="731520"/>
          </a:xfrm>
          <a:prstGeom prst="rect">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12"/>
          <p:cNvSpPr/>
          <p:nvPr/>
        </p:nvSpPr>
        <p:spPr>
          <a:xfrm>
            <a:off x="640080" y="5669280"/>
            <a:ext cx="10881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Arial"/>
              <a:buNone/>
            </a:pPr>
            <a:r>
              <a:rPr b="1" lang="en-US" sz="1150">
                <a:solidFill>
                  <a:srgbClr val="FFFFFF"/>
                </a:solidFill>
                <a:latin typeface="Arial"/>
                <a:ea typeface="Arial"/>
                <a:cs typeface="Arial"/>
                <a:sym typeface="Arial"/>
              </a:rPr>
              <a:t>What this means:  </a:t>
            </a:r>
            <a:r>
              <a:rPr lang="en-US" sz="1150">
                <a:solidFill>
                  <a:srgbClr val="B8C5D6"/>
                </a:solidFill>
                <a:latin typeface="Arial"/>
                <a:ea typeface="Arial"/>
                <a:cs typeface="Arial"/>
                <a:sym typeface="Arial"/>
              </a:rPr>
              <a:t>Both matrices are roughly symmetric around the diagonal. The baseline is more conservative about predicting "built" (only 10 false positives), MobileNetV2 is slightly more eager (27). Errors at this scale (47 total for baseline, 47 for MobileNetV2) are tractable for follow-up analysis.</a:t>
            </a:r>
            <a:endParaRPr sz="1150">
              <a:solidFill>
                <a:schemeClr val="dk1"/>
              </a:solidFill>
              <a:latin typeface="Calibri"/>
              <a:ea typeface="Calibri"/>
              <a:cs typeface="Calibri"/>
              <a:sym typeface="Calibri"/>
            </a:endParaRPr>
          </a:p>
        </p:txBody>
      </p:sp>
      <p:cxnSp>
        <p:nvCxnSpPr>
          <p:cNvPr id="558" name="Google Shape;558;p12"/>
          <p:cNvCxnSpPr/>
          <p:nvPr/>
        </p:nvCxnSpPr>
        <p:spPr>
          <a:xfrm>
            <a:off x="457200" y="6446520"/>
            <a:ext cx="11247120" cy="0"/>
          </a:xfrm>
          <a:prstGeom prst="straightConnector1">
            <a:avLst/>
          </a:prstGeom>
          <a:noFill/>
          <a:ln cap="flat" cmpd="sng" w="9525">
            <a:solidFill>
              <a:srgbClr val="3D5478"/>
            </a:solidFill>
            <a:prstDash val="solid"/>
            <a:round/>
            <a:headEnd len="sm" w="sm" type="none"/>
            <a:tailEnd len="sm" w="sm" type="none"/>
          </a:ln>
        </p:spPr>
      </p:cxnSp>
      <p:sp>
        <p:nvSpPr>
          <p:cNvPr id="559" name="Google Shape;559;p12"/>
          <p:cNvSpPr/>
          <p:nvPr/>
        </p:nvSpPr>
        <p:spPr>
          <a:xfrm>
            <a:off x="457200" y="6565392"/>
            <a:ext cx="9601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800"/>
              <a:buFont typeface="Arial"/>
              <a:buNone/>
            </a:pPr>
            <a:r>
              <a:rPr i="1" lang="en-US" sz="800">
                <a:solidFill>
                  <a:srgbClr val="8B95A3"/>
                </a:solidFill>
                <a:latin typeface="Arial"/>
                <a:ea typeface="Arial"/>
                <a:cs typeface="Arial"/>
                <a:sym typeface="Arial"/>
              </a:rPr>
              <a:t>Test set: 599 parcels. Decision threshold: P(built) ≥ 0.5</a:t>
            </a:r>
            <a:endParaRPr sz="800">
              <a:solidFill>
                <a:schemeClr val="dk1"/>
              </a:solidFill>
              <a:latin typeface="Calibri"/>
              <a:ea typeface="Calibri"/>
              <a:cs typeface="Calibri"/>
              <a:sym typeface="Calibri"/>
            </a:endParaRPr>
          </a:p>
        </p:txBody>
      </p:sp>
      <p:sp>
        <p:nvSpPr>
          <p:cNvPr id="560" name="Google Shape;560;p12"/>
          <p:cNvSpPr/>
          <p:nvPr/>
        </p:nvSpPr>
        <p:spPr>
          <a:xfrm>
            <a:off x="10058400" y="6565392"/>
            <a:ext cx="164592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A3"/>
              </a:buClr>
              <a:buSzPts val="800"/>
              <a:buFont typeface="Arial"/>
              <a:buNone/>
            </a:pPr>
            <a:r>
              <a:rPr b="1" lang="en-US" sz="800">
                <a:solidFill>
                  <a:srgbClr val="8B95A3"/>
                </a:solidFill>
                <a:latin typeface="Arial"/>
                <a:ea typeface="Arial"/>
                <a:cs typeface="Arial"/>
                <a:sym typeface="Arial"/>
              </a:rPr>
              <a:t>12 / 19</a:t>
            </a:r>
            <a:endParaRPr sz="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565" name="Shape 565"/>
        <p:cNvGrpSpPr/>
        <p:nvPr/>
      </p:nvGrpSpPr>
      <p:grpSpPr>
        <a:xfrm>
          <a:off x="0" y="0"/>
          <a:ext cx="0" cy="0"/>
          <a:chOff x="0" y="0"/>
          <a:chExt cx="0" cy="0"/>
        </a:xfrm>
      </p:grpSpPr>
      <p:sp>
        <p:nvSpPr>
          <p:cNvPr id="566" name="Google Shape;566;p14"/>
          <p:cNvSpPr/>
          <p:nvPr/>
        </p:nvSpPr>
        <p:spPr>
          <a:xfrm>
            <a:off x="457200" y="365760"/>
            <a:ext cx="320040" cy="18288"/>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14"/>
          <p:cNvSpPr/>
          <p:nvPr/>
        </p:nvSpPr>
        <p:spPr>
          <a:xfrm>
            <a:off x="457200" y="411480"/>
            <a:ext cx="11247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lang="en-US" sz="2800">
                <a:solidFill>
                  <a:srgbClr val="FFFFFF"/>
                </a:solidFill>
                <a:latin typeface="Arial"/>
                <a:ea typeface="Arial"/>
                <a:cs typeface="Arial"/>
                <a:sym typeface="Arial"/>
              </a:rPr>
              <a:t>Error Analysis</a:t>
            </a:r>
            <a:endParaRPr sz="2800">
              <a:solidFill>
                <a:schemeClr val="dk1"/>
              </a:solidFill>
              <a:latin typeface="Calibri"/>
              <a:ea typeface="Calibri"/>
              <a:cs typeface="Calibri"/>
              <a:sym typeface="Calibri"/>
            </a:endParaRPr>
          </a:p>
        </p:txBody>
      </p:sp>
      <p:sp>
        <p:nvSpPr>
          <p:cNvPr id="568" name="Google Shape;568;p14"/>
          <p:cNvSpPr/>
          <p:nvPr/>
        </p:nvSpPr>
        <p:spPr>
          <a:xfrm>
            <a:off x="457200" y="960120"/>
            <a:ext cx="11247120" cy="5029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High-confidence model errors found by manual inspection of the disagreement set</a:t>
            </a:r>
            <a:endParaRPr sz="1600">
              <a:solidFill>
                <a:schemeClr val="dk1"/>
              </a:solidFill>
              <a:latin typeface="Calibri"/>
              <a:ea typeface="Calibri"/>
              <a:cs typeface="Calibri"/>
              <a:sym typeface="Calibri"/>
            </a:endParaRPr>
          </a:p>
        </p:txBody>
      </p:sp>
      <p:sp>
        <p:nvSpPr>
          <p:cNvPr id="569" name="Google Shape;569;p14"/>
          <p:cNvSpPr/>
          <p:nvPr/>
        </p:nvSpPr>
        <p:spPr>
          <a:xfrm>
            <a:off x="457200" y="1554480"/>
            <a:ext cx="2697480" cy="384048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14"/>
          <p:cNvSpPr/>
          <p:nvPr/>
        </p:nvSpPr>
        <p:spPr>
          <a:xfrm>
            <a:off x="457200" y="1554480"/>
            <a:ext cx="2697480" cy="54864"/>
          </a:xfrm>
          <a:prstGeom prst="rect">
            <a:avLst/>
          </a:prstGeom>
          <a:solidFill>
            <a:srgbClr val="C8553D"/>
          </a:solidFill>
          <a:ln cap="flat" cmpd="sng" w="12700">
            <a:solidFill>
              <a:srgbClr val="C855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14"/>
          <p:cNvSpPr/>
          <p:nvPr/>
        </p:nvSpPr>
        <p:spPr>
          <a:xfrm>
            <a:off x="594360" y="1691640"/>
            <a:ext cx="24231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553D"/>
              </a:buClr>
              <a:buSzPts val="1000"/>
              <a:buFont typeface="Arial"/>
              <a:buNone/>
            </a:pPr>
            <a:r>
              <a:rPr b="1" lang="en-US" sz="1300">
                <a:solidFill>
                  <a:srgbClr val="C8553D"/>
                </a:solidFill>
                <a:latin typeface="Arial"/>
                <a:ea typeface="Arial"/>
                <a:cs typeface="Arial"/>
                <a:sym typeface="Arial"/>
              </a:rPr>
              <a:t>FALSE POSITIVE</a:t>
            </a:r>
            <a:endParaRPr sz="1300">
              <a:solidFill>
                <a:schemeClr val="dk1"/>
              </a:solidFill>
              <a:latin typeface="Calibri"/>
              <a:ea typeface="Calibri"/>
              <a:cs typeface="Calibri"/>
              <a:sym typeface="Calibri"/>
            </a:endParaRPr>
          </a:p>
        </p:txBody>
      </p:sp>
      <p:pic>
        <p:nvPicPr>
          <p:cNvPr descr="/home/claude/panels/disagree_fp1.png" id="572" name="Google Shape;572;p14"/>
          <p:cNvPicPr preferRelativeResize="0"/>
          <p:nvPr/>
        </p:nvPicPr>
        <p:blipFill rotWithShape="1">
          <a:blip r:embed="rId3">
            <a:alphaModFix/>
          </a:blip>
          <a:srcRect b="0" l="1350" r="51153" t="19023"/>
          <a:stretch/>
        </p:blipFill>
        <p:spPr>
          <a:xfrm>
            <a:off x="1084422" y="1988632"/>
            <a:ext cx="1443037" cy="1531807"/>
          </a:xfrm>
          <a:prstGeom prst="rect">
            <a:avLst/>
          </a:prstGeom>
          <a:noFill/>
          <a:ln>
            <a:noFill/>
          </a:ln>
        </p:spPr>
      </p:pic>
      <p:sp>
        <p:nvSpPr>
          <p:cNvPr id="573" name="Google Shape;573;p14"/>
          <p:cNvSpPr/>
          <p:nvPr/>
        </p:nvSpPr>
        <p:spPr>
          <a:xfrm>
            <a:off x="640080" y="3611880"/>
            <a:ext cx="1005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750"/>
              <a:buFont typeface="Arial"/>
              <a:buNone/>
            </a:pPr>
            <a:r>
              <a:rPr b="1" lang="en-US" sz="900">
                <a:solidFill>
                  <a:srgbClr val="8B95A3"/>
                </a:solidFill>
                <a:latin typeface="Arial"/>
                <a:ea typeface="Arial"/>
                <a:cs typeface="Arial"/>
                <a:sym typeface="Arial"/>
              </a:rPr>
              <a:t>TRUE</a:t>
            </a:r>
            <a:endParaRPr sz="900">
              <a:solidFill>
                <a:schemeClr val="dk1"/>
              </a:solidFill>
              <a:latin typeface="Calibri"/>
              <a:ea typeface="Calibri"/>
              <a:cs typeface="Calibri"/>
              <a:sym typeface="Calibri"/>
            </a:endParaRPr>
          </a:p>
        </p:txBody>
      </p:sp>
      <p:sp>
        <p:nvSpPr>
          <p:cNvPr id="574" name="Google Shape;574;p14"/>
          <p:cNvSpPr/>
          <p:nvPr/>
        </p:nvSpPr>
        <p:spPr>
          <a:xfrm>
            <a:off x="1645920" y="3611880"/>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0 (not built)</a:t>
            </a:r>
            <a:endParaRPr sz="1100">
              <a:solidFill>
                <a:schemeClr val="dk1"/>
              </a:solidFill>
              <a:latin typeface="Calibri"/>
              <a:ea typeface="Calibri"/>
              <a:cs typeface="Calibri"/>
              <a:sym typeface="Calibri"/>
            </a:endParaRPr>
          </a:p>
        </p:txBody>
      </p:sp>
      <p:sp>
        <p:nvSpPr>
          <p:cNvPr id="575" name="Google Shape;575;p14"/>
          <p:cNvSpPr/>
          <p:nvPr/>
        </p:nvSpPr>
        <p:spPr>
          <a:xfrm>
            <a:off x="640080" y="3904488"/>
            <a:ext cx="1005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750"/>
              <a:buFont typeface="Arial"/>
              <a:buNone/>
            </a:pPr>
            <a:r>
              <a:rPr b="1" lang="en-US" sz="900">
                <a:solidFill>
                  <a:srgbClr val="8B95A3"/>
                </a:solidFill>
                <a:latin typeface="Arial"/>
                <a:ea typeface="Arial"/>
                <a:cs typeface="Arial"/>
                <a:sym typeface="Arial"/>
              </a:rPr>
              <a:t>PRED</a:t>
            </a:r>
            <a:endParaRPr sz="900">
              <a:solidFill>
                <a:schemeClr val="dk1"/>
              </a:solidFill>
              <a:latin typeface="Calibri"/>
              <a:ea typeface="Calibri"/>
              <a:cs typeface="Calibri"/>
              <a:sym typeface="Calibri"/>
            </a:endParaRPr>
          </a:p>
        </p:txBody>
      </p:sp>
      <p:sp>
        <p:nvSpPr>
          <p:cNvPr id="576" name="Google Shape;576;p14"/>
          <p:cNvSpPr/>
          <p:nvPr/>
        </p:nvSpPr>
        <p:spPr>
          <a:xfrm>
            <a:off x="1645920" y="3904488"/>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1 (built)</a:t>
            </a:r>
            <a:endParaRPr sz="1100">
              <a:solidFill>
                <a:schemeClr val="dk1"/>
              </a:solidFill>
              <a:latin typeface="Calibri"/>
              <a:ea typeface="Calibri"/>
              <a:cs typeface="Calibri"/>
              <a:sym typeface="Calibri"/>
            </a:endParaRPr>
          </a:p>
        </p:txBody>
      </p:sp>
      <p:sp>
        <p:nvSpPr>
          <p:cNvPr id="577" name="Google Shape;577;p14"/>
          <p:cNvSpPr/>
          <p:nvPr/>
        </p:nvSpPr>
        <p:spPr>
          <a:xfrm>
            <a:off x="640080" y="4197096"/>
            <a:ext cx="1005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750"/>
              <a:buFont typeface="Arial"/>
              <a:buNone/>
            </a:pPr>
            <a:r>
              <a:rPr b="1" lang="en-US" sz="900">
                <a:solidFill>
                  <a:srgbClr val="8B95A3"/>
                </a:solidFill>
                <a:latin typeface="Arial"/>
                <a:ea typeface="Arial"/>
                <a:cs typeface="Arial"/>
                <a:sym typeface="Arial"/>
              </a:rPr>
              <a:t>CONFIDENCE</a:t>
            </a:r>
            <a:endParaRPr sz="900">
              <a:solidFill>
                <a:schemeClr val="dk1"/>
              </a:solidFill>
              <a:latin typeface="Calibri"/>
              <a:ea typeface="Calibri"/>
              <a:cs typeface="Calibri"/>
              <a:sym typeface="Calibri"/>
            </a:endParaRPr>
          </a:p>
        </p:txBody>
      </p:sp>
      <p:sp>
        <p:nvSpPr>
          <p:cNvPr id="578" name="Google Shape;578;p14"/>
          <p:cNvSpPr/>
          <p:nvPr/>
        </p:nvSpPr>
        <p:spPr>
          <a:xfrm>
            <a:off x="1645920" y="4197096"/>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P = 0.99</a:t>
            </a:r>
            <a:endParaRPr sz="1100">
              <a:solidFill>
                <a:schemeClr val="dk1"/>
              </a:solidFill>
              <a:latin typeface="Calibri"/>
              <a:ea typeface="Calibri"/>
              <a:cs typeface="Calibri"/>
              <a:sym typeface="Calibri"/>
            </a:endParaRPr>
          </a:p>
        </p:txBody>
      </p:sp>
      <p:cxnSp>
        <p:nvCxnSpPr>
          <p:cNvPr id="579" name="Google Shape;579;p14"/>
          <p:cNvCxnSpPr/>
          <p:nvPr/>
        </p:nvCxnSpPr>
        <p:spPr>
          <a:xfrm>
            <a:off x="640080" y="4572000"/>
            <a:ext cx="2331720" cy="0"/>
          </a:xfrm>
          <a:prstGeom prst="straightConnector1">
            <a:avLst/>
          </a:prstGeom>
          <a:noFill/>
          <a:ln cap="flat" cmpd="sng" w="9525">
            <a:solidFill>
              <a:srgbClr val="2A4870"/>
            </a:solidFill>
            <a:prstDash val="solid"/>
            <a:round/>
            <a:headEnd len="sm" w="sm" type="none"/>
            <a:tailEnd len="sm" w="sm" type="none"/>
          </a:ln>
        </p:spPr>
      </p:cxnSp>
      <p:sp>
        <p:nvSpPr>
          <p:cNvPr id="580" name="Google Shape;580;p14"/>
          <p:cNvSpPr/>
          <p:nvPr/>
        </p:nvSpPr>
        <p:spPr>
          <a:xfrm>
            <a:off x="640080" y="4663440"/>
            <a:ext cx="233172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8C5D6"/>
              </a:buClr>
              <a:buSzPts val="1000"/>
              <a:buFont typeface="Arial"/>
              <a:buNone/>
            </a:pPr>
            <a:r>
              <a:rPr b="1" i="1" lang="en-US" sz="1200">
                <a:solidFill>
                  <a:schemeClr val="lt2"/>
                </a:solidFill>
              </a:rPr>
              <a:t>Open land. Model over-predicts built from neighboring built-up context.</a:t>
            </a:r>
            <a:endParaRPr b="1" sz="1200">
              <a:solidFill>
                <a:schemeClr val="lt2"/>
              </a:solidFill>
              <a:latin typeface="Calibri"/>
              <a:ea typeface="Calibri"/>
              <a:cs typeface="Calibri"/>
              <a:sym typeface="Calibri"/>
            </a:endParaRPr>
          </a:p>
        </p:txBody>
      </p:sp>
      <p:sp>
        <p:nvSpPr>
          <p:cNvPr id="581" name="Google Shape;581;p14"/>
          <p:cNvSpPr/>
          <p:nvPr/>
        </p:nvSpPr>
        <p:spPr>
          <a:xfrm>
            <a:off x="3291840" y="1554480"/>
            <a:ext cx="2697600" cy="384060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14"/>
          <p:cNvSpPr/>
          <p:nvPr/>
        </p:nvSpPr>
        <p:spPr>
          <a:xfrm>
            <a:off x="3291840" y="1554480"/>
            <a:ext cx="2697480" cy="54864"/>
          </a:xfrm>
          <a:prstGeom prst="rect">
            <a:avLst/>
          </a:prstGeom>
          <a:solidFill>
            <a:srgbClr val="C8553D"/>
          </a:solidFill>
          <a:ln cap="flat" cmpd="sng" w="12700">
            <a:solidFill>
              <a:srgbClr val="C855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14"/>
          <p:cNvSpPr/>
          <p:nvPr/>
        </p:nvSpPr>
        <p:spPr>
          <a:xfrm>
            <a:off x="3429000" y="1691640"/>
            <a:ext cx="24231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553D"/>
              </a:buClr>
              <a:buSzPts val="1000"/>
              <a:buFont typeface="Arial"/>
              <a:buNone/>
            </a:pPr>
            <a:r>
              <a:rPr b="1" lang="en-US" sz="1300">
                <a:solidFill>
                  <a:srgbClr val="C8553D"/>
                </a:solidFill>
                <a:latin typeface="Arial"/>
                <a:ea typeface="Arial"/>
                <a:cs typeface="Arial"/>
                <a:sym typeface="Arial"/>
              </a:rPr>
              <a:t>FALSE POSITIVE</a:t>
            </a:r>
            <a:endParaRPr sz="1300">
              <a:solidFill>
                <a:schemeClr val="dk1"/>
              </a:solidFill>
              <a:latin typeface="Calibri"/>
              <a:ea typeface="Calibri"/>
              <a:cs typeface="Calibri"/>
              <a:sym typeface="Calibri"/>
            </a:endParaRPr>
          </a:p>
        </p:txBody>
      </p:sp>
      <p:pic>
        <p:nvPicPr>
          <p:cNvPr descr="/home/claude/panels/disagree_fp2.png" id="584" name="Google Shape;584;p14"/>
          <p:cNvPicPr preferRelativeResize="0"/>
          <p:nvPr/>
        </p:nvPicPr>
        <p:blipFill rotWithShape="1">
          <a:blip r:embed="rId4">
            <a:alphaModFix/>
          </a:blip>
          <a:srcRect b="0" l="1311" r="50929" t="15131"/>
          <a:stretch/>
        </p:blipFill>
        <p:spPr>
          <a:xfrm>
            <a:off x="3948361" y="1988632"/>
            <a:ext cx="1384439" cy="1531807"/>
          </a:xfrm>
          <a:prstGeom prst="rect">
            <a:avLst/>
          </a:prstGeom>
          <a:noFill/>
          <a:ln>
            <a:noFill/>
          </a:ln>
        </p:spPr>
      </p:pic>
      <p:sp>
        <p:nvSpPr>
          <p:cNvPr id="585" name="Google Shape;585;p14"/>
          <p:cNvSpPr/>
          <p:nvPr/>
        </p:nvSpPr>
        <p:spPr>
          <a:xfrm>
            <a:off x="3474720" y="3611880"/>
            <a:ext cx="1005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750"/>
              <a:buFont typeface="Arial"/>
              <a:buNone/>
            </a:pPr>
            <a:r>
              <a:rPr b="1" lang="en-US" sz="900">
                <a:solidFill>
                  <a:srgbClr val="8B95A3"/>
                </a:solidFill>
                <a:latin typeface="Arial"/>
                <a:ea typeface="Arial"/>
                <a:cs typeface="Arial"/>
                <a:sym typeface="Arial"/>
              </a:rPr>
              <a:t>TRUE</a:t>
            </a:r>
            <a:endParaRPr sz="900">
              <a:solidFill>
                <a:schemeClr val="dk1"/>
              </a:solidFill>
              <a:latin typeface="Calibri"/>
              <a:ea typeface="Calibri"/>
              <a:cs typeface="Calibri"/>
              <a:sym typeface="Calibri"/>
            </a:endParaRPr>
          </a:p>
        </p:txBody>
      </p:sp>
      <p:sp>
        <p:nvSpPr>
          <p:cNvPr id="586" name="Google Shape;586;p14"/>
          <p:cNvSpPr/>
          <p:nvPr/>
        </p:nvSpPr>
        <p:spPr>
          <a:xfrm>
            <a:off x="4480560" y="3611880"/>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0 (not built)</a:t>
            </a:r>
            <a:endParaRPr sz="1100">
              <a:solidFill>
                <a:schemeClr val="dk1"/>
              </a:solidFill>
              <a:latin typeface="Calibri"/>
              <a:ea typeface="Calibri"/>
              <a:cs typeface="Calibri"/>
              <a:sym typeface="Calibri"/>
            </a:endParaRPr>
          </a:p>
        </p:txBody>
      </p:sp>
      <p:sp>
        <p:nvSpPr>
          <p:cNvPr id="587" name="Google Shape;587;p14"/>
          <p:cNvSpPr/>
          <p:nvPr/>
        </p:nvSpPr>
        <p:spPr>
          <a:xfrm>
            <a:off x="3474720" y="3904488"/>
            <a:ext cx="1005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750"/>
              <a:buFont typeface="Arial"/>
              <a:buNone/>
            </a:pPr>
            <a:r>
              <a:rPr b="1" lang="en-US" sz="900">
                <a:solidFill>
                  <a:srgbClr val="8B95A3"/>
                </a:solidFill>
                <a:latin typeface="Arial"/>
                <a:ea typeface="Arial"/>
                <a:cs typeface="Arial"/>
                <a:sym typeface="Arial"/>
              </a:rPr>
              <a:t>PRED</a:t>
            </a:r>
            <a:endParaRPr sz="900">
              <a:solidFill>
                <a:schemeClr val="dk1"/>
              </a:solidFill>
              <a:latin typeface="Calibri"/>
              <a:ea typeface="Calibri"/>
              <a:cs typeface="Calibri"/>
              <a:sym typeface="Calibri"/>
            </a:endParaRPr>
          </a:p>
        </p:txBody>
      </p:sp>
      <p:sp>
        <p:nvSpPr>
          <p:cNvPr id="588" name="Google Shape;588;p14"/>
          <p:cNvSpPr/>
          <p:nvPr/>
        </p:nvSpPr>
        <p:spPr>
          <a:xfrm>
            <a:off x="4480560" y="3904488"/>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1 (built)</a:t>
            </a:r>
            <a:endParaRPr sz="1100">
              <a:solidFill>
                <a:schemeClr val="dk1"/>
              </a:solidFill>
              <a:latin typeface="Calibri"/>
              <a:ea typeface="Calibri"/>
              <a:cs typeface="Calibri"/>
              <a:sym typeface="Calibri"/>
            </a:endParaRPr>
          </a:p>
        </p:txBody>
      </p:sp>
      <p:sp>
        <p:nvSpPr>
          <p:cNvPr id="589" name="Google Shape;589;p14"/>
          <p:cNvSpPr/>
          <p:nvPr/>
        </p:nvSpPr>
        <p:spPr>
          <a:xfrm>
            <a:off x="3474720" y="4197096"/>
            <a:ext cx="1005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750"/>
              <a:buFont typeface="Arial"/>
              <a:buNone/>
            </a:pPr>
            <a:r>
              <a:rPr b="1" lang="en-US" sz="900">
                <a:solidFill>
                  <a:srgbClr val="8B95A3"/>
                </a:solidFill>
                <a:latin typeface="Arial"/>
                <a:ea typeface="Arial"/>
                <a:cs typeface="Arial"/>
                <a:sym typeface="Arial"/>
              </a:rPr>
              <a:t>CONFIDENCE</a:t>
            </a:r>
            <a:endParaRPr sz="900">
              <a:solidFill>
                <a:schemeClr val="dk1"/>
              </a:solidFill>
              <a:latin typeface="Calibri"/>
              <a:ea typeface="Calibri"/>
              <a:cs typeface="Calibri"/>
              <a:sym typeface="Calibri"/>
            </a:endParaRPr>
          </a:p>
        </p:txBody>
      </p:sp>
      <p:sp>
        <p:nvSpPr>
          <p:cNvPr id="590" name="Google Shape;590;p14"/>
          <p:cNvSpPr/>
          <p:nvPr/>
        </p:nvSpPr>
        <p:spPr>
          <a:xfrm>
            <a:off x="4480560" y="4197096"/>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P = 0.96</a:t>
            </a:r>
            <a:endParaRPr sz="1100">
              <a:solidFill>
                <a:schemeClr val="dk1"/>
              </a:solidFill>
              <a:latin typeface="Calibri"/>
              <a:ea typeface="Calibri"/>
              <a:cs typeface="Calibri"/>
              <a:sym typeface="Calibri"/>
            </a:endParaRPr>
          </a:p>
        </p:txBody>
      </p:sp>
      <p:cxnSp>
        <p:nvCxnSpPr>
          <p:cNvPr id="591" name="Google Shape;591;p14"/>
          <p:cNvCxnSpPr/>
          <p:nvPr/>
        </p:nvCxnSpPr>
        <p:spPr>
          <a:xfrm>
            <a:off x="3474720" y="4572000"/>
            <a:ext cx="2331720" cy="0"/>
          </a:xfrm>
          <a:prstGeom prst="straightConnector1">
            <a:avLst/>
          </a:prstGeom>
          <a:noFill/>
          <a:ln cap="flat" cmpd="sng" w="9525">
            <a:solidFill>
              <a:srgbClr val="2A4870"/>
            </a:solidFill>
            <a:prstDash val="solid"/>
            <a:round/>
            <a:headEnd len="sm" w="sm" type="none"/>
            <a:tailEnd len="sm" w="sm" type="none"/>
          </a:ln>
        </p:spPr>
      </p:cxnSp>
      <p:sp>
        <p:nvSpPr>
          <p:cNvPr id="592" name="Google Shape;592;p14"/>
          <p:cNvSpPr/>
          <p:nvPr/>
        </p:nvSpPr>
        <p:spPr>
          <a:xfrm>
            <a:off x="3474720" y="4663440"/>
            <a:ext cx="233172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8C5D6"/>
              </a:buClr>
              <a:buSzPts val="1000"/>
              <a:buFont typeface="Arial"/>
              <a:buNone/>
            </a:pPr>
            <a:r>
              <a:rPr b="1" i="1" lang="en-US" sz="1200">
                <a:solidFill>
                  <a:schemeClr val="lt2"/>
                </a:solidFill>
              </a:rPr>
              <a:t>Paved or vegetated parcel. Shared roof patterns bleed in despite the mask.</a:t>
            </a:r>
            <a:endParaRPr b="1" sz="1200">
              <a:solidFill>
                <a:schemeClr val="lt2"/>
              </a:solidFill>
              <a:latin typeface="Calibri"/>
              <a:ea typeface="Calibri"/>
              <a:cs typeface="Calibri"/>
              <a:sym typeface="Calibri"/>
            </a:endParaRPr>
          </a:p>
        </p:txBody>
      </p:sp>
      <p:sp>
        <p:nvSpPr>
          <p:cNvPr id="593" name="Google Shape;593;p14"/>
          <p:cNvSpPr/>
          <p:nvPr/>
        </p:nvSpPr>
        <p:spPr>
          <a:xfrm>
            <a:off x="6126480" y="1554480"/>
            <a:ext cx="2697480" cy="384048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14"/>
          <p:cNvSpPr/>
          <p:nvPr/>
        </p:nvSpPr>
        <p:spPr>
          <a:xfrm>
            <a:off x="6126480" y="1554480"/>
            <a:ext cx="2697480" cy="54864"/>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14"/>
          <p:cNvSpPr/>
          <p:nvPr/>
        </p:nvSpPr>
        <p:spPr>
          <a:xfrm>
            <a:off x="6263640" y="1691640"/>
            <a:ext cx="24231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9573"/>
              </a:buClr>
              <a:buSzPts val="1000"/>
              <a:buFont typeface="Arial"/>
              <a:buNone/>
            </a:pPr>
            <a:r>
              <a:rPr b="1" lang="en-US" sz="1300">
                <a:solidFill>
                  <a:srgbClr val="5B9573"/>
                </a:solidFill>
                <a:latin typeface="Arial"/>
                <a:ea typeface="Arial"/>
                <a:cs typeface="Arial"/>
                <a:sym typeface="Arial"/>
              </a:rPr>
              <a:t>FALSE NEGATIVE</a:t>
            </a:r>
            <a:endParaRPr sz="1300">
              <a:solidFill>
                <a:schemeClr val="dk1"/>
              </a:solidFill>
              <a:latin typeface="Calibri"/>
              <a:ea typeface="Calibri"/>
              <a:cs typeface="Calibri"/>
              <a:sym typeface="Calibri"/>
            </a:endParaRPr>
          </a:p>
        </p:txBody>
      </p:sp>
      <p:pic>
        <p:nvPicPr>
          <p:cNvPr descr="/home/claude/panels/disagree_fn1.png" id="596" name="Google Shape;596;p14"/>
          <p:cNvPicPr preferRelativeResize="0"/>
          <p:nvPr/>
        </p:nvPicPr>
        <p:blipFill rotWithShape="1">
          <a:blip r:embed="rId5">
            <a:alphaModFix/>
          </a:blip>
          <a:srcRect b="0" l="1336" r="51101" t="12921"/>
          <a:stretch/>
        </p:blipFill>
        <p:spPr>
          <a:xfrm>
            <a:off x="6803343" y="1988632"/>
            <a:ext cx="1343755" cy="1531807"/>
          </a:xfrm>
          <a:prstGeom prst="rect">
            <a:avLst/>
          </a:prstGeom>
          <a:noFill/>
          <a:ln>
            <a:noFill/>
          </a:ln>
        </p:spPr>
      </p:pic>
      <p:sp>
        <p:nvSpPr>
          <p:cNvPr id="597" name="Google Shape;597;p14"/>
          <p:cNvSpPr/>
          <p:nvPr/>
        </p:nvSpPr>
        <p:spPr>
          <a:xfrm>
            <a:off x="6309360" y="3611880"/>
            <a:ext cx="1005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750"/>
              <a:buFont typeface="Arial"/>
              <a:buNone/>
            </a:pPr>
            <a:r>
              <a:rPr b="1" lang="en-US" sz="900">
                <a:solidFill>
                  <a:srgbClr val="8B95A3"/>
                </a:solidFill>
                <a:latin typeface="Arial"/>
                <a:ea typeface="Arial"/>
                <a:cs typeface="Arial"/>
                <a:sym typeface="Arial"/>
              </a:rPr>
              <a:t>TRUE</a:t>
            </a:r>
            <a:endParaRPr sz="900">
              <a:solidFill>
                <a:schemeClr val="dk1"/>
              </a:solidFill>
              <a:latin typeface="Calibri"/>
              <a:ea typeface="Calibri"/>
              <a:cs typeface="Calibri"/>
              <a:sym typeface="Calibri"/>
            </a:endParaRPr>
          </a:p>
        </p:txBody>
      </p:sp>
      <p:sp>
        <p:nvSpPr>
          <p:cNvPr id="598" name="Google Shape;598;p14"/>
          <p:cNvSpPr/>
          <p:nvPr/>
        </p:nvSpPr>
        <p:spPr>
          <a:xfrm>
            <a:off x="7315200" y="3611880"/>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1 (built)</a:t>
            </a:r>
            <a:endParaRPr sz="1100">
              <a:solidFill>
                <a:schemeClr val="dk1"/>
              </a:solidFill>
              <a:latin typeface="Calibri"/>
              <a:ea typeface="Calibri"/>
              <a:cs typeface="Calibri"/>
              <a:sym typeface="Calibri"/>
            </a:endParaRPr>
          </a:p>
        </p:txBody>
      </p:sp>
      <p:sp>
        <p:nvSpPr>
          <p:cNvPr id="599" name="Google Shape;599;p14"/>
          <p:cNvSpPr/>
          <p:nvPr/>
        </p:nvSpPr>
        <p:spPr>
          <a:xfrm>
            <a:off x="6309360" y="3904488"/>
            <a:ext cx="1005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750"/>
              <a:buFont typeface="Arial"/>
              <a:buNone/>
            </a:pPr>
            <a:r>
              <a:rPr b="1" lang="en-US" sz="900">
                <a:solidFill>
                  <a:srgbClr val="8B95A3"/>
                </a:solidFill>
                <a:latin typeface="Arial"/>
                <a:ea typeface="Arial"/>
                <a:cs typeface="Arial"/>
                <a:sym typeface="Arial"/>
              </a:rPr>
              <a:t>PRED</a:t>
            </a:r>
            <a:endParaRPr sz="900">
              <a:solidFill>
                <a:schemeClr val="dk1"/>
              </a:solidFill>
              <a:latin typeface="Calibri"/>
              <a:ea typeface="Calibri"/>
              <a:cs typeface="Calibri"/>
              <a:sym typeface="Calibri"/>
            </a:endParaRPr>
          </a:p>
        </p:txBody>
      </p:sp>
      <p:sp>
        <p:nvSpPr>
          <p:cNvPr id="600" name="Google Shape;600;p14"/>
          <p:cNvSpPr/>
          <p:nvPr/>
        </p:nvSpPr>
        <p:spPr>
          <a:xfrm>
            <a:off x="7315200" y="3904488"/>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0 (not built)</a:t>
            </a:r>
            <a:endParaRPr sz="1100">
              <a:solidFill>
                <a:schemeClr val="dk1"/>
              </a:solidFill>
              <a:latin typeface="Calibri"/>
              <a:ea typeface="Calibri"/>
              <a:cs typeface="Calibri"/>
              <a:sym typeface="Calibri"/>
            </a:endParaRPr>
          </a:p>
        </p:txBody>
      </p:sp>
      <p:sp>
        <p:nvSpPr>
          <p:cNvPr id="601" name="Google Shape;601;p14"/>
          <p:cNvSpPr/>
          <p:nvPr/>
        </p:nvSpPr>
        <p:spPr>
          <a:xfrm>
            <a:off x="6309360" y="4197096"/>
            <a:ext cx="1005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750"/>
              <a:buFont typeface="Arial"/>
              <a:buNone/>
            </a:pPr>
            <a:r>
              <a:rPr b="1" lang="en-US" sz="900">
                <a:solidFill>
                  <a:srgbClr val="8B95A3"/>
                </a:solidFill>
                <a:latin typeface="Arial"/>
                <a:ea typeface="Arial"/>
                <a:cs typeface="Arial"/>
                <a:sym typeface="Arial"/>
              </a:rPr>
              <a:t>CONFIDENCE</a:t>
            </a:r>
            <a:endParaRPr sz="900">
              <a:solidFill>
                <a:schemeClr val="dk1"/>
              </a:solidFill>
              <a:latin typeface="Calibri"/>
              <a:ea typeface="Calibri"/>
              <a:cs typeface="Calibri"/>
              <a:sym typeface="Calibri"/>
            </a:endParaRPr>
          </a:p>
        </p:txBody>
      </p:sp>
      <p:sp>
        <p:nvSpPr>
          <p:cNvPr id="602" name="Google Shape;602;p14"/>
          <p:cNvSpPr/>
          <p:nvPr/>
        </p:nvSpPr>
        <p:spPr>
          <a:xfrm>
            <a:off x="7315200" y="4197096"/>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P = 0.02</a:t>
            </a:r>
            <a:endParaRPr sz="1100">
              <a:solidFill>
                <a:schemeClr val="dk1"/>
              </a:solidFill>
              <a:latin typeface="Calibri"/>
              <a:ea typeface="Calibri"/>
              <a:cs typeface="Calibri"/>
              <a:sym typeface="Calibri"/>
            </a:endParaRPr>
          </a:p>
        </p:txBody>
      </p:sp>
      <p:cxnSp>
        <p:nvCxnSpPr>
          <p:cNvPr id="603" name="Google Shape;603;p14"/>
          <p:cNvCxnSpPr/>
          <p:nvPr/>
        </p:nvCxnSpPr>
        <p:spPr>
          <a:xfrm>
            <a:off x="6309360" y="4572000"/>
            <a:ext cx="2331720" cy="0"/>
          </a:xfrm>
          <a:prstGeom prst="straightConnector1">
            <a:avLst/>
          </a:prstGeom>
          <a:noFill/>
          <a:ln cap="flat" cmpd="sng" w="9525">
            <a:solidFill>
              <a:srgbClr val="2A4870"/>
            </a:solidFill>
            <a:prstDash val="solid"/>
            <a:round/>
            <a:headEnd len="sm" w="sm" type="none"/>
            <a:tailEnd len="sm" w="sm" type="none"/>
          </a:ln>
        </p:spPr>
      </p:cxnSp>
      <p:sp>
        <p:nvSpPr>
          <p:cNvPr id="604" name="Google Shape;604;p14"/>
          <p:cNvSpPr/>
          <p:nvPr/>
        </p:nvSpPr>
        <p:spPr>
          <a:xfrm>
            <a:off x="6309360" y="4663440"/>
            <a:ext cx="233172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8C5D6"/>
              </a:buClr>
              <a:buSzPts val="1000"/>
              <a:buFont typeface="Arial"/>
              <a:buNone/>
            </a:pPr>
            <a:r>
              <a:rPr b="1" i="1" lang="en-US" sz="1200">
                <a:solidFill>
                  <a:schemeClr val="lt2"/>
                </a:solidFill>
              </a:rPr>
              <a:t>Building present but small or partially occluded by tree canopy.</a:t>
            </a:r>
            <a:endParaRPr b="1" sz="1200">
              <a:solidFill>
                <a:schemeClr val="lt2"/>
              </a:solidFill>
              <a:latin typeface="Calibri"/>
              <a:ea typeface="Calibri"/>
              <a:cs typeface="Calibri"/>
              <a:sym typeface="Calibri"/>
            </a:endParaRPr>
          </a:p>
        </p:txBody>
      </p:sp>
      <p:sp>
        <p:nvSpPr>
          <p:cNvPr id="605" name="Google Shape;605;p14"/>
          <p:cNvSpPr/>
          <p:nvPr/>
        </p:nvSpPr>
        <p:spPr>
          <a:xfrm>
            <a:off x="8961120" y="1554480"/>
            <a:ext cx="2697480" cy="384048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14"/>
          <p:cNvSpPr/>
          <p:nvPr/>
        </p:nvSpPr>
        <p:spPr>
          <a:xfrm>
            <a:off x="8961120" y="1554480"/>
            <a:ext cx="2697480" cy="54864"/>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14"/>
          <p:cNvSpPr/>
          <p:nvPr/>
        </p:nvSpPr>
        <p:spPr>
          <a:xfrm>
            <a:off x="9098280" y="1691640"/>
            <a:ext cx="24231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9573"/>
              </a:buClr>
              <a:buSzPts val="1000"/>
              <a:buFont typeface="Arial"/>
              <a:buNone/>
            </a:pPr>
            <a:r>
              <a:rPr b="1" lang="en-US" sz="1300">
                <a:solidFill>
                  <a:srgbClr val="5B9573"/>
                </a:solidFill>
                <a:latin typeface="Arial"/>
                <a:ea typeface="Arial"/>
                <a:cs typeface="Arial"/>
                <a:sym typeface="Arial"/>
              </a:rPr>
              <a:t>FALSE NEGATIVE</a:t>
            </a:r>
            <a:endParaRPr sz="1300">
              <a:solidFill>
                <a:schemeClr val="dk1"/>
              </a:solidFill>
              <a:latin typeface="Calibri"/>
              <a:ea typeface="Calibri"/>
              <a:cs typeface="Calibri"/>
              <a:sym typeface="Calibri"/>
            </a:endParaRPr>
          </a:p>
        </p:txBody>
      </p:sp>
      <p:pic>
        <p:nvPicPr>
          <p:cNvPr descr="/home/claude/panels/disagree_fn2.png" id="608" name="Google Shape;608;p14"/>
          <p:cNvPicPr preferRelativeResize="0"/>
          <p:nvPr/>
        </p:nvPicPr>
        <p:blipFill rotWithShape="1">
          <a:blip r:embed="rId6">
            <a:alphaModFix/>
          </a:blip>
          <a:srcRect b="0" l="1232" r="50943" t="9238"/>
          <a:stretch/>
        </p:blipFill>
        <p:spPr>
          <a:xfrm>
            <a:off x="9661693" y="1988632"/>
            <a:ext cx="1296336" cy="1531807"/>
          </a:xfrm>
          <a:prstGeom prst="rect">
            <a:avLst/>
          </a:prstGeom>
          <a:noFill/>
          <a:ln>
            <a:noFill/>
          </a:ln>
        </p:spPr>
      </p:pic>
      <p:sp>
        <p:nvSpPr>
          <p:cNvPr id="609" name="Google Shape;609;p14"/>
          <p:cNvSpPr/>
          <p:nvPr/>
        </p:nvSpPr>
        <p:spPr>
          <a:xfrm>
            <a:off x="9144000" y="3611880"/>
            <a:ext cx="1005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750"/>
              <a:buFont typeface="Arial"/>
              <a:buNone/>
            </a:pPr>
            <a:r>
              <a:rPr b="1" lang="en-US" sz="900">
                <a:solidFill>
                  <a:srgbClr val="8B95A3"/>
                </a:solidFill>
                <a:latin typeface="Arial"/>
                <a:ea typeface="Arial"/>
                <a:cs typeface="Arial"/>
                <a:sym typeface="Arial"/>
              </a:rPr>
              <a:t>TRUE</a:t>
            </a:r>
            <a:endParaRPr sz="900">
              <a:solidFill>
                <a:schemeClr val="dk1"/>
              </a:solidFill>
              <a:latin typeface="Calibri"/>
              <a:ea typeface="Calibri"/>
              <a:cs typeface="Calibri"/>
              <a:sym typeface="Calibri"/>
            </a:endParaRPr>
          </a:p>
        </p:txBody>
      </p:sp>
      <p:sp>
        <p:nvSpPr>
          <p:cNvPr id="610" name="Google Shape;610;p14"/>
          <p:cNvSpPr/>
          <p:nvPr/>
        </p:nvSpPr>
        <p:spPr>
          <a:xfrm>
            <a:off x="10149840" y="3611880"/>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1 (built)</a:t>
            </a:r>
            <a:endParaRPr sz="1100">
              <a:solidFill>
                <a:schemeClr val="dk1"/>
              </a:solidFill>
              <a:latin typeface="Calibri"/>
              <a:ea typeface="Calibri"/>
              <a:cs typeface="Calibri"/>
              <a:sym typeface="Calibri"/>
            </a:endParaRPr>
          </a:p>
        </p:txBody>
      </p:sp>
      <p:sp>
        <p:nvSpPr>
          <p:cNvPr id="611" name="Google Shape;611;p14"/>
          <p:cNvSpPr/>
          <p:nvPr/>
        </p:nvSpPr>
        <p:spPr>
          <a:xfrm>
            <a:off x="9144000" y="3904488"/>
            <a:ext cx="1005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750"/>
              <a:buFont typeface="Arial"/>
              <a:buNone/>
            </a:pPr>
            <a:r>
              <a:rPr b="1" lang="en-US" sz="900">
                <a:solidFill>
                  <a:srgbClr val="8B95A3"/>
                </a:solidFill>
                <a:latin typeface="Arial"/>
                <a:ea typeface="Arial"/>
                <a:cs typeface="Arial"/>
                <a:sym typeface="Arial"/>
              </a:rPr>
              <a:t>PRED</a:t>
            </a:r>
            <a:endParaRPr sz="900">
              <a:solidFill>
                <a:schemeClr val="dk1"/>
              </a:solidFill>
              <a:latin typeface="Calibri"/>
              <a:ea typeface="Calibri"/>
              <a:cs typeface="Calibri"/>
              <a:sym typeface="Calibri"/>
            </a:endParaRPr>
          </a:p>
        </p:txBody>
      </p:sp>
      <p:sp>
        <p:nvSpPr>
          <p:cNvPr id="612" name="Google Shape;612;p14"/>
          <p:cNvSpPr/>
          <p:nvPr/>
        </p:nvSpPr>
        <p:spPr>
          <a:xfrm>
            <a:off x="10149840" y="3904488"/>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0 (not built)</a:t>
            </a:r>
            <a:endParaRPr sz="1100">
              <a:solidFill>
                <a:schemeClr val="dk1"/>
              </a:solidFill>
              <a:latin typeface="Calibri"/>
              <a:ea typeface="Calibri"/>
              <a:cs typeface="Calibri"/>
              <a:sym typeface="Calibri"/>
            </a:endParaRPr>
          </a:p>
        </p:txBody>
      </p:sp>
      <p:sp>
        <p:nvSpPr>
          <p:cNvPr id="613" name="Google Shape;613;p14"/>
          <p:cNvSpPr/>
          <p:nvPr/>
        </p:nvSpPr>
        <p:spPr>
          <a:xfrm>
            <a:off x="9144000" y="4197096"/>
            <a:ext cx="1005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750"/>
              <a:buFont typeface="Arial"/>
              <a:buNone/>
            </a:pPr>
            <a:r>
              <a:rPr b="1" lang="en-US" sz="900">
                <a:solidFill>
                  <a:srgbClr val="8B95A3"/>
                </a:solidFill>
                <a:latin typeface="Arial"/>
                <a:ea typeface="Arial"/>
                <a:cs typeface="Arial"/>
                <a:sym typeface="Arial"/>
              </a:rPr>
              <a:t>CONFIDENCE</a:t>
            </a:r>
            <a:endParaRPr sz="900">
              <a:solidFill>
                <a:schemeClr val="dk1"/>
              </a:solidFill>
              <a:latin typeface="Calibri"/>
              <a:ea typeface="Calibri"/>
              <a:cs typeface="Calibri"/>
              <a:sym typeface="Calibri"/>
            </a:endParaRPr>
          </a:p>
        </p:txBody>
      </p:sp>
      <p:sp>
        <p:nvSpPr>
          <p:cNvPr id="614" name="Google Shape;614;p14"/>
          <p:cNvSpPr/>
          <p:nvPr/>
        </p:nvSpPr>
        <p:spPr>
          <a:xfrm>
            <a:off x="10149840" y="4197096"/>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P = 0.03</a:t>
            </a:r>
            <a:endParaRPr sz="1100">
              <a:solidFill>
                <a:schemeClr val="dk1"/>
              </a:solidFill>
              <a:latin typeface="Calibri"/>
              <a:ea typeface="Calibri"/>
              <a:cs typeface="Calibri"/>
              <a:sym typeface="Calibri"/>
            </a:endParaRPr>
          </a:p>
        </p:txBody>
      </p:sp>
      <p:cxnSp>
        <p:nvCxnSpPr>
          <p:cNvPr id="615" name="Google Shape;615;p14"/>
          <p:cNvCxnSpPr/>
          <p:nvPr/>
        </p:nvCxnSpPr>
        <p:spPr>
          <a:xfrm>
            <a:off x="9144000" y="4572000"/>
            <a:ext cx="2331720" cy="0"/>
          </a:xfrm>
          <a:prstGeom prst="straightConnector1">
            <a:avLst/>
          </a:prstGeom>
          <a:noFill/>
          <a:ln cap="flat" cmpd="sng" w="9525">
            <a:solidFill>
              <a:srgbClr val="2A4870"/>
            </a:solidFill>
            <a:prstDash val="solid"/>
            <a:round/>
            <a:headEnd len="sm" w="sm" type="none"/>
            <a:tailEnd len="sm" w="sm" type="none"/>
          </a:ln>
        </p:spPr>
      </p:cxnSp>
      <p:sp>
        <p:nvSpPr>
          <p:cNvPr id="616" name="Google Shape;616;p14"/>
          <p:cNvSpPr/>
          <p:nvPr/>
        </p:nvSpPr>
        <p:spPr>
          <a:xfrm>
            <a:off x="9144000" y="4663440"/>
            <a:ext cx="233172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8C5D6"/>
              </a:buClr>
              <a:buSzPts val="1000"/>
              <a:buFont typeface="Arial"/>
              <a:buNone/>
            </a:pPr>
            <a:r>
              <a:rPr b="1" i="1" lang="en-US" sz="1200">
                <a:solidFill>
                  <a:schemeClr val="lt2"/>
                </a:solidFill>
              </a:rPr>
              <a:t>Building visible to a human eye, but model misses it from this angle.</a:t>
            </a:r>
            <a:endParaRPr b="1" sz="1200">
              <a:solidFill>
                <a:schemeClr val="lt2"/>
              </a:solidFill>
              <a:latin typeface="Calibri"/>
              <a:ea typeface="Calibri"/>
              <a:cs typeface="Calibri"/>
              <a:sym typeface="Calibri"/>
            </a:endParaRPr>
          </a:p>
        </p:txBody>
      </p:sp>
      <p:sp>
        <p:nvSpPr>
          <p:cNvPr id="617" name="Google Shape;617;p14"/>
          <p:cNvSpPr/>
          <p:nvPr/>
        </p:nvSpPr>
        <p:spPr>
          <a:xfrm>
            <a:off x="457200" y="5623560"/>
            <a:ext cx="11247120" cy="731520"/>
          </a:xfrm>
          <a:prstGeom prst="rect">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14"/>
          <p:cNvSpPr/>
          <p:nvPr/>
        </p:nvSpPr>
        <p:spPr>
          <a:xfrm>
            <a:off x="640080" y="5669280"/>
            <a:ext cx="10881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Arial"/>
              <a:buNone/>
            </a:pPr>
            <a:r>
              <a:rPr b="1" lang="en-US" sz="1150">
                <a:solidFill>
                  <a:srgbClr val="FFFFFF"/>
                </a:solidFill>
                <a:latin typeface="Arial"/>
                <a:ea typeface="Arial"/>
                <a:cs typeface="Arial"/>
                <a:sym typeface="Arial"/>
              </a:rPr>
              <a:t>The model is the side that is wrong on these high-confidence disagreements.  </a:t>
            </a:r>
            <a:r>
              <a:rPr lang="en-US" sz="1150">
                <a:solidFill>
                  <a:srgbClr val="B8C5D6"/>
                </a:solidFill>
                <a:latin typeface="Arial"/>
                <a:ea typeface="Arial"/>
                <a:cs typeface="Arial"/>
                <a:sym typeface="Arial"/>
              </a:rPr>
              <a:t>The originally proposed label-error screening queue assumed disagreements would surface label errors. They surface model errors instead. Validating the screening use case requires a manually verified evaluation set.</a:t>
            </a:r>
            <a:endParaRPr sz="1150">
              <a:solidFill>
                <a:schemeClr val="dk1"/>
              </a:solidFill>
              <a:latin typeface="Calibri"/>
              <a:ea typeface="Calibri"/>
              <a:cs typeface="Calibri"/>
              <a:sym typeface="Calibri"/>
            </a:endParaRPr>
          </a:p>
        </p:txBody>
      </p:sp>
      <p:cxnSp>
        <p:nvCxnSpPr>
          <p:cNvPr id="619" name="Google Shape;619;p14"/>
          <p:cNvCxnSpPr/>
          <p:nvPr/>
        </p:nvCxnSpPr>
        <p:spPr>
          <a:xfrm>
            <a:off x="457200" y="6446520"/>
            <a:ext cx="11247120" cy="0"/>
          </a:xfrm>
          <a:prstGeom prst="straightConnector1">
            <a:avLst/>
          </a:prstGeom>
          <a:noFill/>
          <a:ln cap="flat" cmpd="sng" w="9525">
            <a:solidFill>
              <a:srgbClr val="3D5478"/>
            </a:solidFill>
            <a:prstDash val="solid"/>
            <a:round/>
            <a:headEnd len="sm" w="sm" type="none"/>
            <a:tailEnd len="sm" w="sm" type="none"/>
          </a:ln>
        </p:spPr>
      </p:cxnSp>
      <p:sp>
        <p:nvSpPr>
          <p:cNvPr id="620" name="Google Shape;620;p14"/>
          <p:cNvSpPr/>
          <p:nvPr/>
        </p:nvSpPr>
        <p:spPr>
          <a:xfrm>
            <a:off x="457200" y="6565392"/>
            <a:ext cx="9601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800"/>
              <a:buFont typeface="Arial"/>
              <a:buNone/>
            </a:pPr>
            <a:r>
              <a:rPr i="1" lang="en-US" sz="800">
                <a:solidFill>
                  <a:srgbClr val="8B95A3"/>
                </a:solidFill>
                <a:latin typeface="Arial"/>
                <a:ea typeface="Arial"/>
                <a:cs typeface="Arial"/>
                <a:sym typeface="Arial"/>
              </a:rPr>
              <a:t>Confidences shown are MobileNetV2 output P(built); high-confidence disagreements only</a:t>
            </a:r>
            <a:endParaRPr sz="800">
              <a:solidFill>
                <a:schemeClr val="dk1"/>
              </a:solidFill>
              <a:latin typeface="Calibri"/>
              <a:ea typeface="Calibri"/>
              <a:cs typeface="Calibri"/>
              <a:sym typeface="Calibri"/>
            </a:endParaRPr>
          </a:p>
        </p:txBody>
      </p:sp>
      <p:sp>
        <p:nvSpPr>
          <p:cNvPr id="621" name="Google Shape;621;p14"/>
          <p:cNvSpPr/>
          <p:nvPr/>
        </p:nvSpPr>
        <p:spPr>
          <a:xfrm>
            <a:off x="10058400" y="6565392"/>
            <a:ext cx="164592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A3"/>
              </a:buClr>
              <a:buSzPts val="800"/>
              <a:buFont typeface="Arial"/>
              <a:buNone/>
            </a:pPr>
            <a:r>
              <a:rPr b="1" lang="en-US" sz="800">
                <a:solidFill>
                  <a:srgbClr val="8B95A3"/>
                </a:solidFill>
                <a:latin typeface="Arial"/>
                <a:ea typeface="Arial"/>
                <a:cs typeface="Arial"/>
                <a:sym typeface="Arial"/>
              </a:rPr>
              <a:t>14 / 19</a:t>
            </a:r>
            <a:endParaRPr sz="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626" name="Shape 626"/>
        <p:cNvGrpSpPr/>
        <p:nvPr/>
      </p:nvGrpSpPr>
      <p:grpSpPr>
        <a:xfrm>
          <a:off x="0" y="0"/>
          <a:ext cx="0" cy="0"/>
          <a:chOff x="0" y="0"/>
          <a:chExt cx="0" cy="0"/>
        </a:xfrm>
      </p:grpSpPr>
      <p:sp>
        <p:nvSpPr>
          <p:cNvPr id="627" name="Google Shape;627;p16"/>
          <p:cNvSpPr/>
          <p:nvPr/>
        </p:nvSpPr>
        <p:spPr>
          <a:xfrm>
            <a:off x="457200" y="365760"/>
            <a:ext cx="320040" cy="18288"/>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16"/>
          <p:cNvSpPr/>
          <p:nvPr/>
        </p:nvSpPr>
        <p:spPr>
          <a:xfrm>
            <a:off x="457200" y="411480"/>
            <a:ext cx="11247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lang="en-US" sz="2800">
                <a:solidFill>
                  <a:srgbClr val="FFFFFF"/>
                </a:solidFill>
                <a:latin typeface="Arial"/>
                <a:ea typeface="Arial"/>
                <a:cs typeface="Arial"/>
                <a:sym typeface="Arial"/>
              </a:rPr>
              <a:t>Real-World Implementation</a:t>
            </a:r>
            <a:endParaRPr sz="2800">
              <a:solidFill>
                <a:schemeClr val="dk1"/>
              </a:solidFill>
              <a:latin typeface="Calibri"/>
              <a:ea typeface="Calibri"/>
              <a:cs typeface="Calibri"/>
              <a:sym typeface="Calibri"/>
            </a:endParaRPr>
          </a:p>
        </p:txBody>
      </p:sp>
      <p:sp>
        <p:nvSpPr>
          <p:cNvPr id="629" name="Google Shape;629;p16"/>
          <p:cNvSpPr/>
          <p:nvPr/>
        </p:nvSpPr>
        <p:spPr>
          <a:xfrm>
            <a:off x="457200" y="960120"/>
            <a:ext cx="11247120" cy="5029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Proposed pipeline. Routing model disagreements as a reviewer queue requires validating the screener use case first.</a:t>
            </a:r>
            <a:endParaRPr sz="1600">
              <a:solidFill>
                <a:schemeClr val="dk1"/>
              </a:solidFill>
              <a:latin typeface="Calibri"/>
              <a:ea typeface="Calibri"/>
              <a:cs typeface="Calibri"/>
              <a:sym typeface="Calibri"/>
            </a:endParaRPr>
          </a:p>
        </p:txBody>
      </p:sp>
      <p:sp>
        <p:nvSpPr>
          <p:cNvPr id="630" name="Google Shape;630;p16"/>
          <p:cNvSpPr/>
          <p:nvPr/>
        </p:nvSpPr>
        <p:spPr>
          <a:xfrm>
            <a:off x="457200" y="1554475"/>
            <a:ext cx="2606100" cy="200490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16"/>
          <p:cNvSpPr/>
          <p:nvPr/>
        </p:nvSpPr>
        <p:spPr>
          <a:xfrm>
            <a:off x="457200" y="1554480"/>
            <a:ext cx="2606040" cy="54864"/>
          </a:xfrm>
          <a:prstGeom prst="rect">
            <a:avLst/>
          </a:prstGeom>
          <a:solidFill>
            <a:srgbClr val="6E8FB8"/>
          </a:solidFill>
          <a:ln cap="flat" cmpd="sng" w="12700">
            <a:solidFill>
              <a:srgbClr val="6E8F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16"/>
          <p:cNvSpPr/>
          <p:nvPr/>
        </p:nvSpPr>
        <p:spPr>
          <a:xfrm>
            <a:off x="685800" y="1737360"/>
            <a:ext cx="914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FB8"/>
              </a:buClr>
              <a:buSzPts val="2200"/>
              <a:buFont typeface="Arial"/>
              <a:buNone/>
            </a:pPr>
            <a:r>
              <a:rPr b="1" lang="en-US" sz="2200">
                <a:solidFill>
                  <a:srgbClr val="6E8FB8"/>
                </a:solidFill>
                <a:latin typeface="Arial"/>
                <a:ea typeface="Arial"/>
                <a:cs typeface="Arial"/>
                <a:sym typeface="Arial"/>
              </a:rPr>
              <a:t>01</a:t>
            </a:r>
            <a:endParaRPr sz="2200">
              <a:solidFill>
                <a:schemeClr val="dk1"/>
              </a:solidFill>
              <a:latin typeface="Calibri"/>
              <a:ea typeface="Calibri"/>
              <a:cs typeface="Calibri"/>
              <a:sym typeface="Calibri"/>
            </a:endParaRPr>
          </a:p>
        </p:txBody>
      </p:sp>
      <p:sp>
        <p:nvSpPr>
          <p:cNvPr id="633" name="Google Shape;633;p16"/>
          <p:cNvSpPr/>
          <p:nvPr/>
        </p:nvSpPr>
        <p:spPr>
          <a:xfrm>
            <a:off x="1142950" y="1783055"/>
            <a:ext cx="2148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lang="en-US" sz="1500">
                <a:solidFill>
                  <a:srgbClr val="FFFFFF"/>
                </a:solidFill>
                <a:latin typeface="Arial"/>
                <a:ea typeface="Arial"/>
                <a:cs typeface="Arial"/>
                <a:sym typeface="Arial"/>
              </a:rPr>
              <a:t>INGEST</a:t>
            </a:r>
            <a:endParaRPr sz="1500">
              <a:solidFill>
                <a:schemeClr val="dk1"/>
              </a:solidFill>
              <a:latin typeface="Calibri"/>
              <a:ea typeface="Calibri"/>
              <a:cs typeface="Calibri"/>
              <a:sym typeface="Calibri"/>
            </a:endParaRPr>
          </a:p>
        </p:txBody>
      </p:sp>
      <p:cxnSp>
        <p:nvCxnSpPr>
          <p:cNvPr id="634" name="Google Shape;634;p16"/>
          <p:cNvCxnSpPr/>
          <p:nvPr/>
        </p:nvCxnSpPr>
        <p:spPr>
          <a:xfrm>
            <a:off x="685800" y="2232645"/>
            <a:ext cx="2148900" cy="0"/>
          </a:xfrm>
          <a:prstGeom prst="straightConnector1">
            <a:avLst/>
          </a:prstGeom>
          <a:noFill/>
          <a:ln cap="flat" cmpd="sng" w="9525">
            <a:solidFill>
              <a:srgbClr val="2A4870"/>
            </a:solidFill>
            <a:prstDash val="solid"/>
            <a:round/>
            <a:headEnd len="sm" w="sm" type="none"/>
            <a:tailEnd len="sm" w="sm" type="none"/>
          </a:ln>
        </p:spPr>
      </p:cxnSp>
      <p:sp>
        <p:nvSpPr>
          <p:cNvPr id="635" name="Google Shape;635;p16"/>
          <p:cNvSpPr/>
          <p:nvPr/>
        </p:nvSpPr>
        <p:spPr>
          <a:xfrm>
            <a:off x="609675" y="2373938"/>
            <a:ext cx="2301000" cy="1055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000"/>
              <a:buFont typeface="Arial"/>
              <a:buNone/>
            </a:pPr>
            <a:r>
              <a:rPr b="1" lang="en-US" sz="1200">
                <a:solidFill>
                  <a:schemeClr val="lt2"/>
                </a:solidFill>
              </a:rPr>
              <a:t>Pull current parcel inventory and latest NAIP imagery via STAC API on a quarterly schedule.</a:t>
            </a:r>
            <a:endParaRPr b="1" sz="1200">
              <a:solidFill>
                <a:schemeClr val="lt2"/>
              </a:solidFill>
              <a:latin typeface="Calibri"/>
              <a:ea typeface="Calibri"/>
              <a:cs typeface="Calibri"/>
              <a:sym typeface="Calibri"/>
            </a:endParaRPr>
          </a:p>
        </p:txBody>
      </p:sp>
      <p:cxnSp>
        <p:nvCxnSpPr>
          <p:cNvPr id="636" name="Google Shape;636;p16"/>
          <p:cNvCxnSpPr/>
          <p:nvPr/>
        </p:nvCxnSpPr>
        <p:spPr>
          <a:xfrm>
            <a:off x="3108960" y="2514600"/>
            <a:ext cx="182880" cy="0"/>
          </a:xfrm>
          <a:prstGeom prst="straightConnector1">
            <a:avLst/>
          </a:prstGeom>
          <a:noFill/>
          <a:ln cap="flat" cmpd="sng" w="15875">
            <a:solidFill>
              <a:srgbClr val="5B9573"/>
            </a:solidFill>
            <a:prstDash val="solid"/>
            <a:round/>
            <a:headEnd len="sm" w="sm" type="none"/>
            <a:tailEnd len="med" w="med" type="triangle"/>
          </a:ln>
        </p:spPr>
      </p:cxnSp>
      <p:sp>
        <p:nvSpPr>
          <p:cNvPr id="637" name="Google Shape;637;p16"/>
          <p:cNvSpPr/>
          <p:nvPr/>
        </p:nvSpPr>
        <p:spPr>
          <a:xfrm>
            <a:off x="3337550" y="1554475"/>
            <a:ext cx="2606100" cy="200490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16"/>
          <p:cNvSpPr/>
          <p:nvPr/>
        </p:nvSpPr>
        <p:spPr>
          <a:xfrm>
            <a:off x="3337560" y="1554480"/>
            <a:ext cx="2606040" cy="54864"/>
          </a:xfrm>
          <a:prstGeom prst="rect">
            <a:avLst/>
          </a:prstGeom>
          <a:solidFill>
            <a:srgbClr val="6E8FB8"/>
          </a:solidFill>
          <a:ln cap="flat" cmpd="sng" w="12700">
            <a:solidFill>
              <a:srgbClr val="6E8F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16"/>
          <p:cNvSpPr/>
          <p:nvPr/>
        </p:nvSpPr>
        <p:spPr>
          <a:xfrm>
            <a:off x="3566160" y="1737360"/>
            <a:ext cx="914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FB8"/>
              </a:buClr>
              <a:buSzPts val="2200"/>
              <a:buFont typeface="Arial"/>
              <a:buNone/>
            </a:pPr>
            <a:r>
              <a:rPr b="1" lang="en-US" sz="2200">
                <a:solidFill>
                  <a:srgbClr val="6E8FB8"/>
                </a:solidFill>
                <a:latin typeface="Arial"/>
                <a:ea typeface="Arial"/>
                <a:cs typeface="Arial"/>
                <a:sym typeface="Arial"/>
              </a:rPr>
              <a:t>02</a:t>
            </a:r>
            <a:endParaRPr sz="2200">
              <a:solidFill>
                <a:schemeClr val="dk1"/>
              </a:solidFill>
              <a:latin typeface="Calibri"/>
              <a:ea typeface="Calibri"/>
              <a:cs typeface="Calibri"/>
              <a:sym typeface="Calibri"/>
            </a:endParaRPr>
          </a:p>
        </p:txBody>
      </p:sp>
      <p:sp>
        <p:nvSpPr>
          <p:cNvPr id="640" name="Google Shape;640;p16"/>
          <p:cNvSpPr/>
          <p:nvPr/>
        </p:nvSpPr>
        <p:spPr>
          <a:xfrm>
            <a:off x="4023360" y="1783080"/>
            <a:ext cx="2148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lang="en-US" sz="1500">
                <a:solidFill>
                  <a:srgbClr val="FFFFFF"/>
                </a:solidFill>
                <a:latin typeface="Arial"/>
                <a:ea typeface="Arial"/>
                <a:cs typeface="Arial"/>
                <a:sym typeface="Arial"/>
              </a:rPr>
              <a:t>SCORE</a:t>
            </a:r>
            <a:endParaRPr sz="1500">
              <a:solidFill>
                <a:schemeClr val="dk1"/>
              </a:solidFill>
              <a:latin typeface="Calibri"/>
              <a:ea typeface="Calibri"/>
              <a:cs typeface="Calibri"/>
              <a:sym typeface="Calibri"/>
            </a:endParaRPr>
          </a:p>
        </p:txBody>
      </p:sp>
      <p:cxnSp>
        <p:nvCxnSpPr>
          <p:cNvPr id="641" name="Google Shape;641;p16"/>
          <p:cNvCxnSpPr/>
          <p:nvPr/>
        </p:nvCxnSpPr>
        <p:spPr>
          <a:xfrm>
            <a:off x="3566198" y="2232645"/>
            <a:ext cx="2148900" cy="0"/>
          </a:xfrm>
          <a:prstGeom prst="straightConnector1">
            <a:avLst/>
          </a:prstGeom>
          <a:noFill/>
          <a:ln cap="flat" cmpd="sng" w="9525">
            <a:solidFill>
              <a:srgbClr val="2A4870"/>
            </a:solidFill>
            <a:prstDash val="solid"/>
            <a:round/>
            <a:headEnd len="sm" w="sm" type="none"/>
            <a:tailEnd len="sm" w="sm" type="none"/>
          </a:ln>
        </p:spPr>
      </p:cxnSp>
      <p:sp>
        <p:nvSpPr>
          <p:cNvPr id="642" name="Google Shape;642;p16"/>
          <p:cNvSpPr/>
          <p:nvPr/>
        </p:nvSpPr>
        <p:spPr>
          <a:xfrm>
            <a:off x="3490025" y="2324238"/>
            <a:ext cx="2301000" cy="1104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000"/>
              <a:buFont typeface="Arial"/>
              <a:buNone/>
            </a:pPr>
            <a:r>
              <a:rPr b="1" lang="en-US" sz="1200">
                <a:solidFill>
                  <a:schemeClr val="lt2"/>
                </a:solidFill>
              </a:rPr>
              <a:t>Run the trained classifier over each masked parcel crop. Output: P(built) ∈ [0,1] for every parcel.</a:t>
            </a:r>
            <a:endParaRPr b="1" sz="1200">
              <a:solidFill>
                <a:schemeClr val="lt2"/>
              </a:solidFill>
              <a:latin typeface="Calibri"/>
              <a:ea typeface="Calibri"/>
              <a:cs typeface="Calibri"/>
              <a:sym typeface="Calibri"/>
            </a:endParaRPr>
          </a:p>
        </p:txBody>
      </p:sp>
      <p:cxnSp>
        <p:nvCxnSpPr>
          <p:cNvPr id="643" name="Google Shape;643;p16"/>
          <p:cNvCxnSpPr/>
          <p:nvPr/>
        </p:nvCxnSpPr>
        <p:spPr>
          <a:xfrm>
            <a:off x="5989320" y="2514600"/>
            <a:ext cx="182880" cy="0"/>
          </a:xfrm>
          <a:prstGeom prst="straightConnector1">
            <a:avLst/>
          </a:prstGeom>
          <a:noFill/>
          <a:ln cap="flat" cmpd="sng" w="15875">
            <a:solidFill>
              <a:srgbClr val="5B9573"/>
            </a:solidFill>
            <a:prstDash val="solid"/>
            <a:round/>
            <a:headEnd len="sm" w="sm" type="none"/>
            <a:tailEnd len="med" w="med" type="triangle"/>
          </a:ln>
        </p:spPr>
      </p:cxnSp>
      <p:sp>
        <p:nvSpPr>
          <p:cNvPr id="644" name="Google Shape;644;p16"/>
          <p:cNvSpPr/>
          <p:nvPr/>
        </p:nvSpPr>
        <p:spPr>
          <a:xfrm>
            <a:off x="6217925" y="1554475"/>
            <a:ext cx="2606100" cy="200490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 name="Google Shape;645;p16"/>
          <p:cNvSpPr/>
          <p:nvPr/>
        </p:nvSpPr>
        <p:spPr>
          <a:xfrm>
            <a:off x="6217920" y="1554480"/>
            <a:ext cx="2606040" cy="54864"/>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16"/>
          <p:cNvSpPr/>
          <p:nvPr/>
        </p:nvSpPr>
        <p:spPr>
          <a:xfrm>
            <a:off x="6446520" y="1737360"/>
            <a:ext cx="914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2200"/>
              <a:buFont typeface="Arial"/>
              <a:buNone/>
            </a:pPr>
            <a:r>
              <a:rPr b="1" lang="en-US" sz="2200">
                <a:solidFill>
                  <a:srgbClr val="5B9573"/>
                </a:solidFill>
                <a:latin typeface="Arial"/>
                <a:ea typeface="Arial"/>
                <a:cs typeface="Arial"/>
                <a:sym typeface="Arial"/>
              </a:rPr>
              <a:t>03</a:t>
            </a:r>
            <a:endParaRPr sz="2200">
              <a:solidFill>
                <a:schemeClr val="dk1"/>
              </a:solidFill>
              <a:latin typeface="Calibri"/>
              <a:ea typeface="Calibri"/>
              <a:cs typeface="Calibri"/>
              <a:sym typeface="Calibri"/>
            </a:endParaRPr>
          </a:p>
        </p:txBody>
      </p:sp>
      <p:sp>
        <p:nvSpPr>
          <p:cNvPr id="647" name="Google Shape;647;p16"/>
          <p:cNvSpPr/>
          <p:nvPr/>
        </p:nvSpPr>
        <p:spPr>
          <a:xfrm>
            <a:off x="6903745" y="1783080"/>
            <a:ext cx="2148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lang="en-US" sz="1500">
                <a:solidFill>
                  <a:srgbClr val="FFFFFF"/>
                </a:solidFill>
                <a:latin typeface="Arial"/>
                <a:ea typeface="Arial"/>
                <a:cs typeface="Arial"/>
                <a:sym typeface="Arial"/>
              </a:rPr>
              <a:t>FLAG</a:t>
            </a:r>
            <a:endParaRPr sz="1500">
              <a:solidFill>
                <a:schemeClr val="dk1"/>
              </a:solidFill>
              <a:latin typeface="Calibri"/>
              <a:ea typeface="Calibri"/>
              <a:cs typeface="Calibri"/>
              <a:sym typeface="Calibri"/>
            </a:endParaRPr>
          </a:p>
        </p:txBody>
      </p:sp>
      <p:cxnSp>
        <p:nvCxnSpPr>
          <p:cNvPr id="648" name="Google Shape;648;p16"/>
          <p:cNvCxnSpPr/>
          <p:nvPr/>
        </p:nvCxnSpPr>
        <p:spPr>
          <a:xfrm>
            <a:off x="6469458" y="2232645"/>
            <a:ext cx="2148900" cy="0"/>
          </a:xfrm>
          <a:prstGeom prst="straightConnector1">
            <a:avLst/>
          </a:prstGeom>
          <a:noFill/>
          <a:ln cap="flat" cmpd="sng" w="9525">
            <a:solidFill>
              <a:srgbClr val="2A4870"/>
            </a:solidFill>
            <a:prstDash val="solid"/>
            <a:round/>
            <a:headEnd len="sm" w="sm" type="none"/>
            <a:tailEnd len="sm" w="sm" type="none"/>
          </a:ln>
        </p:spPr>
      </p:cxnSp>
      <p:sp>
        <p:nvSpPr>
          <p:cNvPr id="649" name="Google Shape;649;p16"/>
          <p:cNvSpPr/>
          <p:nvPr/>
        </p:nvSpPr>
        <p:spPr>
          <a:xfrm>
            <a:off x="6368775" y="2373946"/>
            <a:ext cx="2350200" cy="1055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000"/>
              <a:buFont typeface="Arial"/>
              <a:buNone/>
            </a:pPr>
            <a:r>
              <a:rPr b="1" lang="en-US" sz="1200">
                <a:solidFill>
                  <a:schemeClr val="lt2"/>
                </a:solidFill>
              </a:rPr>
              <a:t>Compare model prediction to record. Disagreements are candidates for downstream validation, not yet a verified reviewer queue.</a:t>
            </a:r>
            <a:endParaRPr b="1" sz="1200">
              <a:solidFill>
                <a:schemeClr val="lt2"/>
              </a:solidFill>
              <a:latin typeface="Calibri"/>
              <a:ea typeface="Calibri"/>
              <a:cs typeface="Calibri"/>
              <a:sym typeface="Calibri"/>
            </a:endParaRPr>
          </a:p>
        </p:txBody>
      </p:sp>
      <p:cxnSp>
        <p:nvCxnSpPr>
          <p:cNvPr id="650" name="Google Shape;650;p16"/>
          <p:cNvCxnSpPr/>
          <p:nvPr/>
        </p:nvCxnSpPr>
        <p:spPr>
          <a:xfrm>
            <a:off x="8869680" y="2514600"/>
            <a:ext cx="182880" cy="0"/>
          </a:xfrm>
          <a:prstGeom prst="straightConnector1">
            <a:avLst/>
          </a:prstGeom>
          <a:noFill/>
          <a:ln cap="flat" cmpd="sng" w="15875">
            <a:solidFill>
              <a:srgbClr val="5B9573"/>
            </a:solidFill>
            <a:prstDash val="solid"/>
            <a:round/>
            <a:headEnd len="sm" w="sm" type="none"/>
            <a:tailEnd len="med" w="med" type="triangle"/>
          </a:ln>
        </p:spPr>
      </p:cxnSp>
      <p:sp>
        <p:nvSpPr>
          <p:cNvPr id="651" name="Google Shape;651;p16"/>
          <p:cNvSpPr/>
          <p:nvPr/>
        </p:nvSpPr>
        <p:spPr>
          <a:xfrm>
            <a:off x="9098280" y="1554480"/>
            <a:ext cx="2606040" cy="192024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16"/>
          <p:cNvSpPr/>
          <p:nvPr/>
        </p:nvSpPr>
        <p:spPr>
          <a:xfrm>
            <a:off x="9098280" y="1554480"/>
            <a:ext cx="2606040" cy="54864"/>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16"/>
          <p:cNvSpPr/>
          <p:nvPr/>
        </p:nvSpPr>
        <p:spPr>
          <a:xfrm>
            <a:off x="9326880" y="1737360"/>
            <a:ext cx="914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2200"/>
              <a:buFont typeface="Arial"/>
              <a:buNone/>
            </a:pPr>
            <a:r>
              <a:rPr b="1" lang="en-US" sz="2200">
                <a:solidFill>
                  <a:srgbClr val="5B9573"/>
                </a:solidFill>
                <a:latin typeface="Arial"/>
                <a:ea typeface="Arial"/>
                <a:cs typeface="Arial"/>
                <a:sym typeface="Arial"/>
              </a:rPr>
              <a:t>04</a:t>
            </a:r>
            <a:endParaRPr sz="2200">
              <a:solidFill>
                <a:schemeClr val="dk1"/>
              </a:solidFill>
              <a:latin typeface="Calibri"/>
              <a:ea typeface="Calibri"/>
              <a:cs typeface="Calibri"/>
              <a:sym typeface="Calibri"/>
            </a:endParaRPr>
          </a:p>
        </p:txBody>
      </p:sp>
      <p:sp>
        <p:nvSpPr>
          <p:cNvPr id="654" name="Google Shape;654;p16"/>
          <p:cNvSpPr/>
          <p:nvPr/>
        </p:nvSpPr>
        <p:spPr>
          <a:xfrm>
            <a:off x="9784155" y="1783080"/>
            <a:ext cx="2148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lang="en-US" sz="1500">
                <a:solidFill>
                  <a:srgbClr val="FFFFFF"/>
                </a:solidFill>
                <a:latin typeface="Arial"/>
                <a:ea typeface="Arial"/>
                <a:cs typeface="Arial"/>
                <a:sym typeface="Arial"/>
              </a:rPr>
              <a:t>REVIEW</a:t>
            </a:r>
            <a:endParaRPr sz="1500">
              <a:solidFill>
                <a:schemeClr val="dk1"/>
              </a:solidFill>
              <a:latin typeface="Calibri"/>
              <a:ea typeface="Calibri"/>
              <a:cs typeface="Calibri"/>
              <a:sym typeface="Calibri"/>
            </a:endParaRPr>
          </a:p>
        </p:txBody>
      </p:sp>
      <p:cxnSp>
        <p:nvCxnSpPr>
          <p:cNvPr id="655" name="Google Shape;655;p16"/>
          <p:cNvCxnSpPr/>
          <p:nvPr/>
        </p:nvCxnSpPr>
        <p:spPr>
          <a:xfrm>
            <a:off x="9326805" y="2259345"/>
            <a:ext cx="2148900" cy="0"/>
          </a:xfrm>
          <a:prstGeom prst="straightConnector1">
            <a:avLst/>
          </a:prstGeom>
          <a:noFill/>
          <a:ln cap="flat" cmpd="sng" w="9525">
            <a:solidFill>
              <a:srgbClr val="2A4870"/>
            </a:solidFill>
            <a:prstDash val="solid"/>
            <a:round/>
            <a:headEnd len="sm" w="sm" type="none"/>
            <a:tailEnd len="sm" w="sm" type="none"/>
          </a:ln>
        </p:spPr>
      </p:cxnSp>
      <p:sp>
        <p:nvSpPr>
          <p:cNvPr id="656" name="Google Shape;656;p16"/>
          <p:cNvSpPr/>
          <p:nvPr/>
        </p:nvSpPr>
        <p:spPr>
          <a:xfrm>
            <a:off x="9250750" y="2379675"/>
            <a:ext cx="2301000" cy="117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000"/>
              <a:buFont typeface="Arial"/>
              <a:buNone/>
            </a:pPr>
            <a:r>
              <a:rPr b="1" lang="en-US" sz="1200">
                <a:solidFill>
                  <a:schemeClr val="lt2"/>
                </a:solidFill>
              </a:rPr>
              <a:t>Assessor reviews the queue in their existing GIS tool. Decisions feed the next training round.</a:t>
            </a:r>
            <a:endParaRPr b="1" sz="1200">
              <a:solidFill>
                <a:schemeClr val="lt2"/>
              </a:solidFill>
              <a:latin typeface="Calibri"/>
              <a:ea typeface="Calibri"/>
              <a:cs typeface="Calibri"/>
              <a:sym typeface="Calibri"/>
            </a:endParaRPr>
          </a:p>
        </p:txBody>
      </p:sp>
      <p:sp>
        <p:nvSpPr>
          <p:cNvPr id="657" name="Google Shape;657;p16"/>
          <p:cNvSpPr/>
          <p:nvPr/>
        </p:nvSpPr>
        <p:spPr>
          <a:xfrm>
            <a:off x="457200" y="3667503"/>
            <a:ext cx="11247120" cy="1463039"/>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58" name="Google Shape;658;p16"/>
          <p:cNvGrpSpPr/>
          <p:nvPr/>
        </p:nvGrpSpPr>
        <p:grpSpPr>
          <a:xfrm>
            <a:off x="640080" y="3763516"/>
            <a:ext cx="10607040" cy="1179576"/>
            <a:chOff x="640080" y="3886200"/>
            <a:chExt cx="10607040" cy="1179576"/>
          </a:xfrm>
        </p:grpSpPr>
        <p:sp>
          <p:nvSpPr>
            <p:cNvPr id="659" name="Google Shape;659;p16"/>
            <p:cNvSpPr/>
            <p:nvPr/>
          </p:nvSpPr>
          <p:spPr>
            <a:xfrm>
              <a:off x="640080" y="3886200"/>
              <a:ext cx="5486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900"/>
                <a:buFont typeface="Arial"/>
                <a:buNone/>
              </a:pPr>
              <a:r>
                <a:rPr b="1" lang="en-US" sz="900">
                  <a:solidFill>
                    <a:srgbClr val="5B9573"/>
                  </a:solidFill>
                  <a:latin typeface="Arial"/>
                  <a:ea typeface="Arial"/>
                  <a:cs typeface="Arial"/>
                  <a:sym typeface="Arial"/>
                </a:rPr>
                <a:t>AT PRODUCTION SCALE</a:t>
              </a:r>
              <a:endParaRPr sz="900">
                <a:solidFill>
                  <a:schemeClr val="dk1"/>
                </a:solidFill>
                <a:latin typeface="Calibri"/>
                <a:ea typeface="Calibri"/>
                <a:cs typeface="Calibri"/>
                <a:sym typeface="Calibri"/>
              </a:endParaRPr>
            </a:p>
          </p:txBody>
        </p:sp>
        <p:sp>
          <p:nvSpPr>
            <p:cNvPr id="660" name="Google Shape;660;p16"/>
            <p:cNvSpPr/>
            <p:nvPr/>
          </p:nvSpPr>
          <p:spPr>
            <a:xfrm>
              <a:off x="640080" y="4160520"/>
              <a:ext cx="335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547"/>
                </a:buClr>
                <a:buSzPts val="3000"/>
                <a:buFont typeface="Arial"/>
                <a:buNone/>
              </a:pPr>
              <a:r>
                <a:rPr b="1" lang="en-US" sz="3000">
                  <a:solidFill>
                    <a:srgbClr val="D4A547"/>
                  </a:solidFill>
                  <a:latin typeface="Arial"/>
                  <a:ea typeface="Arial"/>
                  <a:cs typeface="Arial"/>
                  <a:sym typeface="Arial"/>
                </a:rPr>
                <a:t>~90K</a:t>
              </a:r>
              <a:endParaRPr sz="3000">
                <a:solidFill>
                  <a:schemeClr val="dk1"/>
                </a:solidFill>
                <a:latin typeface="Calibri"/>
                <a:ea typeface="Calibri"/>
                <a:cs typeface="Calibri"/>
                <a:sym typeface="Calibri"/>
              </a:endParaRPr>
            </a:p>
          </p:txBody>
        </p:sp>
        <p:sp>
          <p:nvSpPr>
            <p:cNvPr id="661" name="Google Shape;661;p16"/>
            <p:cNvSpPr/>
            <p:nvPr/>
          </p:nvSpPr>
          <p:spPr>
            <a:xfrm>
              <a:off x="640080" y="4663440"/>
              <a:ext cx="33528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8B589"/>
                </a:buClr>
                <a:buSzPts val="850"/>
                <a:buFont typeface="Arial"/>
                <a:buNone/>
              </a:pPr>
              <a:r>
                <a:rPr b="1" lang="en-US" sz="850">
                  <a:solidFill>
                    <a:srgbClr val="78B589"/>
                  </a:solidFill>
                  <a:latin typeface="Arial"/>
                  <a:ea typeface="Arial"/>
                  <a:cs typeface="Arial"/>
                  <a:sym typeface="Arial"/>
                </a:rPr>
                <a:t>PARCELS / RUN</a:t>
              </a:r>
              <a:endParaRPr sz="850">
                <a:solidFill>
                  <a:schemeClr val="dk1"/>
                </a:solidFill>
                <a:latin typeface="Calibri"/>
                <a:ea typeface="Calibri"/>
                <a:cs typeface="Calibri"/>
                <a:sym typeface="Calibri"/>
              </a:endParaRPr>
            </a:p>
          </p:txBody>
        </p:sp>
        <p:sp>
          <p:nvSpPr>
            <p:cNvPr id="662" name="Google Shape;662;p16"/>
            <p:cNvSpPr/>
            <p:nvPr/>
          </p:nvSpPr>
          <p:spPr>
            <a:xfrm>
              <a:off x="640080" y="4864608"/>
              <a:ext cx="33528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950"/>
                <a:buFont typeface="Arial"/>
                <a:buNone/>
              </a:pPr>
              <a:r>
                <a:rPr i="1" lang="en-US" sz="950">
                  <a:solidFill>
                    <a:srgbClr val="B8C5D6"/>
                  </a:solidFill>
                  <a:latin typeface="Arial"/>
                  <a:ea typeface="Arial"/>
                  <a:cs typeface="Arial"/>
                  <a:sym typeface="Arial"/>
                </a:rPr>
                <a:t>Across the three pilot study areas</a:t>
              </a:r>
              <a:endParaRPr sz="950">
                <a:solidFill>
                  <a:schemeClr val="dk1"/>
                </a:solidFill>
                <a:latin typeface="Calibri"/>
                <a:ea typeface="Calibri"/>
                <a:cs typeface="Calibri"/>
                <a:sym typeface="Calibri"/>
              </a:endParaRPr>
            </a:p>
          </p:txBody>
        </p:sp>
        <p:sp>
          <p:nvSpPr>
            <p:cNvPr id="663" name="Google Shape;663;p16"/>
            <p:cNvSpPr/>
            <p:nvPr/>
          </p:nvSpPr>
          <p:spPr>
            <a:xfrm>
              <a:off x="4267200" y="4160520"/>
              <a:ext cx="335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547"/>
                </a:buClr>
                <a:buSzPts val="3000"/>
                <a:buFont typeface="Arial"/>
                <a:buNone/>
              </a:pPr>
              <a:r>
                <a:rPr b="1" lang="en-US" sz="3000">
                  <a:solidFill>
                    <a:srgbClr val="D4A547"/>
                  </a:solidFill>
                  <a:latin typeface="Arial"/>
                  <a:ea typeface="Arial"/>
                  <a:cs typeface="Arial"/>
                  <a:sym typeface="Arial"/>
                </a:rPr>
                <a:t>&lt;2 min</a:t>
              </a:r>
              <a:endParaRPr sz="3000">
                <a:solidFill>
                  <a:schemeClr val="dk1"/>
                </a:solidFill>
                <a:latin typeface="Calibri"/>
                <a:ea typeface="Calibri"/>
                <a:cs typeface="Calibri"/>
                <a:sym typeface="Calibri"/>
              </a:endParaRPr>
            </a:p>
          </p:txBody>
        </p:sp>
        <p:sp>
          <p:nvSpPr>
            <p:cNvPr id="664" name="Google Shape;664;p16"/>
            <p:cNvSpPr/>
            <p:nvPr/>
          </p:nvSpPr>
          <p:spPr>
            <a:xfrm>
              <a:off x="4267200" y="4663440"/>
              <a:ext cx="33528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8B589"/>
                </a:buClr>
                <a:buSzPts val="850"/>
                <a:buFont typeface="Arial"/>
                <a:buNone/>
              </a:pPr>
              <a:r>
                <a:rPr b="1" lang="en-US" sz="850">
                  <a:solidFill>
                    <a:srgbClr val="78B589"/>
                  </a:solidFill>
                  <a:latin typeface="Arial"/>
                  <a:ea typeface="Arial"/>
                  <a:cs typeface="Arial"/>
                  <a:sym typeface="Arial"/>
                </a:rPr>
                <a:t>INFERENCE TIME</a:t>
              </a:r>
              <a:endParaRPr sz="850">
                <a:solidFill>
                  <a:schemeClr val="dk1"/>
                </a:solidFill>
                <a:latin typeface="Calibri"/>
                <a:ea typeface="Calibri"/>
                <a:cs typeface="Calibri"/>
                <a:sym typeface="Calibri"/>
              </a:endParaRPr>
            </a:p>
          </p:txBody>
        </p:sp>
        <p:sp>
          <p:nvSpPr>
            <p:cNvPr id="665" name="Google Shape;665;p16"/>
            <p:cNvSpPr/>
            <p:nvPr/>
          </p:nvSpPr>
          <p:spPr>
            <a:xfrm>
              <a:off x="4267200" y="4864608"/>
              <a:ext cx="33528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950"/>
                <a:buFont typeface="Arial"/>
                <a:buNone/>
              </a:pPr>
              <a:r>
                <a:rPr i="1" lang="en-US" sz="950">
                  <a:solidFill>
                    <a:srgbClr val="B8C5D6"/>
                  </a:solidFill>
                  <a:latin typeface="Arial"/>
                  <a:ea typeface="Arial"/>
                  <a:cs typeface="Arial"/>
                  <a:sym typeface="Arial"/>
                </a:rPr>
                <a:t>On a single GPU at batch size 32</a:t>
              </a:r>
              <a:endParaRPr sz="950">
                <a:solidFill>
                  <a:schemeClr val="dk1"/>
                </a:solidFill>
                <a:latin typeface="Calibri"/>
                <a:ea typeface="Calibri"/>
                <a:cs typeface="Calibri"/>
                <a:sym typeface="Calibri"/>
              </a:endParaRPr>
            </a:p>
          </p:txBody>
        </p:sp>
        <p:sp>
          <p:nvSpPr>
            <p:cNvPr id="666" name="Google Shape;666;p16"/>
            <p:cNvSpPr/>
            <p:nvPr/>
          </p:nvSpPr>
          <p:spPr>
            <a:xfrm>
              <a:off x="7894320" y="4160520"/>
              <a:ext cx="335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547"/>
                </a:buClr>
                <a:buSzPts val="3000"/>
                <a:buFont typeface="Arial"/>
                <a:buNone/>
              </a:pPr>
              <a:r>
                <a:rPr b="1" lang="en-US" sz="3000">
                  <a:solidFill>
                    <a:srgbClr val="D4A547"/>
                  </a:solidFill>
                  <a:latin typeface="Arial"/>
                  <a:ea typeface="Arial"/>
                  <a:cs typeface="Arial"/>
                  <a:sym typeface="Arial"/>
                </a:rPr>
                <a:t>~5,500</a:t>
              </a:r>
              <a:endParaRPr sz="3000">
                <a:solidFill>
                  <a:schemeClr val="dk1"/>
                </a:solidFill>
                <a:latin typeface="Calibri"/>
                <a:ea typeface="Calibri"/>
                <a:cs typeface="Calibri"/>
                <a:sym typeface="Calibri"/>
              </a:endParaRPr>
            </a:p>
          </p:txBody>
        </p:sp>
        <p:sp>
          <p:nvSpPr>
            <p:cNvPr id="667" name="Google Shape;667;p16"/>
            <p:cNvSpPr/>
            <p:nvPr/>
          </p:nvSpPr>
          <p:spPr>
            <a:xfrm>
              <a:off x="7894320" y="4663440"/>
              <a:ext cx="33528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8B589"/>
                </a:buClr>
                <a:buSzPts val="850"/>
                <a:buFont typeface="Arial"/>
                <a:buNone/>
              </a:pPr>
              <a:r>
                <a:rPr b="1" lang="en-US" sz="850">
                  <a:solidFill>
                    <a:srgbClr val="78B589"/>
                  </a:solidFill>
                  <a:latin typeface="Arial"/>
                  <a:ea typeface="Arial"/>
                  <a:cs typeface="Arial"/>
                  <a:sym typeface="Arial"/>
                </a:rPr>
                <a:t>MODEL DISAGREEMENTS</a:t>
              </a:r>
              <a:endParaRPr sz="850">
                <a:solidFill>
                  <a:schemeClr val="dk1"/>
                </a:solidFill>
                <a:latin typeface="Calibri"/>
                <a:ea typeface="Calibri"/>
                <a:cs typeface="Calibri"/>
                <a:sym typeface="Calibri"/>
              </a:endParaRPr>
            </a:p>
          </p:txBody>
        </p:sp>
        <p:sp>
          <p:nvSpPr>
            <p:cNvPr id="668" name="Google Shape;668;p16"/>
            <p:cNvSpPr/>
            <p:nvPr/>
          </p:nvSpPr>
          <p:spPr>
            <a:xfrm>
              <a:off x="7894320" y="4864608"/>
              <a:ext cx="33528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950"/>
                <a:buFont typeface="Arial"/>
                <a:buNone/>
              </a:pPr>
              <a:r>
                <a:rPr i="1" lang="en-US" sz="950">
                  <a:solidFill>
                    <a:srgbClr val="B8C5D6"/>
                  </a:solidFill>
                  <a:latin typeface="Arial"/>
                  <a:ea typeface="Arial"/>
                  <a:cs typeface="Arial"/>
                  <a:sym typeface="Arial"/>
                </a:rPr>
                <a:t>At ~7.8% disagreement (47/599 in test); not a reviewer queue without validation</a:t>
              </a:r>
              <a:endParaRPr sz="950">
                <a:solidFill>
                  <a:schemeClr val="dk1"/>
                </a:solidFill>
                <a:latin typeface="Calibri"/>
                <a:ea typeface="Calibri"/>
                <a:cs typeface="Calibri"/>
                <a:sym typeface="Calibri"/>
              </a:endParaRPr>
            </a:p>
          </p:txBody>
        </p:sp>
      </p:grpSp>
      <p:sp>
        <p:nvSpPr>
          <p:cNvPr id="669" name="Google Shape;669;p16"/>
          <p:cNvSpPr/>
          <p:nvPr/>
        </p:nvSpPr>
        <p:spPr>
          <a:xfrm>
            <a:off x="457200" y="5267704"/>
            <a:ext cx="11247120" cy="96012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16"/>
          <p:cNvSpPr/>
          <p:nvPr/>
        </p:nvSpPr>
        <p:spPr>
          <a:xfrm>
            <a:off x="457200" y="5267704"/>
            <a:ext cx="54864" cy="96012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16"/>
          <p:cNvSpPr/>
          <p:nvPr/>
        </p:nvSpPr>
        <p:spPr>
          <a:xfrm>
            <a:off x="685800" y="5404864"/>
            <a:ext cx="3657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850"/>
              <a:buFont typeface="Arial"/>
              <a:buNone/>
            </a:pPr>
            <a:r>
              <a:rPr b="1" lang="en-US" sz="850">
                <a:solidFill>
                  <a:srgbClr val="5B9573"/>
                </a:solidFill>
                <a:latin typeface="Arial"/>
                <a:ea typeface="Arial"/>
                <a:cs typeface="Arial"/>
                <a:sym typeface="Arial"/>
              </a:rPr>
              <a:t>DESIGN PRINCIPLE</a:t>
            </a:r>
            <a:endParaRPr sz="850">
              <a:solidFill>
                <a:schemeClr val="dk1"/>
              </a:solidFill>
              <a:latin typeface="Calibri"/>
              <a:ea typeface="Calibri"/>
              <a:cs typeface="Calibri"/>
              <a:sym typeface="Calibri"/>
            </a:endParaRPr>
          </a:p>
        </p:txBody>
      </p:sp>
      <p:sp>
        <p:nvSpPr>
          <p:cNvPr id="672" name="Google Shape;672;p16"/>
          <p:cNvSpPr/>
          <p:nvPr/>
        </p:nvSpPr>
        <p:spPr>
          <a:xfrm>
            <a:off x="685800" y="5633464"/>
            <a:ext cx="10881360" cy="54864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Human-in-the-loop, never autonomous.  </a:t>
            </a:r>
            <a:r>
              <a:rPr lang="en-US" sz="1200">
                <a:solidFill>
                  <a:schemeClr val="lt2"/>
                </a:solidFill>
                <a:latin typeface="Arial"/>
                <a:ea typeface="Arial"/>
                <a:cs typeface="Arial"/>
                <a:sym typeface="Arial"/>
              </a:rPr>
              <a:t>The model never updates a record. It only changes which parcels reach a reviewer first, and only once we have evidence that those candidates are worth reviewing.</a:t>
            </a:r>
            <a:endParaRPr sz="1200">
              <a:solidFill>
                <a:schemeClr val="lt2"/>
              </a:solidFill>
              <a:latin typeface="Calibri"/>
              <a:ea typeface="Calibri"/>
              <a:cs typeface="Calibri"/>
              <a:sym typeface="Calibri"/>
            </a:endParaRPr>
          </a:p>
        </p:txBody>
      </p:sp>
      <p:cxnSp>
        <p:nvCxnSpPr>
          <p:cNvPr id="673" name="Google Shape;673;p16"/>
          <p:cNvCxnSpPr/>
          <p:nvPr/>
        </p:nvCxnSpPr>
        <p:spPr>
          <a:xfrm>
            <a:off x="457200" y="6446520"/>
            <a:ext cx="11247120" cy="0"/>
          </a:xfrm>
          <a:prstGeom prst="straightConnector1">
            <a:avLst/>
          </a:prstGeom>
          <a:noFill/>
          <a:ln cap="flat" cmpd="sng" w="9525">
            <a:solidFill>
              <a:srgbClr val="3D5478"/>
            </a:solidFill>
            <a:prstDash val="solid"/>
            <a:round/>
            <a:headEnd len="sm" w="sm" type="none"/>
            <a:tailEnd len="sm" w="sm" type="none"/>
          </a:ln>
        </p:spPr>
      </p:cxnSp>
      <p:sp>
        <p:nvSpPr>
          <p:cNvPr id="674" name="Google Shape;674;p16"/>
          <p:cNvSpPr/>
          <p:nvPr/>
        </p:nvSpPr>
        <p:spPr>
          <a:xfrm>
            <a:off x="457200" y="6565392"/>
            <a:ext cx="9601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800"/>
              <a:buFont typeface="Arial"/>
              <a:buNone/>
            </a:pPr>
            <a:r>
              <a:rPr i="1" lang="en-US" sz="800">
                <a:solidFill>
                  <a:srgbClr val="8B95A3"/>
                </a:solidFill>
                <a:latin typeface="Arial"/>
                <a:ea typeface="Arial"/>
                <a:cs typeface="Arial"/>
                <a:sym typeface="Arial"/>
              </a:rPr>
              <a:t>Production estimates extrapolated from the test-set disagreement rate (47/599 ≈ 7.8%); reviewer-queue validity pending</a:t>
            </a:r>
            <a:endParaRPr sz="800">
              <a:solidFill>
                <a:schemeClr val="dk1"/>
              </a:solidFill>
              <a:latin typeface="Calibri"/>
              <a:ea typeface="Calibri"/>
              <a:cs typeface="Calibri"/>
              <a:sym typeface="Calibri"/>
            </a:endParaRPr>
          </a:p>
        </p:txBody>
      </p:sp>
      <p:sp>
        <p:nvSpPr>
          <p:cNvPr id="675" name="Google Shape;675;p16"/>
          <p:cNvSpPr/>
          <p:nvPr/>
        </p:nvSpPr>
        <p:spPr>
          <a:xfrm>
            <a:off x="10058400" y="6565392"/>
            <a:ext cx="164592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A3"/>
              </a:buClr>
              <a:buSzPts val="800"/>
              <a:buFont typeface="Arial"/>
              <a:buNone/>
            </a:pPr>
            <a:r>
              <a:rPr b="1" lang="en-US" sz="800">
                <a:solidFill>
                  <a:srgbClr val="8B95A3"/>
                </a:solidFill>
                <a:latin typeface="Arial"/>
                <a:ea typeface="Arial"/>
                <a:cs typeface="Arial"/>
                <a:sym typeface="Arial"/>
              </a:rPr>
              <a:t>16 / 19</a:t>
            </a:r>
            <a:endParaRPr sz="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680" name="Shape 680"/>
        <p:cNvGrpSpPr/>
        <p:nvPr/>
      </p:nvGrpSpPr>
      <p:grpSpPr>
        <a:xfrm>
          <a:off x="0" y="0"/>
          <a:ext cx="0" cy="0"/>
          <a:chOff x="0" y="0"/>
          <a:chExt cx="0" cy="0"/>
        </a:xfrm>
      </p:grpSpPr>
      <p:cxnSp>
        <p:nvCxnSpPr>
          <p:cNvPr id="681" name="Google Shape;681;p17"/>
          <p:cNvCxnSpPr/>
          <p:nvPr/>
        </p:nvCxnSpPr>
        <p:spPr>
          <a:xfrm>
            <a:off x="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82" name="Google Shape;682;p17"/>
          <p:cNvCxnSpPr/>
          <p:nvPr/>
        </p:nvCxnSpPr>
        <p:spPr>
          <a:xfrm>
            <a:off x="457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83" name="Google Shape;683;p17"/>
          <p:cNvCxnSpPr/>
          <p:nvPr/>
        </p:nvCxnSpPr>
        <p:spPr>
          <a:xfrm>
            <a:off x="914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84" name="Google Shape;684;p17"/>
          <p:cNvCxnSpPr/>
          <p:nvPr/>
        </p:nvCxnSpPr>
        <p:spPr>
          <a:xfrm>
            <a:off x="1371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85" name="Google Shape;685;p17"/>
          <p:cNvCxnSpPr/>
          <p:nvPr/>
        </p:nvCxnSpPr>
        <p:spPr>
          <a:xfrm>
            <a:off x="1828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86" name="Google Shape;686;p17"/>
          <p:cNvCxnSpPr/>
          <p:nvPr/>
        </p:nvCxnSpPr>
        <p:spPr>
          <a:xfrm>
            <a:off x="2286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87" name="Google Shape;687;p17"/>
          <p:cNvCxnSpPr/>
          <p:nvPr/>
        </p:nvCxnSpPr>
        <p:spPr>
          <a:xfrm>
            <a:off x="2743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88" name="Google Shape;688;p17"/>
          <p:cNvCxnSpPr/>
          <p:nvPr/>
        </p:nvCxnSpPr>
        <p:spPr>
          <a:xfrm>
            <a:off x="3200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89" name="Google Shape;689;p17"/>
          <p:cNvCxnSpPr/>
          <p:nvPr/>
        </p:nvCxnSpPr>
        <p:spPr>
          <a:xfrm>
            <a:off x="3657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90" name="Google Shape;690;p17"/>
          <p:cNvCxnSpPr/>
          <p:nvPr/>
        </p:nvCxnSpPr>
        <p:spPr>
          <a:xfrm>
            <a:off x="4114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91" name="Google Shape;691;p17"/>
          <p:cNvCxnSpPr/>
          <p:nvPr/>
        </p:nvCxnSpPr>
        <p:spPr>
          <a:xfrm>
            <a:off x="4572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92" name="Google Shape;692;p17"/>
          <p:cNvCxnSpPr/>
          <p:nvPr/>
        </p:nvCxnSpPr>
        <p:spPr>
          <a:xfrm>
            <a:off x="5029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93" name="Google Shape;693;p17"/>
          <p:cNvCxnSpPr/>
          <p:nvPr/>
        </p:nvCxnSpPr>
        <p:spPr>
          <a:xfrm>
            <a:off x="5486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94" name="Google Shape;694;p17"/>
          <p:cNvCxnSpPr/>
          <p:nvPr/>
        </p:nvCxnSpPr>
        <p:spPr>
          <a:xfrm>
            <a:off x="5943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95" name="Google Shape;695;p17"/>
          <p:cNvCxnSpPr/>
          <p:nvPr/>
        </p:nvCxnSpPr>
        <p:spPr>
          <a:xfrm>
            <a:off x="6400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96" name="Google Shape;696;p17"/>
          <p:cNvCxnSpPr/>
          <p:nvPr/>
        </p:nvCxnSpPr>
        <p:spPr>
          <a:xfrm>
            <a:off x="6858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97" name="Google Shape;697;p17"/>
          <p:cNvCxnSpPr/>
          <p:nvPr/>
        </p:nvCxnSpPr>
        <p:spPr>
          <a:xfrm>
            <a:off x="7315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98" name="Google Shape;698;p17"/>
          <p:cNvCxnSpPr/>
          <p:nvPr/>
        </p:nvCxnSpPr>
        <p:spPr>
          <a:xfrm>
            <a:off x="7772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699" name="Google Shape;699;p17"/>
          <p:cNvCxnSpPr/>
          <p:nvPr/>
        </p:nvCxnSpPr>
        <p:spPr>
          <a:xfrm>
            <a:off x="8229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700" name="Google Shape;700;p17"/>
          <p:cNvCxnSpPr/>
          <p:nvPr/>
        </p:nvCxnSpPr>
        <p:spPr>
          <a:xfrm>
            <a:off x="8686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701" name="Google Shape;701;p17"/>
          <p:cNvCxnSpPr/>
          <p:nvPr/>
        </p:nvCxnSpPr>
        <p:spPr>
          <a:xfrm>
            <a:off x="9144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702" name="Google Shape;702;p17"/>
          <p:cNvCxnSpPr/>
          <p:nvPr/>
        </p:nvCxnSpPr>
        <p:spPr>
          <a:xfrm>
            <a:off x="9601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703" name="Google Shape;703;p17"/>
          <p:cNvCxnSpPr/>
          <p:nvPr/>
        </p:nvCxnSpPr>
        <p:spPr>
          <a:xfrm>
            <a:off x="10058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704" name="Google Shape;704;p17"/>
          <p:cNvCxnSpPr/>
          <p:nvPr/>
        </p:nvCxnSpPr>
        <p:spPr>
          <a:xfrm>
            <a:off x="10515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705" name="Google Shape;705;p17"/>
          <p:cNvCxnSpPr/>
          <p:nvPr/>
        </p:nvCxnSpPr>
        <p:spPr>
          <a:xfrm>
            <a:off x="10972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706" name="Google Shape;706;p17"/>
          <p:cNvCxnSpPr/>
          <p:nvPr/>
        </p:nvCxnSpPr>
        <p:spPr>
          <a:xfrm>
            <a:off x="11430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707" name="Google Shape;707;p17"/>
          <p:cNvCxnSpPr/>
          <p:nvPr/>
        </p:nvCxnSpPr>
        <p:spPr>
          <a:xfrm>
            <a:off x="11887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708" name="Google Shape;708;p17"/>
          <p:cNvCxnSpPr/>
          <p:nvPr/>
        </p:nvCxnSpPr>
        <p:spPr>
          <a:xfrm>
            <a:off x="0" y="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09" name="Google Shape;709;p17"/>
          <p:cNvCxnSpPr/>
          <p:nvPr/>
        </p:nvCxnSpPr>
        <p:spPr>
          <a:xfrm>
            <a:off x="0" y="4572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10" name="Google Shape;710;p17"/>
          <p:cNvCxnSpPr/>
          <p:nvPr/>
        </p:nvCxnSpPr>
        <p:spPr>
          <a:xfrm>
            <a:off x="0" y="9144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11" name="Google Shape;711;p17"/>
          <p:cNvCxnSpPr/>
          <p:nvPr/>
        </p:nvCxnSpPr>
        <p:spPr>
          <a:xfrm>
            <a:off x="0" y="13716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12" name="Google Shape;712;p17"/>
          <p:cNvCxnSpPr/>
          <p:nvPr/>
        </p:nvCxnSpPr>
        <p:spPr>
          <a:xfrm>
            <a:off x="0" y="18288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13" name="Google Shape;713;p17"/>
          <p:cNvCxnSpPr/>
          <p:nvPr/>
        </p:nvCxnSpPr>
        <p:spPr>
          <a:xfrm>
            <a:off x="0" y="22860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14" name="Google Shape;714;p17"/>
          <p:cNvCxnSpPr/>
          <p:nvPr/>
        </p:nvCxnSpPr>
        <p:spPr>
          <a:xfrm>
            <a:off x="0" y="27432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15" name="Google Shape;715;p17"/>
          <p:cNvCxnSpPr/>
          <p:nvPr/>
        </p:nvCxnSpPr>
        <p:spPr>
          <a:xfrm>
            <a:off x="0" y="32004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16" name="Google Shape;716;p17"/>
          <p:cNvCxnSpPr/>
          <p:nvPr/>
        </p:nvCxnSpPr>
        <p:spPr>
          <a:xfrm>
            <a:off x="0" y="36576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17" name="Google Shape;717;p17"/>
          <p:cNvCxnSpPr/>
          <p:nvPr/>
        </p:nvCxnSpPr>
        <p:spPr>
          <a:xfrm>
            <a:off x="0" y="41148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18" name="Google Shape;718;p17"/>
          <p:cNvCxnSpPr/>
          <p:nvPr/>
        </p:nvCxnSpPr>
        <p:spPr>
          <a:xfrm>
            <a:off x="0" y="45720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19" name="Google Shape;719;p17"/>
          <p:cNvCxnSpPr/>
          <p:nvPr/>
        </p:nvCxnSpPr>
        <p:spPr>
          <a:xfrm>
            <a:off x="0" y="50292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20" name="Google Shape;720;p17"/>
          <p:cNvCxnSpPr/>
          <p:nvPr/>
        </p:nvCxnSpPr>
        <p:spPr>
          <a:xfrm>
            <a:off x="0" y="54864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21" name="Google Shape;721;p17"/>
          <p:cNvCxnSpPr/>
          <p:nvPr/>
        </p:nvCxnSpPr>
        <p:spPr>
          <a:xfrm>
            <a:off x="0" y="59436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22" name="Google Shape;722;p17"/>
          <p:cNvCxnSpPr/>
          <p:nvPr/>
        </p:nvCxnSpPr>
        <p:spPr>
          <a:xfrm>
            <a:off x="0" y="64008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23" name="Google Shape;723;p17"/>
          <p:cNvCxnSpPr/>
          <p:nvPr/>
        </p:nvCxnSpPr>
        <p:spPr>
          <a:xfrm>
            <a:off x="0" y="6858000"/>
            <a:ext cx="12189000" cy="0"/>
          </a:xfrm>
          <a:prstGeom prst="straightConnector1">
            <a:avLst/>
          </a:prstGeom>
          <a:noFill/>
          <a:ln cap="flat" cmpd="sng" w="9525">
            <a:solidFill>
              <a:srgbClr val="2A4870"/>
            </a:solidFill>
            <a:prstDash val="solid"/>
            <a:round/>
            <a:headEnd len="sm" w="sm" type="none"/>
            <a:tailEnd len="sm" w="sm" type="none"/>
          </a:ln>
        </p:spPr>
      </p:cxnSp>
      <p:cxnSp>
        <p:nvCxnSpPr>
          <p:cNvPr id="724" name="Google Shape;724;p17"/>
          <p:cNvCxnSpPr/>
          <p:nvPr/>
        </p:nvCxnSpPr>
        <p:spPr>
          <a:xfrm>
            <a:off x="502920" y="640080"/>
            <a:ext cx="274200" cy="0"/>
          </a:xfrm>
          <a:prstGeom prst="straightConnector1">
            <a:avLst/>
          </a:prstGeom>
          <a:noFill/>
          <a:ln cap="flat" cmpd="sng" w="12700">
            <a:solidFill>
              <a:srgbClr val="5B9573"/>
            </a:solidFill>
            <a:prstDash val="solid"/>
            <a:round/>
            <a:headEnd len="sm" w="sm" type="none"/>
            <a:tailEnd len="sm" w="sm" type="none"/>
          </a:ln>
        </p:spPr>
      </p:cxnSp>
      <p:cxnSp>
        <p:nvCxnSpPr>
          <p:cNvPr id="725" name="Google Shape;725;p17"/>
          <p:cNvCxnSpPr/>
          <p:nvPr/>
        </p:nvCxnSpPr>
        <p:spPr>
          <a:xfrm>
            <a:off x="640080" y="502920"/>
            <a:ext cx="0" cy="274200"/>
          </a:xfrm>
          <a:prstGeom prst="straightConnector1">
            <a:avLst/>
          </a:prstGeom>
          <a:noFill/>
          <a:ln cap="flat" cmpd="sng" w="12700">
            <a:solidFill>
              <a:srgbClr val="5B9573"/>
            </a:solidFill>
            <a:prstDash val="solid"/>
            <a:round/>
            <a:headEnd len="sm" w="sm" type="none"/>
            <a:tailEnd len="sm" w="sm" type="none"/>
          </a:ln>
        </p:spPr>
      </p:cxnSp>
      <p:sp>
        <p:nvSpPr>
          <p:cNvPr id="726" name="Google Shape;726;p17"/>
          <p:cNvSpPr/>
          <p:nvPr/>
        </p:nvSpPr>
        <p:spPr>
          <a:xfrm>
            <a:off x="617220" y="617220"/>
            <a:ext cx="45600" cy="4560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727" name="Google Shape;727;p17"/>
          <p:cNvCxnSpPr/>
          <p:nvPr/>
        </p:nvCxnSpPr>
        <p:spPr>
          <a:xfrm>
            <a:off x="11411712" y="640080"/>
            <a:ext cx="274200" cy="0"/>
          </a:xfrm>
          <a:prstGeom prst="straightConnector1">
            <a:avLst/>
          </a:prstGeom>
          <a:noFill/>
          <a:ln cap="flat" cmpd="sng" w="12700">
            <a:solidFill>
              <a:srgbClr val="5B9573"/>
            </a:solidFill>
            <a:prstDash val="solid"/>
            <a:round/>
            <a:headEnd len="sm" w="sm" type="none"/>
            <a:tailEnd len="sm" w="sm" type="none"/>
          </a:ln>
        </p:spPr>
      </p:cxnSp>
      <p:cxnSp>
        <p:nvCxnSpPr>
          <p:cNvPr id="728" name="Google Shape;728;p17"/>
          <p:cNvCxnSpPr/>
          <p:nvPr/>
        </p:nvCxnSpPr>
        <p:spPr>
          <a:xfrm>
            <a:off x="11548872" y="502920"/>
            <a:ext cx="0" cy="274200"/>
          </a:xfrm>
          <a:prstGeom prst="straightConnector1">
            <a:avLst/>
          </a:prstGeom>
          <a:noFill/>
          <a:ln cap="flat" cmpd="sng" w="12700">
            <a:solidFill>
              <a:srgbClr val="5B9573"/>
            </a:solidFill>
            <a:prstDash val="solid"/>
            <a:round/>
            <a:headEnd len="sm" w="sm" type="none"/>
            <a:tailEnd len="sm" w="sm" type="none"/>
          </a:ln>
        </p:spPr>
      </p:cxnSp>
      <p:sp>
        <p:nvSpPr>
          <p:cNvPr id="729" name="Google Shape;729;p17"/>
          <p:cNvSpPr/>
          <p:nvPr/>
        </p:nvSpPr>
        <p:spPr>
          <a:xfrm>
            <a:off x="11526012" y="617220"/>
            <a:ext cx="45600" cy="4560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730" name="Google Shape;730;p17"/>
          <p:cNvCxnSpPr/>
          <p:nvPr/>
        </p:nvCxnSpPr>
        <p:spPr>
          <a:xfrm>
            <a:off x="502920" y="6217920"/>
            <a:ext cx="274200" cy="0"/>
          </a:xfrm>
          <a:prstGeom prst="straightConnector1">
            <a:avLst/>
          </a:prstGeom>
          <a:noFill/>
          <a:ln cap="flat" cmpd="sng" w="12700">
            <a:solidFill>
              <a:srgbClr val="5B9573"/>
            </a:solidFill>
            <a:prstDash val="solid"/>
            <a:round/>
            <a:headEnd len="sm" w="sm" type="none"/>
            <a:tailEnd len="sm" w="sm" type="none"/>
          </a:ln>
        </p:spPr>
      </p:cxnSp>
      <p:cxnSp>
        <p:nvCxnSpPr>
          <p:cNvPr id="731" name="Google Shape;731;p17"/>
          <p:cNvCxnSpPr/>
          <p:nvPr/>
        </p:nvCxnSpPr>
        <p:spPr>
          <a:xfrm>
            <a:off x="640080" y="6080760"/>
            <a:ext cx="0" cy="274200"/>
          </a:xfrm>
          <a:prstGeom prst="straightConnector1">
            <a:avLst/>
          </a:prstGeom>
          <a:noFill/>
          <a:ln cap="flat" cmpd="sng" w="12700">
            <a:solidFill>
              <a:srgbClr val="5B9573"/>
            </a:solidFill>
            <a:prstDash val="solid"/>
            <a:round/>
            <a:headEnd len="sm" w="sm" type="none"/>
            <a:tailEnd len="sm" w="sm" type="none"/>
          </a:ln>
        </p:spPr>
      </p:cxnSp>
      <p:sp>
        <p:nvSpPr>
          <p:cNvPr id="732" name="Google Shape;732;p17"/>
          <p:cNvSpPr/>
          <p:nvPr/>
        </p:nvSpPr>
        <p:spPr>
          <a:xfrm>
            <a:off x="617220" y="6195060"/>
            <a:ext cx="45600" cy="4560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733" name="Google Shape;733;p17"/>
          <p:cNvCxnSpPr/>
          <p:nvPr/>
        </p:nvCxnSpPr>
        <p:spPr>
          <a:xfrm>
            <a:off x="11411712" y="6217920"/>
            <a:ext cx="274200" cy="0"/>
          </a:xfrm>
          <a:prstGeom prst="straightConnector1">
            <a:avLst/>
          </a:prstGeom>
          <a:noFill/>
          <a:ln cap="flat" cmpd="sng" w="12700">
            <a:solidFill>
              <a:srgbClr val="5B9573"/>
            </a:solidFill>
            <a:prstDash val="solid"/>
            <a:round/>
            <a:headEnd len="sm" w="sm" type="none"/>
            <a:tailEnd len="sm" w="sm" type="none"/>
          </a:ln>
        </p:spPr>
      </p:cxnSp>
      <p:cxnSp>
        <p:nvCxnSpPr>
          <p:cNvPr id="734" name="Google Shape;734;p17"/>
          <p:cNvCxnSpPr/>
          <p:nvPr/>
        </p:nvCxnSpPr>
        <p:spPr>
          <a:xfrm>
            <a:off x="11548872" y="6080760"/>
            <a:ext cx="0" cy="274200"/>
          </a:xfrm>
          <a:prstGeom prst="straightConnector1">
            <a:avLst/>
          </a:prstGeom>
          <a:noFill/>
          <a:ln cap="flat" cmpd="sng" w="12700">
            <a:solidFill>
              <a:srgbClr val="5B9573"/>
            </a:solidFill>
            <a:prstDash val="solid"/>
            <a:round/>
            <a:headEnd len="sm" w="sm" type="none"/>
            <a:tailEnd len="sm" w="sm" type="none"/>
          </a:ln>
        </p:spPr>
      </p:cxnSp>
      <p:sp>
        <p:nvSpPr>
          <p:cNvPr id="735" name="Google Shape;735;p17"/>
          <p:cNvSpPr/>
          <p:nvPr/>
        </p:nvSpPr>
        <p:spPr>
          <a:xfrm>
            <a:off x="11526012" y="6195060"/>
            <a:ext cx="45600" cy="4560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6" name="Google Shape;736;p17"/>
          <p:cNvSpPr/>
          <p:nvPr/>
        </p:nvSpPr>
        <p:spPr>
          <a:xfrm>
            <a:off x="914400" y="2813447"/>
            <a:ext cx="36600" cy="123120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17"/>
          <p:cNvSpPr/>
          <p:nvPr/>
        </p:nvSpPr>
        <p:spPr>
          <a:xfrm>
            <a:off x="1143000" y="2813447"/>
            <a:ext cx="8302800" cy="1231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Arial"/>
                <a:ea typeface="Arial"/>
                <a:cs typeface="Arial"/>
                <a:sym typeface="Arial"/>
              </a:rPr>
              <a:t>Conclusion, Recommendations &amp; Next Steps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742" name="Shape 742"/>
        <p:cNvGrpSpPr/>
        <p:nvPr/>
      </p:nvGrpSpPr>
      <p:grpSpPr>
        <a:xfrm>
          <a:off x="0" y="0"/>
          <a:ext cx="0" cy="0"/>
          <a:chOff x="0" y="0"/>
          <a:chExt cx="0" cy="0"/>
        </a:xfrm>
      </p:grpSpPr>
      <p:sp>
        <p:nvSpPr>
          <p:cNvPr id="743" name="Google Shape;743;p18"/>
          <p:cNvSpPr/>
          <p:nvPr/>
        </p:nvSpPr>
        <p:spPr>
          <a:xfrm>
            <a:off x="457200" y="365760"/>
            <a:ext cx="320040" cy="18288"/>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 name="Google Shape;744;p18"/>
          <p:cNvSpPr/>
          <p:nvPr/>
        </p:nvSpPr>
        <p:spPr>
          <a:xfrm>
            <a:off x="457200" y="411480"/>
            <a:ext cx="11247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lang="en-US" sz="2800">
                <a:solidFill>
                  <a:srgbClr val="FFFFFF"/>
                </a:solidFill>
                <a:latin typeface="Arial"/>
                <a:ea typeface="Arial"/>
                <a:cs typeface="Arial"/>
                <a:sym typeface="Arial"/>
              </a:rPr>
              <a:t>Conclusion</a:t>
            </a:r>
            <a:endParaRPr sz="2800">
              <a:solidFill>
                <a:schemeClr val="dk1"/>
              </a:solidFill>
              <a:latin typeface="Calibri"/>
              <a:ea typeface="Calibri"/>
              <a:cs typeface="Calibri"/>
              <a:sym typeface="Calibri"/>
            </a:endParaRPr>
          </a:p>
        </p:txBody>
      </p:sp>
      <p:sp>
        <p:nvSpPr>
          <p:cNvPr id="745" name="Google Shape;745;p18"/>
          <p:cNvSpPr/>
          <p:nvPr/>
        </p:nvSpPr>
        <p:spPr>
          <a:xfrm>
            <a:off x="457200" y="960120"/>
            <a:ext cx="11247120" cy="5029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A working parcel-built classifier; the originally proposed screener use case is honest future work</a:t>
            </a:r>
            <a:endParaRPr sz="1600">
              <a:solidFill>
                <a:schemeClr val="dk1"/>
              </a:solidFill>
              <a:latin typeface="Calibri"/>
              <a:ea typeface="Calibri"/>
              <a:cs typeface="Calibri"/>
              <a:sym typeface="Calibri"/>
            </a:endParaRPr>
          </a:p>
        </p:txBody>
      </p:sp>
      <p:sp>
        <p:nvSpPr>
          <p:cNvPr id="746" name="Google Shape;746;p18"/>
          <p:cNvSpPr/>
          <p:nvPr/>
        </p:nvSpPr>
        <p:spPr>
          <a:xfrm>
            <a:off x="457200" y="1496240"/>
            <a:ext cx="3657600" cy="402336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7" name="Google Shape;747;p18"/>
          <p:cNvSpPr/>
          <p:nvPr/>
        </p:nvSpPr>
        <p:spPr>
          <a:xfrm>
            <a:off x="1874520" y="1862000"/>
            <a:ext cx="822960" cy="822960"/>
          </a:xfrm>
          <a:prstGeom prst="roundRect">
            <a:avLst>
              <a:gd fmla="val 50000" name="adj"/>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48" name="Google Shape;748;p18"/>
          <p:cNvPicPr preferRelativeResize="0"/>
          <p:nvPr/>
        </p:nvPicPr>
        <p:blipFill rotWithShape="1">
          <a:blip r:embed="rId3">
            <a:alphaModFix/>
          </a:blip>
          <a:srcRect b="0" l="0" r="0" t="0"/>
          <a:stretch/>
        </p:blipFill>
        <p:spPr>
          <a:xfrm>
            <a:off x="2039112" y="2026592"/>
            <a:ext cx="493776" cy="493776"/>
          </a:xfrm>
          <a:prstGeom prst="rect">
            <a:avLst/>
          </a:prstGeom>
          <a:noFill/>
          <a:ln>
            <a:noFill/>
          </a:ln>
        </p:spPr>
      </p:pic>
      <p:sp>
        <p:nvSpPr>
          <p:cNvPr id="749" name="Google Shape;749;p18"/>
          <p:cNvSpPr/>
          <p:nvPr/>
        </p:nvSpPr>
        <p:spPr>
          <a:xfrm>
            <a:off x="731530" y="2702590"/>
            <a:ext cx="3291900" cy="10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400"/>
              <a:buFont typeface="Arial"/>
              <a:buNone/>
            </a:pPr>
            <a:r>
              <a:rPr b="1" lang="en-US" sz="6400">
                <a:solidFill>
                  <a:srgbClr val="FFFFFF"/>
                </a:solidFill>
                <a:latin typeface="Arial"/>
                <a:ea typeface="Arial"/>
                <a:cs typeface="Arial"/>
                <a:sym typeface="Arial"/>
              </a:rPr>
              <a:t>94%</a:t>
            </a:r>
            <a:endParaRPr sz="6400">
              <a:solidFill>
                <a:schemeClr val="dk1"/>
              </a:solidFill>
              <a:latin typeface="Calibri"/>
              <a:ea typeface="Calibri"/>
              <a:cs typeface="Calibri"/>
              <a:sym typeface="Calibri"/>
            </a:endParaRPr>
          </a:p>
        </p:txBody>
      </p:sp>
      <p:sp>
        <p:nvSpPr>
          <p:cNvPr id="750" name="Google Shape;750;p18"/>
          <p:cNvSpPr/>
          <p:nvPr/>
        </p:nvSpPr>
        <p:spPr>
          <a:xfrm>
            <a:off x="731530" y="3817620"/>
            <a:ext cx="3291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553D"/>
              </a:buClr>
              <a:buSzPts val="1050"/>
              <a:buFont typeface="Arial"/>
              <a:buNone/>
            </a:pPr>
            <a:r>
              <a:rPr b="1" lang="en-US">
                <a:solidFill>
                  <a:srgbClr val="C8553D"/>
                </a:solidFill>
                <a:latin typeface="Arial"/>
                <a:ea typeface="Arial"/>
                <a:cs typeface="Arial"/>
                <a:sym typeface="Arial"/>
              </a:rPr>
              <a:t>TEST ACCURACY</a:t>
            </a:r>
            <a:endParaRPr>
              <a:solidFill>
                <a:schemeClr val="dk1"/>
              </a:solidFill>
              <a:latin typeface="Calibri"/>
              <a:ea typeface="Calibri"/>
              <a:cs typeface="Calibri"/>
              <a:sym typeface="Calibri"/>
            </a:endParaRPr>
          </a:p>
        </p:txBody>
      </p:sp>
      <p:cxnSp>
        <p:nvCxnSpPr>
          <p:cNvPr id="751" name="Google Shape;751;p18"/>
          <p:cNvCxnSpPr/>
          <p:nvPr/>
        </p:nvCxnSpPr>
        <p:spPr>
          <a:xfrm>
            <a:off x="1554480" y="4220160"/>
            <a:ext cx="1463100" cy="0"/>
          </a:xfrm>
          <a:prstGeom prst="straightConnector1">
            <a:avLst/>
          </a:prstGeom>
          <a:noFill/>
          <a:ln cap="flat" cmpd="sng" w="9525">
            <a:solidFill>
              <a:srgbClr val="2A4870"/>
            </a:solidFill>
            <a:prstDash val="solid"/>
            <a:round/>
            <a:headEnd len="sm" w="sm" type="none"/>
            <a:tailEnd len="sm" w="sm" type="none"/>
          </a:ln>
        </p:spPr>
      </p:cxnSp>
      <p:sp>
        <p:nvSpPr>
          <p:cNvPr id="752" name="Google Shape;752;p18"/>
          <p:cNvSpPr/>
          <p:nvPr/>
        </p:nvSpPr>
        <p:spPr>
          <a:xfrm>
            <a:off x="731520" y="4422320"/>
            <a:ext cx="3108960" cy="100584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B8C5D6"/>
              </a:buClr>
              <a:buSzPts val="1150"/>
              <a:buFont typeface="Arial"/>
              <a:buNone/>
            </a:pPr>
            <a:r>
              <a:rPr b="1" lang="en-US" sz="1200">
                <a:solidFill>
                  <a:schemeClr val="lt2"/>
                </a:solidFill>
              </a:rPr>
              <a:t>Both the upgraded baseline CNN (0.948) and frozen MobileNetV2 (0.922) reach high-0.9s test accuracy and ~0.99 AUC against the proxy labels.</a:t>
            </a:r>
            <a:endParaRPr b="1" sz="1200">
              <a:solidFill>
                <a:schemeClr val="lt2"/>
              </a:solidFill>
              <a:latin typeface="Calibri"/>
              <a:ea typeface="Calibri"/>
              <a:cs typeface="Calibri"/>
              <a:sym typeface="Calibri"/>
            </a:endParaRPr>
          </a:p>
        </p:txBody>
      </p:sp>
      <p:sp>
        <p:nvSpPr>
          <p:cNvPr id="753" name="Google Shape;753;p18"/>
          <p:cNvSpPr/>
          <p:nvPr/>
        </p:nvSpPr>
        <p:spPr>
          <a:xfrm>
            <a:off x="4251960" y="1496240"/>
            <a:ext cx="3657600" cy="402336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18"/>
          <p:cNvSpPr/>
          <p:nvPr/>
        </p:nvSpPr>
        <p:spPr>
          <a:xfrm>
            <a:off x="5669280" y="1862000"/>
            <a:ext cx="822960" cy="822960"/>
          </a:xfrm>
          <a:prstGeom prst="roundRect">
            <a:avLst>
              <a:gd fmla="val 50000" name="adj"/>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55" name="Google Shape;755;p18"/>
          <p:cNvPicPr preferRelativeResize="0"/>
          <p:nvPr/>
        </p:nvPicPr>
        <p:blipFill rotWithShape="1">
          <a:blip r:embed="rId4">
            <a:alphaModFix/>
          </a:blip>
          <a:srcRect b="0" l="0" r="0" t="0"/>
          <a:stretch/>
        </p:blipFill>
        <p:spPr>
          <a:xfrm>
            <a:off x="5833872" y="2026592"/>
            <a:ext cx="493776" cy="493776"/>
          </a:xfrm>
          <a:prstGeom prst="rect">
            <a:avLst/>
          </a:prstGeom>
          <a:noFill/>
          <a:ln>
            <a:noFill/>
          </a:ln>
        </p:spPr>
      </p:pic>
      <p:sp>
        <p:nvSpPr>
          <p:cNvPr id="756" name="Google Shape;756;p18"/>
          <p:cNvSpPr/>
          <p:nvPr/>
        </p:nvSpPr>
        <p:spPr>
          <a:xfrm>
            <a:off x="4434803" y="2694053"/>
            <a:ext cx="3291900" cy="10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400"/>
              <a:buFont typeface="Arial"/>
              <a:buNone/>
            </a:pPr>
            <a:r>
              <a:rPr b="1" lang="en-US" sz="6400">
                <a:solidFill>
                  <a:srgbClr val="FFFFFF"/>
                </a:solidFill>
                <a:latin typeface="Arial"/>
                <a:ea typeface="Arial"/>
                <a:cs typeface="Arial"/>
                <a:sym typeface="Arial"/>
              </a:rPr>
              <a:t>47</a:t>
            </a:r>
            <a:endParaRPr sz="6400">
              <a:solidFill>
                <a:schemeClr val="dk1"/>
              </a:solidFill>
              <a:latin typeface="Calibri"/>
              <a:ea typeface="Calibri"/>
              <a:cs typeface="Calibri"/>
              <a:sym typeface="Calibri"/>
            </a:endParaRPr>
          </a:p>
        </p:txBody>
      </p:sp>
      <p:sp>
        <p:nvSpPr>
          <p:cNvPr id="757" name="Google Shape;757;p18"/>
          <p:cNvSpPr/>
          <p:nvPr/>
        </p:nvSpPr>
        <p:spPr>
          <a:xfrm>
            <a:off x="4434853" y="3817620"/>
            <a:ext cx="3291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553D"/>
              </a:buClr>
              <a:buSzPts val="1050"/>
              <a:buFont typeface="Arial"/>
              <a:buNone/>
            </a:pPr>
            <a:r>
              <a:rPr b="1" lang="en-US">
                <a:solidFill>
                  <a:srgbClr val="C8553D"/>
                </a:solidFill>
                <a:latin typeface="Arial"/>
                <a:ea typeface="Arial"/>
                <a:cs typeface="Arial"/>
                <a:sym typeface="Arial"/>
              </a:rPr>
              <a:t>MODEL ERRORS / 599</a:t>
            </a:r>
            <a:endParaRPr>
              <a:solidFill>
                <a:schemeClr val="dk1"/>
              </a:solidFill>
              <a:latin typeface="Calibri"/>
              <a:ea typeface="Calibri"/>
              <a:cs typeface="Calibri"/>
              <a:sym typeface="Calibri"/>
            </a:endParaRPr>
          </a:p>
        </p:txBody>
      </p:sp>
      <p:cxnSp>
        <p:nvCxnSpPr>
          <p:cNvPr id="758" name="Google Shape;758;p18"/>
          <p:cNvCxnSpPr/>
          <p:nvPr/>
        </p:nvCxnSpPr>
        <p:spPr>
          <a:xfrm>
            <a:off x="5349240" y="4220160"/>
            <a:ext cx="1463100" cy="0"/>
          </a:xfrm>
          <a:prstGeom prst="straightConnector1">
            <a:avLst/>
          </a:prstGeom>
          <a:noFill/>
          <a:ln cap="flat" cmpd="sng" w="9525">
            <a:solidFill>
              <a:srgbClr val="2A4870"/>
            </a:solidFill>
            <a:prstDash val="solid"/>
            <a:round/>
            <a:headEnd len="sm" w="sm" type="none"/>
            <a:tailEnd len="sm" w="sm" type="none"/>
          </a:ln>
        </p:spPr>
      </p:cxnSp>
      <p:sp>
        <p:nvSpPr>
          <p:cNvPr id="759" name="Google Shape;759;p18"/>
          <p:cNvSpPr/>
          <p:nvPr/>
        </p:nvSpPr>
        <p:spPr>
          <a:xfrm>
            <a:off x="4526280" y="4422320"/>
            <a:ext cx="3108960" cy="100584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B8C5D6"/>
              </a:buClr>
              <a:buSzPts val="1150"/>
              <a:buFont typeface="Arial"/>
              <a:buNone/>
            </a:pPr>
            <a:r>
              <a:rPr b="1" lang="en-US" sz="1200">
                <a:solidFill>
                  <a:schemeClr val="lt2"/>
                </a:solidFill>
              </a:rPr>
              <a:t>MobileNetV2 disagrees with the records on 47 of 599 test parcels (~7.8%). Manual inspection: these are model errors, not label errors.</a:t>
            </a:r>
            <a:endParaRPr b="1" sz="1200">
              <a:solidFill>
                <a:schemeClr val="lt2"/>
              </a:solidFill>
              <a:latin typeface="Calibri"/>
              <a:ea typeface="Calibri"/>
              <a:cs typeface="Calibri"/>
              <a:sym typeface="Calibri"/>
            </a:endParaRPr>
          </a:p>
        </p:txBody>
      </p:sp>
      <p:sp>
        <p:nvSpPr>
          <p:cNvPr id="760" name="Google Shape;760;p18"/>
          <p:cNvSpPr/>
          <p:nvPr/>
        </p:nvSpPr>
        <p:spPr>
          <a:xfrm>
            <a:off x="8046720" y="1496240"/>
            <a:ext cx="3657600" cy="4023360"/>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1" name="Google Shape;761;p18"/>
          <p:cNvSpPr/>
          <p:nvPr/>
        </p:nvSpPr>
        <p:spPr>
          <a:xfrm>
            <a:off x="9464040" y="1862000"/>
            <a:ext cx="822960" cy="822960"/>
          </a:xfrm>
          <a:prstGeom prst="roundRect">
            <a:avLst>
              <a:gd fmla="val 50000" name="adj"/>
            </a:avLst>
          </a:prstGeom>
          <a:solidFill>
            <a:srgbClr val="152540"/>
          </a:solidFill>
          <a:ln cap="flat" cmpd="sng" w="12700">
            <a:solidFill>
              <a:srgbClr val="15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62" name="Google Shape;762;p18"/>
          <p:cNvPicPr preferRelativeResize="0"/>
          <p:nvPr/>
        </p:nvPicPr>
        <p:blipFill rotWithShape="1">
          <a:blip r:embed="rId5">
            <a:alphaModFix/>
          </a:blip>
          <a:srcRect b="0" l="0" r="0" t="0"/>
          <a:stretch/>
        </p:blipFill>
        <p:spPr>
          <a:xfrm>
            <a:off x="9628632" y="2026592"/>
            <a:ext cx="493776" cy="493776"/>
          </a:xfrm>
          <a:prstGeom prst="rect">
            <a:avLst/>
          </a:prstGeom>
          <a:noFill/>
          <a:ln>
            <a:noFill/>
          </a:ln>
        </p:spPr>
      </p:pic>
      <p:sp>
        <p:nvSpPr>
          <p:cNvPr id="763" name="Google Shape;763;p18"/>
          <p:cNvSpPr/>
          <p:nvPr/>
        </p:nvSpPr>
        <p:spPr>
          <a:xfrm>
            <a:off x="8229575" y="2694103"/>
            <a:ext cx="3291900" cy="10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400"/>
              <a:buFont typeface="Arial"/>
              <a:buNone/>
            </a:pPr>
            <a:r>
              <a:rPr b="1" lang="en-US" sz="6400">
                <a:solidFill>
                  <a:srgbClr val="FFFFFF"/>
                </a:solidFill>
                <a:latin typeface="Arial"/>
                <a:ea typeface="Arial"/>
                <a:cs typeface="Arial"/>
                <a:sym typeface="Arial"/>
              </a:rPr>
              <a:t>1</a:t>
            </a:r>
            <a:endParaRPr sz="6400">
              <a:solidFill>
                <a:schemeClr val="dk1"/>
              </a:solidFill>
              <a:latin typeface="Calibri"/>
              <a:ea typeface="Calibri"/>
              <a:cs typeface="Calibri"/>
              <a:sym typeface="Calibri"/>
            </a:endParaRPr>
          </a:p>
        </p:txBody>
      </p:sp>
      <p:sp>
        <p:nvSpPr>
          <p:cNvPr id="764" name="Google Shape;764;p18"/>
          <p:cNvSpPr/>
          <p:nvPr/>
        </p:nvSpPr>
        <p:spPr>
          <a:xfrm>
            <a:off x="8229625" y="3817620"/>
            <a:ext cx="3291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553D"/>
              </a:buClr>
              <a:buSzPts val="1050"/>
              <a:buFont typeface="Arial"/>
              <a:buNone/>
            </a:pPr>
            <a:r>
              <a:rPr b="1" lang="en-US">
                <a:solidFill>
                  <a:srgbClr val="C8553D"/>
                </a:solidFill>
                <a:latin typeface="Arial"/>
                <a:ea typeface="Arial"/>
                <a:cs typeface="Arial"/>
                <a:sym typeface="Arial"/>
              </a:rPr>
              <a:t>STEP IN A LARGER WORKFLOW</a:t>
            </a:r>
            <a:endParaRPr>
              <a:solidFill>
                <a:schemeClr val="dk1"/>
              </a:solidFill>
              <a:latin typeface="Calibri"/>
              <a:ea typeface="Calibri"/>
              <a:cs typeface="Calibri"/>
              <a:sym typeface="Calibri"/>
            </a:endParaRPr>
          </a:p>
        </p:txBody>
      </p:sp>
      <p:cxnSp>
        <p:nvCxnSpPr>
          <p:cNvPr id="765" name="Google Shape;765;p18"/>
          <p:cNvCxnSpPr/>
          <p:nvPr/>
        </p:nvCxnSpPr>
        <p:spPr>
          <a:xfrm>
            <a:off x="9143988" y="4209910"/>
            <a:ext cx="1463100" cy="0"/>
          </a:xfrm>
          <a:prstGeom prst="straightConnector1">
            <a:avLst/>
          </a:prstGeom>
          <a:noFill/>
          <a:ln cap="flat" cmpd="sng" w="9525">
            <a:solidFill>
              <a:srgbClr val="2A4870"/>
            </a:solidFill>
            <a:prstDash val="solid"/>
            <a:round/>
            <a:headEnd len="sm" w="sm" type="none"/>
            <a:tailEnd len="sm" w="sm" type="none"/>
          </a:ln>
        </p:spPr>
      </p:cxnSp>
      <p:sp>
        <p:nvSpPr>
          <p:cNvPr id="766" name="Google Shape;766;p18"/>
          <p:cNvSpPr/>
          <p:nvPr/>
        </p:nvSpPr>
        <p:spPr>
          <a:xfrm>
            <a:off x="8321040" y="4422320"/>
            <a:ext cx="3108960" cy="100584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B8C5D6"/>
              </a:buClr>
              <a:buSzPts val="1150"/>
              <a:buFont typeface="Arial"/>
              <a:buNone/>
            </a:pPr>
            <a:r>
              <a:rPr b="1" lang="en-US" sz="1200">
                <a:solidFill>
                  <a:schemeClr val="lt2"/>
                </a:solidFill>
              </a:rPr>
              <a:t>The classifier is delivered. Validating it as a label-error screener requires a manually verified evaluation set (see Recommendations).</a:t>
            </a:r>
            <a:endParaRPr b="1" sz="1200">
              <a:solidFill>
                <a:schemeClr val="lt2"/>
              </a:solidFill>
              <a:latin typeface="Calibri"/>
              <a:ea typeface="Calibri"/>
              <a:cs typeface="Calibri"/>
              <a:sym typeface="Calibri"/>
            </a:endParaRPr>
          </a:p>
        </p:txBody>
      </p:sp>
      <p:sp>
        <p:nvSpPr>
          <p:cNvPr id="767" name="Google Shape;767;p18"/>
          <p:cNvSpPr/>
          <p:nvPr/>
        </p:nvSpPr>
        <p:spPr>
          <a:xfrm>
            <a:off x="457200" y="5716724"/>
            <a:ext cx="11247000" cy="66840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8" name="Google Shape;768;p18"/>
          <p:cNvSpPr/>
          <p:nvPr/>
        </p:nvSpPr>
        <p:spPr>
          <a:xfrm>
            <a:off x="640080" y="5760720"/>
            <a:ext cx="10881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1150"/>
              <a:buFont typeface="Arial"/>
              <a:buNone/>
            </a:pPr>
            <a:r>
              <a:rPr b="1" lang="en-US" sz="1150">
                <a:solidFill>
                  <a:srgbClr val="C8553D"/>
                </a:solidFill>
                <a:latin typeface="Arial"/>
                <a:ea typeface="Arial"/>
                <a:cs typeface="Arial"/>
                <a:sym typeface="Arial"/>
              </a:rPr>
              <a:t>Limitations:  </a:t>
            </a:r>
            <a:r>
              <a:rPr lang="en-US" sz="1150">
                <a:solidFill>
                  <a:srgbClr val="FFFFFF"/>
                </a:solidFill>
                <a:latin typeface="Arial"/>
                <a:ea typeface="Arial"/>
                <a:cs typeface="Arial"/>
                <a:sym typeface="Arial"/>
              </a:rPr>
              <a:t>labels are proxy (not verified ground truth); imagery and footprint capture dates can disagree; train/test splits are stratified by parcel, not by municipality; the screener use case was not empirically validated on this run. </a:t>
            </a:r>
            <a:r>
              <a:rPr lang="en-US" sz="1150">
                <a:solidFill>
                  <a:srgbClr val="FFFFFF"/>
                </a:solidFill>
              </a:rPr>
              <a:t>seasonal changes that can shift foliage color may confuse model. parcel level data difficult to extrapolate beyond MA</a:t>
            </a:r>
            <a:endParaRPr sz="1150">
              <a:solidFill>
                <a:schemeClr val="dk1"/>
              </a:solidFill>
              <a:latin typeface="Calibri"/>
              <a:ea typeface="Calibri"/>
              <a:cs typeface="Calibri"/>
              <a:sym typeface="Calibri"/>
            </a:endParaRPr>
          </a:p>
        </p:txBody>
      </p:sp>
      <p:cxnSp>
        <p:nvCxnSpPr>
          <p:cNvPr id="769" name="Google Shape;769;p18"/>
          <p:cNvCxnSpPr/>
          <p:nvPr/>
        </p:nvCxnSpPr>
        <p:spPr>
          <a:xfrm>
            <a:off x="457200" y="6446520"/>
            <a:ext cx="11247120" cy="0"/>
          </a:xfrm>
          <a:prstGeom prst="straightConnector1">
            <a:avLst/>
          </a:prstGeom>
          <a:noFill/>
          <a:ln cap="flat" cmpd="sng" w="9525">
            <a:solidFill>
              <a:srgbClr val="3D5478"/>
            </a:solidFill>
            <a:prstDash val="solid"/>
            <a:round/>
            <a:headEnd len="sm" w="sm" type="none"/>
            <a:tailEnd len="sm" w="sm" type="none"/>
          </a:ln>
        </p:spPr>
      </p:cxnSp>
      <p:sp>
        <p:nvSpPr>
          <p:cNvPr id="770" name="Google Shape;770;p18"/>
          <p:cNvSpPr/>
          <p:nvPr/>
        </p:nvSpPr>
        <p:spPr>
          <a:xfrm>
            <a:off x="457200" y="6565392"/>
            <a:ext cx="9601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800"/>
              <a:buFont typeface="Arial"/>
              <a:buNone/>
            </a:pPr>
            <a:r>
              <a:rPr i="1" lang="en-US" sz="800">
                <a:solidFill>
                  <a:srgbClr val="8B95A3"/>
                </a:solidFill>
                <a:latin typeface="Arial"/>
                <a:ea typeface="Arial"/>
                <a:cs typeface="Arial"/>
                <a:sym typeface="Arial"/>
              </a:rPr>
              <a:t>Proxy labels derived from MassGIS Building Structures 2-D footprint overlap</a:t>
            </a:r>
            <a:endParaRPr sz="800">
              <a:solidFill>
                <a:schemeClr val="dk1"/>
              </a:solidFill>
              <a:latin typeface="Calibri"/>
              <a:ea typeface="Calibri"/>
              <a:cs typeface="Calibri"/>
              <a:sym typeface="Calibri"/>
            </a:endParaRPr>
          </a:p>
        </p:txBody>
      </p:sp>
      <p:sp>
        <p:nvSpPr>
          <p:cNvPr id="771" name="Google Shape;771;p18"/>
          <p:cNvSpPr/>
          <p:nvPr/>
        </p:nvSpPr>
        <p:spPr>
          <a:xfrm>
            <a:off x="10058400" y="6565392"/>
            <a:ext cx="164592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A3"/>
              </a:buClr>
              <a:buSzPts val="800"/>
              <a:buFont typeface="Arial"/>
              <a:buNone/>
            </a:pPr>
            <a:r>
              <a:rPr b="1" lang="en-US" sz="800">
                <a:solidFill>
                  <a:srgbClr val="8B95A3"/>
                </a:solidFill>
                <a:latin typeface="Arial"/>
                <a:ea typeface="Arial"/>
                <a:cs typeface="Arial"/>
                <a:sym typeface="Arial"/>
              </a:rPr>
              <a:t>17 / 19</a:t>
            </a:r>
            <a:endParaRPr sz="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776" name="Shape 776"/>
        <p:cNvGrpSpPr/>
        <p:nvPr/>
      </p:nvGrpSpPr>
      <p:grpSpPr>
        <a:xfrm>
          <a:off x="0" y="0"/>
          <a:ext cx="0" cy="0"/>
          <a:chOff x="0" y="0"/>
          <a:chExt cx="0" cy="0"/>
        </a:xfrm>
      </p:grpSpPr>
      <p:sp>
        <p:nvSpPr>
          <p:cNvPr id="777" name="Google Shape;777;p19"/>
          <p:cNvSpPr/>
          <p:nvPr/>
        </p:nvSpPr>
        <p:spPr>
          <a:xfrm>
            <a:off x="457200" y="365760"/>
            <a:ext cx="320040" cy="18288"/>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8" name="Google Shape;778;p19"/>
          <p:cNvSpPr/>
          <p:nvPr/>
        </p:nvSpPr>
        <p:spPr>
          <a:xfrm>
            <a:off x="457200" y="411480"/>
            <a:ext cx="11247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lang="en-US" sz="2800">
                <a:solidFill>
                  <a:srgbClr val="FFFFFF"/>
                </a:solidFill>
                <a:latin typeface="Arial"/>
                <a:ea typeface="Arial"/>
                <a:cs typeface="Arial"/>
                <a:sym typeface="Arial"/>
              </a:rPr>
              <a:t>Recommendations &amp; Next Steps</a:t>
            </a:r>
            <a:endParaRPr sz="2800">
              <a:solidFill>
                <a:schemeClr val="dk1"/>
              </a:solidFill>
              <a:latin typeface="Calibri"/>
              <a:ea typeface="Calibri"/>
              <a:cs typeface="Calibri"/>
              <a:sym typeface="Calibri"/>
            </a:endParaRPr>
          </a:p>
        </p:txBody>
      </p:sp>
      <p:sp>
        <p:nvSpPr>
          <p:cNvPr id="779" name="Google Shape;779;p19"/>
          <p:cNvSpPr/>
          <p:nvPr/>
        </p:nvSpPr>
        <p:spPr>
          <a:xfrm>
            <a:off x="457200" y="960120"/>
            <a:ext cx="11247120" cy="5029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C5D6"/>
              </a:buClr>
              <a:buSzPts val="1600"/>
              <a:buFont typeface="Arial"/>
              <a:buNone/>
            </a:pPr>
            <a:r>
              <a:rPr i="1" lang="en-US" sz="1600">
                <a:solidFill>
                  <a:srgbClr val="B8C5D6"/>
                </a:solidFill>
                <a:latin typeface="Arial"/>
                <a:ea typeface="Arial"/>
                <a:cs typeface="Arial"/>
                <a:sym typeface="Arial"/>
              </a:rPr>
              <a:t>Three workstreams to mature the proof-of-concept</a:t>
            </a:r>
            <a:endParaRPr sz="1600">
              <a:solidFill>
                <a:schemeClr val="dk1"/>
              </a:solidFill>
              <a:latin typeface="Calibri"/>
              <a:ea typeface="Calibri"/>
              <a:cs typeface="Calibri"/>
              <a:sym typeface="Calibri"/>
            </a:endParaRPr>
          </a:p>
        </p:txBody>
      </p:sp>
      <p:sp>
        <p:nvSpPr>
          <p:cNvPr id="780" name="Google Shape;780;p19"/>
          <p:cNvSpPr/>
          <p:nvPr/>
        </p:nvSpPr>
        <p:spPr>
          <a:xfrm>
            <a:off x="457200" y="1600200"/>
            <a:ext cx="3657600" cy="3794758"/>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1" name="Google Shape;781;p19"/>
          <p:cNvSpPr/>
          <p:nvPr/>
        </p:nvSpPr>
        <p:spPr>
          <a:xfrm>
            <a:off x="457200" y="1600200"/>
            <a:ext cx="3657600" cy="777240"/>
          </a:xfrm>
          <a:prstGeom prst="rect">
            <a:avLst/>
          </a:prstGeom>
          <a:solidFill>
            <a:srgbClr val="D4A547"/>
          </a:solidFill>
          <a:ln cap="flat" cmpd="sng" w="12700">
            <a:solidFill>
              <a:srgbClr val="D4A5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82" name="Google Shape;782;p19"/>
          <p:cNvPicPr preferRelativeResize="0"/>
          <p:nvPr/>
        </p:nvPicPr>
        <p:blipFill rotWithShape="1">
          <a:blip r:embed="rId3">
            <a:alphaModFix/>
          </a:blip>
          <a:srcRect b="0" l="0" r="0" t="0"/>
          <a:stretch/>
        </p:blipFill>
        <p:spPr>
          <a:xfrm>
            <a:off x="685800" y="1764792"/>
            <a:ext cx="457200" cy="457200"/>
          </a:xfrm>
          <a:prstGeom prst="rect">
            <a:avLst/>
          </a:prstGeom>
          <a:noFill/>
          <a:ln>
            <a:noFill/>
          </a:ln>
        </p:spPr>
      </p:pic>
      <p:sp>
        <p:nvSpPr>
          <p:cNvPr id="783" name="Google Shape;783;p19"/>
          <p:cNvSpPr/>
          <p:nvPr/>
        </p:nvSpPr>
        <p:spPr>
          <a:xfrm>
            <a:off x="1280160" y="169164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Data &amp; Labeling</a:t>
            </a:r>
            <a:endParaRPr sz="1800">
              <a:solidFill>
                <a:schemeClr val="dk1"/>
              </a:solidFill>
              <a:latin typeface="Calibri"/>
              <a:ea typeface="Calibri"/>
              <a:cs typeface="Calibri"/>
              <a:sym typeface="Calibri"/>
            </a:endParaRPr>
          </a:p>
        </p:txBody>
      </p:sp>
      <p:sp>
        <p:nvSpPr>
          <p:cNvPr id="784" name="Google Shape;784;p19"/>
          <p:cNvSpPr/>
          <p:nvPr/>
        </p:nvSpPr>
        <p:spPr>
          <a:xfrm>
            <a:off x="1280160" y="203911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0-3 months</a:t>
            </a:r>
            <a:endParaRPr sz="1000">
              <a:solidFill>
                <a:schemeClr val="dk1"/>
              </a:solidFill>
              <a:latin typeface="Calibri"/>
              <a:ea typeface="Calibri"/>
              <a:cs typeface="Calibri"/>
              <a:sym typeface="Calibri"/>
            </a:endParaRPr>
          </a:p>
        </p:txBody>
      </p:sp>
      <p:grpSp>
        <p:nvGrpSpPr>
          <p:cNvPr id="785" name="Google Shape;785;p19"/>
          <p:cNvGrpSpPr/>
          <p:nvPr/>
        </p:nvGrpSpPr>
        <p:grpSpPr>
          <a:xfrm>
            <a:off x="685800" y="2651760"/>
            <a:ext cx="3246120" cy="594393"/>
            <a:chOff x="685800" y="2506980"/>
            <a:chExt cx="3246120" cy="594393"/>
          </a:xfrm>
        </p:grpSpPr>
        <p:sp>
          <p:nvSpPr>
            <p:cNvPr id="786" name="Google Shape;786;p19"/>
            <p:cNvSpPr/>
            <p:nvPr/>
          </p:nvSpPr>
          <p:spPr>
            <a:xfrm>
              <a:off x="685800" y="2552700"/>
              <a:ext cx="384048" cy="384048"/>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87" name="Google Shape;787;p19"/>
            <p:cNvPicPr preferRelativeResize="0"/>
            <p:nvPr/>
          </p:nvPicPr>
          <p:blipFill rotWithShape="1">
            <a:blip r:embed="rId4">
              <a:alphaModFix/>
            </a:blip>
            <a:srcRect b="0" l="0" r="0" t="0"/>
            <a:stretch/>
          </p:blipFill>
          <p:spPr>
            <a:xfrm>
              <a:off x="731520" y="2598420"/>
              <a:ext cx="292608" cy="292608"/>
            </a:xfrm>
            <a:prstGeom prst="rect">
              <a:avLst/>
            </a:prstGeom>
            <a:noFill/>
            <a:ln>
              <a:noFill/>
            </a:ln>
          </p:spPr>
        </p:pic>
        <p:sp>
          <p:nvSpPr>
            <p:cNvPr id="788" name="Google Shape;788;p19"/>
            <p:cNvSpPr/>
            <p:nvPr/>
          </p:nvSpPr>
          <p:spPr>
            <a:xfrm>
              <a:off x="1188720" y="2506980"/>
              <a:ext cx="2743200" cy="59439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B8C5D6"/>
                </a:buClr>
                <a:buSzPts val="1100"/>
                <a:buFont typeface="Arial"/>
                <a:buNone/>
              </a:pPr>
              <a:r>
                <a:rPr b="1" lang="en-US" sz="1100">
                  <a:solidFill>
                    <a:srgbClr val="B8C5D6"/>
                  </a:solidFill>
                </a:rPr>
                <a:t>Collect a manually verified evaluation set to score the model against true labels, not just proxy labels</a:t>
              </a:r>
              <a:endParaRPr b="1" sz="1100">
                <a:solidFill>
                  <a:schemeClr val="dk1"/>
                </a:solidFill>
                <a:latin typeface="Calibri"/>
                <a:ea typeface="Calibri"/>
                <a:cs typeface="Calibri"/>
                <a:sym typeface="Calibri"/>
              </a:endParaRPr>
            </a:p>
          </p:txBody>
        </p:sp>
      </p:grpSp>
      <p:cxnSp>
        <p:nvCxnSpPr>
          <p:cNvPr id="789" name="Google Shape;789;p19"/>
          <p:cNvCxnSpPr/>
          <p:nvPr/>
        </p:nvCxnSpPr>
        <p:spPr>
          <a:xfrm>
            <a:off x="685800" y="3421380"/>
            <a:ext cx="3200400" cy="0"/>
          </a:xfrm>
          <a:prstGeom prst="straightConnector1">
            <a:avLst/>
          </a:prstGeom>
          <a:noFill/>
          <a:ln cap="flat" cmpd="sng" w="9525">
            <a:solidFill>
              <a:srgbClr val="2A4870"/>
            </a:solidFill>
            <a:prstDash val="solid"/>
            <a:round/>
            <a:headEnd len="sm" w="sm" type="none"/>
            <a:tailEnd len="sm" w="sm" type="none"/>
          </a:ln>
        </p:spPr>
      </p:cxnSp>
      <p:grpSp>
        <p:nvGrpSpPr>
          <p:cNvPr id="790" name="Google Shape;790;p19"/>
          <p:cNvGrpSpPr/>
          <p:nvPr/>
        </p:nvGrpSpPr>
        <p:grpSpPr>
          <a:xfrm>
            <a:off x="685800" y="3611880"/>
            <a:ext cx="3246120" cy="594393"/>
            <a:chOff x="685800" y="3474720"/>
            <a:chExt cx="3246120" cy="594393"/>
          </a:xfrm>
        </p:grpSpPr>
        <p:sp>
          <p:nvSpPr>
            <p:cNvPr id="791" name="Google Shape;791;p19"/>
            <p:cNvSpPr/>
            <p:nvPr/>
          </p:nvSpPr>
          <p:spPr>
            <a:xfrm>
              <a:off x="685800" y="3520440"/>
              <a:ext cx="384048" cy="384048"/>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92" name="Google Shape;792;p19"/>
            <p:cNvPicPr preferRelativeResize="0"/>
            <p:nvPr/>
          </p:nvPicPr>
          <p:blipFill rotWithShape="1">
            <a:blip r:embed="rId5">
              <a:alphaModFix/>
            </a:blip>
            <a:srcRect b="0" l="0" r="0" t="0"/>
            <a:stretch/>
          </p:blipFill>
          <p:spPr>
            <a:xfrm>
              <a:off x="731520" y="3566160"/>
              <a:ext cx="292608" cy="292608"/>
            </a:xfrm>
            <a:prstGeom prst="rect">
              <a:avLst/>
            </a:prstGeom>
            <a:noFill/>
            <a:ln>
              <a:noFill/>
            </a:ln>
          </p:spPr>
        </p:pic>
        <p:sp>
          <p:nvSpPr>
            <p:cNvPr id="793" name="Google Shape;793;p19"/>
            <p:cNvSpPr/>
            <p:nvPr/>
          </p:nvSpPr>
          <p:spPr>
            <a:xfrm>
              <a:off x="1188720" y="3474720"/>
              <a:ext cx="2743200" cy="59439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B8C5D6"/>
                </a:buClr>
                <a:buSzPts val="1100"/>
                <a:buFont typeface="Arial"/>
                <a:buNone/>
              </a:pPr>
              <a:r>
                <a:rPr b="1" lang="en-US" sz="1100">
                  <a:solidFill>
                    <a:srgbClr val="B8C5D6"/>
                  </a:solidFill>
                </a:rPr>
                <a:t>Run a by-municipality holdout (train on two areas, test on the third) to measure geographic generalisation</a:t>
              </a:r>
              <a:endParaRPr b="1" sz="1100">
                <a:solidFill>
                  <a:schemeClr val="dk1"/>
                </a:solidFill>
                <a:latin typeface="Calibri"/>
                <a:ea typeface="Calibri"/>
                <a:cs typeface="Calibri"/>
                <a:sym typeface="Calibri"/>
              </a:endParaRPr>
            </a:p>
          </p:txBody>
        </p:sp>
      </p:grpSp>
      <p:sp>
        <p:nvSpPr>
          <p:cNvPr id="794" name="Google Shape;794;p19"/>
          <p:cNvSpPr/>
          <p:nvPr/>
        </p:nvSpPr>
        <p:spPr>
          <a:xfrm>
            <a:off x="4251960" y="1600200"/>
            <a:ext cx="3657600" cy="3794758"/>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5" name="Google Shape;795;p19"/>
          <p:cNvSpPr/>
          <p:nvPr/>
        </p:nvSpPr>
        <p:spPr>
          <a:xfrm>
            <a:off x="4251960" y="1600200"/>
            <a:ext cx="3657600" cy="77724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96" name="Google Shape;796;p19"/>
          <p:cNvPicPr preferRelativeResize="0"/>
          <p:nvPr/>
        </p:nvPicPr>
        <p:blipFill rotWithShape="1">
          <a:blip r:embed="rId6">
            <a:alphaModFix/>
          </a:blip>
          <a:srcRect b="0" l="0" r="0" t="0"/>
          <a:stretch/>
        </p:blipFill>
        <p:spPr>
          <a:xfrm>
            <a:off x="4480560" y="1764792"/>
            <a:ext cx="457200" cy="457200"/>
          </a:xfrm>
          <a:prstGeom prst="rect">
            <a:avLst/>
          </a:prstGeom>
          <a:noFill/>
          <a:ln>
            <a:noFill/>
          </a:ln>
        </p:spPr>
      </p:pic>
      <p:sp>
        <p:nvSpPr>
          <p:cNvPr id="797" name="Google Shape;797;p19"/>
          <p:cNvSpPr/>
          <p:nvPr/>
        </p:nvSpPr>
        <p:spPr>
          <a:xfrm>
            <a:off x="5074920" y="169164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Model</a:t>
            </a:r>
            <a:endParaRPr sz="1800">
              <a:solidFill>
                <a:schemeClr val="dk1"/>
              </a:solidFill>
              <a:latin typeface="Calibri"/>
              <a:ea typeface="Calibri"/>
              <a:cs typeface="Calibri"/>
              <a:sym typeface="Calibri"/>
            </a:endParaRPr>
          </a:p>
        </p:txBody>
      </p:sp>
      <p:sp>
        <p:nvSpPr>
          <p:cNvPr id="798" name="Google Shape;798;p19"/>
          <p:cNvSpPr/>
          <p:nvPr/>
        </p:nvSpPr>
        <p:spPr>
          <a:xfrm>
            <a:off x="5074920" y="203911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3-6 months</a:t>
            </a:r>
            <a:endParaRPr sz="1000">
              <a:solidFill>
                <a:schemeClr val="dk1"/>
              </a:solidFill>
              <a:latin typeface="Calibri"/>
              <a:ea typeface="Calibri"/>
              <a:cs typeface="Calibri"/>
              <a:sym typeface="Calibri"/>
            </a:endParaRPr>
          </a:p>
        </p:txBody>
      </p:sp>
      <p:grpSp>
        <p:nvGrpSpPr>
          <p:cNvPr id="799" name="Google Shape;799;p19"/>
          <p:cNvGrpSpPr/>
          <p:nvPr/>
        </p:nvGrpSpPr>
        <p:grpSpPr>
          <a:xfrm>
            <a:off x="4480560" y="2651760"/>
            <a:ext cx="3246120" cy="594393"/>
            <a:chOff x="4480560" y="2514600"/>
            <a:chExt cx="3246120" cy="594393"/>
          </a:xfrm>
        </p:grpSpPr>
        <p:sp>
          <p:nvSpPr>
            <p:cNvPr id="800" name="Google Shape;800;p19"/>
            <p:cNvSpPr/>
            <p:nvPr/>
          </p:nvSpPr>
          <p:spPr>
            <a:xfrm>
              <a:off x="4480560" y="2560320"/>
              <a:ext cx="384048" cy="384048"/>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01" name="Google Shape;801;p19"/>
            <p:cNvPicPr preferRelativeResize="0"/>
            <p:nvPr/>
          </p:nvPicPr>
          <p:blipFill rotWithShape="1">
            <a:blip r:embed="rId7">
              <a:alphaModFix/>
            </a:blip>
            <a:srcRect b="0" l="0" r="0" t="0"/>
            <a:stretch/>
          </p:blipFill>
          <p:spPr>
            <a:xfrm>
              <a:off x="4526280" y="2606040"/>
              <a:ext cx="292608" cy="292608"/>
            </a:xfrm>
            <a:prstGeom prst="rect">
              <a:avLst/>
            </a:prstGeom>
            <a:noFill/>
            <a:ln>
              <a:noFill/>
            </a:ln>
          </p:spPr>
        </p:pic>
        <p:sp>
          <p:nvSpPr>
            <p:cNvPr id="802" name="Google Shape;802;p19"/>
            <p:cNvSpPr/>
            <p:nvPr/>
          </p:nvSpPr>
          <p:spPr>
            <a:xfrm>
              <a:off x="4983480" y="2514600"/>
              <a:ext cx="2743200" cy="59439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B8C5D6"/>
                </a:buClr>
                <a:buSzPts val="1100"/>
                <a:buFont typeface="Arial"/>
                <a:buNone/>
              </a:pPr>
              <a:r>
                <a:rPr b="1" lang="en-US" sz="1100">
                  <a:solidFill>
                    <a:srgbClr val="B8C5D6"/>
                  </a:solidFill>
                </a:rPr>
                <a:t>Fine-tune MobileNetV2's upper blocks after the head converges, to see how much ImageNet adapts to aerial</a:t>
              </a:r>
              <a:endParaRPr b="1" sz="1100">
                <a:solidFill>
                  <a:schemeClr val="dk1"/>
                </a:solidFill>
                <a:latin typeface="Calibri"/>
                <a:ea typeface="Calibri"/>
                <a:cs typeface="Calibri"/>
                <a:sym typeface="Calibri"/>
              </a:endParaRPr>
            </a:p>
          </p:txBody>
        </p:sp>
      </p:grpSp>
      <p:cxnSp>
        <p:nvCxnSpPr>
          <p:cNvPr id="803" name="Google Shape;803;p19"/>
          <p:cNvCxnSpPr/>
          <p:nvPr/>
        </p:nvCxnSpPr>
        <p:spPr>
          <a:xfrm>
            <a:off x="4480560" y="3429000"/>
            <a:ext cx="3200400" cy="0"/>
          </a:xfrm>
          <a:prstGeom prst="straightConnector1">
            <a:avLst/>
          </a:prstGeom>
          <a:noFill/>
          <a:ln cap="flat" cmpd="sng" w="9525">
            <a:solidFill>
              <a:srgbClr val="2A4870"/>
            </a:solidFill>
            <a:prstDash val="solid"/>
            <a:round/>
            <a:headEnd len="sm" w="sm" type="none"/>
            <a:tailEnd len="sm" w="sm" type="none"/>
          </a:ln>
        </p:spPr>
      </p:cxnSp>
      <p:grpSp>
        <p:nvGrpSpPr>
          <p:cNvPr id="804" name="Google Shape;804;p19"/>
          <p:cNvGrpSpPr/>
          <p:nvPr/>
        </p:nvGrpSpPr>
        <p:grpSpPr>
          <a:xfrm>
            <a:off x="4480560" y="3611880"/>
            <a:ext cx="3246120" cy="594393"/>
            <a:chOff x="4480560" y="3474720"/>
            <a:chExt cx="3246120" cy="594393"/>
          </a:xfrm>
        </p:grpSpPr>
        <p:sp>
          <p:nvSpPr>
            <p:cNvPr id="805" name="Google Shape;805;p19"/>
            <p:cNvSpPr/>
            <p:nvPr/>
          </p:nvSpPr>
          <p:spPr>
            <a:xfrm>
              <a:off x="4480560" y="3520440"/>
              <a:ext cx="384048" cy="384048"/>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06" name="Google Shape;806;p19"/>
            <p:cNvPicPr preferRelativeResize="0"/>
            <p:nvPr/>
          </p:nvPicPr>
          <p:blipFill rotWithShape="1">
            <a:blip r:embed="rId8">
              <a:alphaModFix/>
            </a:blip>
            <a:srcRect b="0" l="0" r="0" t="0"/>
            <a:stretch/>
          </p:blipFill>
          <p:spPr>
            <a:xfrm>
              <a:off x="4526280" y="3566160"/>
              <a:ext cx="292608" cy="292608"/>
            </a:xfrm>
            <a:prstGeom prst="rect">
              <a:avLst/>
            </a:prstGeom>
            <a:noFill/>
            <a:ln>
              <a:noFill/>
            </a:ln>
          </p:spPr>
        </p:pic>
        <p:sp>
          <p:nvSpPr>
            <p:cNvPr id="807" name="Google Shape;807;p19"/>
            <p:cNvSpPr/>
            <p:nvPr/>
          </p:nvSpPr>
          <p:spPr>
            <a:xfrm>
              <a:off x="4983480" y="3474720"/>
              <a:ext cx="2743200" cy="59439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B8C5D6"/>
                </a:buClr>
                <a:buSzPts val="1100"/>
                <a:buFont typeface="Arial"/>
                <a:buNone/>
              </a:pPr>
              <a:r>
                <a:rPr b="1" lang="en-US" sz="1100">
                  <a:solidFill>
                    <a:srgbClr val="B8C5D6"/>
                  </a:solidFill>
                </a:rPr>
                <a:t>Add the NAIP near-infrared (NIR) band as a 4th input channel; vegetation-vs-built discrimination should improve</a:t>
              </a:r>
              <a:endParaRPr b="1" sz="1100">
                <a:solidFill>
                  <a:schemeClr val="dk1"/>
                </a:solidFill>
                <a:latin typeface="Calibri"/>
                <a:ea typeface="Calibri"/>
                <a:cs typeface="Calibri"/>
                <a:sym typeface="Calibri"/>
              </a:endParaRPr>
            </a:p>
          </p:txBody>
        </p:sp>
      </p:grpSp>
      <p:cxnSp>
        <p:nvCxnSpPr>
          <p:cNvPr id="808" name="Google Shape;808;p19"/>
          <p:cNvCxnSpPr/>
          <p:nvPr/>
        </p:nvCxnSpPr>
        <p:spPr>
          <a:xfrm>
            <a:off x="4480560" y="4389120"/>
            <a:ext cx="3200400" cy="0"/>
          </a:xfrm>
          <a:prstGeom prst="straightConnector1">
            <a:avLst/>
          </a:prstGeom>
          <a:noFill/>
          <a:ln cap="flat" cmpd="sng" w="9525">
            <a:solidFill>
              <a:srgbClr val="2A4870"/>
            </a:solidFill>
            <a:prstDash val="solid"/>
            <a:round/>
            <a:headEnd len="sm" w="sm" type="none"/>
            <a:tailEnd len="sm" w="sm" type="none"/>
          </a:ln>
        </p:spPr>
      </p:cxnSp>
      <p:grpSp>
        <p:nvGrpSpPr>
          <p:cNvPr id="809" name="Google Shape;809;p19"/>
          <p:cNvGrpSpPr/>
          <p:nvPr/>
        </p:nvGrpSpPr>
        <p:grpSpPr>
          <a:xfrm>
            <a:off x="4480560" y="4579620"/>
            <a:ext cx="3246120" cy="588751"/>
            <a:chOff x="4480560" y="4434840"/>
            <a:chExt cx="3246120" cy="588751"/>
          </a:xfrm>
        </p:grpSpPr>
        <p:sp>
          <p:nvSpPr>
            <p:cNvPr id="810" name="Google Shape;810;p19"/>
            <p:cNvSpPr/>
            <p:nvPr/>
          </p:nvSpPr>
          <p:spPr>
            <a:xfrm>
              <a:off x="4480560" y="4480560"/>
              <a:ext cx="384048" cy="384048"/>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11" name="Google Shape;811;p19"/>
            <p:cNvPicPr preferRelativeResize="0"/>
            <p:nvPr/>
          </p:nvPicPr>
          <p:blipFill rotWithShape="1">
            <a:blip r:embed="rId9">
              <a:alphaModFix/>
            </a:blip>
            <a:srcRect b="0" l="0" r="0" t="0"/>
            <a:stretch/>
          </p:blipFill>
          <p:spPr>
            <a:xfrm>
              <a:off x="4526280" y="4526280"/>
              <a:ext cx="292608" cy="292608"/>
            </a:xfrm>
            <a:prstGeom prst="rect">
              <a:avLst/>
            </a:prstGeom>
            <a:noFill/>
            <a:ln>
              <a:noFill/>
            </a:ln>
          </p:spPr>
        </p:pic>
        <p:sp>
          <p:nvSpPr>
            <p:cNvPr id="812" name="Google Shape;812;p19"/>
            <p:cNvSpPr/>
            <p:nvPr/>
          </p:nvSpPr>
          <p:spPr>
            <a:xfrm>
              <a:off x="4983480" y="4434840"/>
              <a:ext cx="2743200" cy="58875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B8C5D6"/>
                </a:buClr>
                <a:buSzPts val="1100"/>
                <a:buFont typeface="Arial"/>
                <a:buNone/>
              </a:pPr>
              <a:r>
                <a:rPr b="1" lang="en-US" sz="1100">
                  <a:solidFill>
                    <a:srgbClr val="B8C5D6"/>
                  </a:solidFill>
                </a:rPr>
                <a:t>Replace mean-color outside-parcel fill with a small context ring around the parcel</a:t>
              </a:r>
              <a:endParaRPr b="1"/>
            </a:p>
          </p:txBody>
        </p:sp>
      </p:grpSp>
      <p:sp>
        <p:nvSpPr>
          <p:cNvPr id="813" name="Google Shape;813;p19"/>
          <p:cNvSpPr/>
          <p:nvPr/>
        </p:nvSpPr>
        <p:spPr>
          <a:xfrm>
            <a:off x="8046720" y="1600200"/>
            <a:ext cx="3657600" cy="3794758"/>
          </a:xfrm>
          <a:prstGeom prst="rect">
            <a:avLst/>
          </a:prstGeom>
          <a:solidFill>
            <a:srgbClr val="152540"/>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4" name="Google Shape;814;p19"/>
          <p:cNvSpPr/>
          <p:nvPr/>
        </p:nvSpPr>
        <p:spPr>
          <a:xfrm>
            <a:off x="8046720" y="1600200"/>
            <a:ext cx="3657600" cy="777240"/>
          </a:xfrm>
          <a:prstGeom prst="rect">
            <a:avLst/>
          </a:prstGeom>
          <a:solidFill>
            <a:srgbClr val="C8553D"/>
          </a:solidFill>
          <a:ln cap="flat" cmpd="sng" w="12700">
            <a:solidFill>
              <a:srgbClr val="C855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15" name="Google Shape;815;p19"/>
          <p:cNvPicPr preferRelativeResize="0"/>
          <p:nvPr/>
        </p:nvPicPr>
        <p:blipFill rotWithShape="1">
          <a:blip r:embed="rId10">
            <a:alphaModFix/>
          </a:blip>
          <a:srcRect b="0" l="0" r="0" t="0"/>
          <a:stretch/>
        </p:blipFill>
        <p:spPr>
          <a:xfrm>
            <a:off x="8275320" y="1764792"/>
            <a:ext cx="457200" cy="457200"/>
          </a:xfrm>
          <a:prstGeom prst="rect">
            <a:avLst/>
          </a:prstGeom>
          <a:noFill/>
          <a:ln>
            <a:noFill/>
          </a:ln>
        </p:spPr>
      </p:pic>
      <p:sp>
        <p:nvSpPr>
          <p:cNvPr id="816" name="Google Shape;816;p19"/>
          <p:cNvSpPr/>
          <p:nvPr/>
        </p:nvSpPr>
        <p:spPr>
          <a:xfrm>
            <a:off x="8869680" y="169164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Deployment</a:t>
            </a:r>
            <a:endParaRPr sz="1800">
              <a:solidFill>
                <a:schemeClr val="dk1"/>
              </a:solidFill>
              <a:latin typeface="Calibri"/>
              <a:ea typeface="Calibri"/>
              <a:cs typeface="Calibri"/>
              <a:sym typeface="Calibri"/>
            </a:endParaRPr>
          </a:p>
        </p:txBody>
      </p:sp>
      <p:sp>
        <p:nvSpPr>
          <p:cNvPr id="817" name="Google Shape;817;p19"/>
          <p:cNvSpPr/>
          <p:nvPr/>
        </p:nvSpPr>
        <p:spPr>
          <a:xfrm>
            <a:off x="8869680" y="203911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6-12 months</a:t>
            </a:r>
            <a:endParaRPr sz="1000">
              <a:solidFill>
                <a:schemeClr val="dk1"/>
              </a:solidFill>
              <a:latin typeface="Calibri"/>
              <a:ea typeface="Calibri"/>
              <a:cs typeface="Calibri"/>
              <a:sym typeface="Calibri"/>
            </a:endParaRPr>
          </a:p>
        </p:txBody>
      </p:sp>
      <p:grpSp>
        <p:nvGrpSpPr>
          <p:cNvPr id="818" name="Google Shape;818;p19"/>
          <p:cNvGrpSpPr/>
          <p:nvPr/>
        </p:nvGrpSpPr>
        <p:grpSpPr>
          <a:xfrm>
            <a:off x="8275320" y="2651760"/>
            <a:ext cx="3246120" cy="429768"/>
            <a:chOff x="8275320" y="2514600"/>
            <a:chExt cx="3246120" cy="429768"/>
          </a:xfrm>
        </p:grpSpPr>
        <p:sp>
          <p:nvSpPr>
            <p:cNvPr id="819" name="Google Shape;819;p19"/>
            <p:cNvSpPr/>
            <p:nvPr/>
          </p:nvSpPr>
          <p:spPr>
            <a:xfrm>
              <a:off x="8275320" y="2560320"/>
              <a:ext cx="384048" cy="384048"/>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20" name="Google Shape;820;p19"/>
            <p:cNvPicPr preferRelativeResize="0"/>
            <p:nvPr/>
          </p:nvPicPr>
          <p:blipFill rotWithShape="1">
            <a:blip r:embed="rId11">
              <a:alphaModFix/>
            </a:blip>
            <a:srcRect b="0" l="0" r="0" t="0"/>
            <a:stretch/>
          </p:blipFill>
          <p:spPr>
            <a:xfrm>
              <a:off x="8321040" y="2606040"/>
              <a:ext cx="292608" cy="292608"/>
            </a:xfrm>
            <a:prstGeom prst="rect">
              <a:avLst/>
            </a:prstGeom>
            <a:noFill/>
            <a:ln>
              <a:noFill/>
            </a:ln>
          </p:spPr>
        </p:pic>
        <p:sp>
          <p:nvSpPr>
            <p:cNvPr id="821" name="Google Shape;821;p19"/>
            <p:cNvSpPr/>
            <p:nvPr/>
          </p:nvSpPr>
          <p:spPr>
            <a:xfrm>
              <a:off x="8778240" y="2514600"/>
              <a:ext cx="2743200" cy="39126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B8C5D6"/>
                </a:buClr>
                <a:buSzPts val="1100"/>
                <a:buFont typeface="Arial"/>
                <a:buNone/>
              </a:pPr>
              <a:r>
                <a:rPr b="1" lang="en-US" sz="1100">
                  <a:solidFill>
                    <a:srgbClr val="B8C5D6"/>
                  </a:solidFill>
                </a:rPr>
                <a:t>Treat the human-reviewed disagreement queue as second-stage labeled data</a:t>
              </a:r>
              <a:endParaRPr b="1" sz="1100">
                <a:solidFill>
                  <a:schemeClr val="dk1"/>
                </a:solidFill>
                <a:latin typeface="Calibri"/>
                <a:ea typeface="Calibri"/>
                <a:cs typeface="Calibri"/>
                <a:sym typeface="Calibri"/>
              </a:endParaRPr>
            </a:p>
          </p:txBody>
        </p:sp>
      </p:grpSp>
      <p:cxnSp>
        <p:nvCxnSpPr>
          <p:cNvPr id="822" name="Google Shape;822;p19"/>
          <p:cNvCxnSpPr/>
          <p:nvPr/>
        </p:nvCxnSpPr>
        <p:spPr>
          <a:xfrm>
            <a:off x="8275320" y="3429000"/>
            <a:ext cx="3200400" cy="0"/>
          </a:xfrm>
          <a:prstGeom prst="straightConnector1">
            <a:avLst/>
          </a:prstGeom>
          <a:noFill/>
          <a:ln cap="flat" cmpd="sng" w="9525">
            <a:solidFill>
              <a:srgbClr val="2A4870"/>
            </a:solidFill>
            <a:prstDash val="solid"/>
            <a:round/>
            <a:headEnd len="sm" w="sm" type="none"/>
            <a:tailEnd len="sm" w="sm" type="none"/>
          </a:ln>
        </p:spPr>
      </p:cxnSp>
      <p:sp>
        <p:nvSpPr>
          <p:cNvPr id="823" name="Google Shape;823;p19"/>
          <p:cNvSpPr/>
          <p:nvPr/>
        </p:nvSpPr>
        <p:spPr>
          <a:xfrm>
            <a:off x="8275320" y="3657600"/>
            <a:ext cx="384048" cy="384048"/>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24" name="Google Shape;824;p19"/>
          <p:cNvPicPr preferRelativeResize="0"/>
          <p:nvPr/>
        </p:nvPicPr>
        <p:blipFill rotWithShape="1">
          <a:blip r:embed="rId12">
            <a:alphaModFix/>
          </a:blip>
          <a:srcRect b="0" l="0" r="0" t="0"/>
          <a:stretch/>
        </p:blipFill>
        <p:spPr>
          <a:xfrm>
            <a:off x="8321040" y="3703320"/>
            <a:ext cx="292608" cy="292608"/>
          </a:xfrm>
          <a:prstGeom prst="rect">
            <a:avLst/>
          </a:prstGeom>
          <a:noFill/>
          <a:ln>
            <a:noFill/>
          </a:ln>
        </p:spPr>
      </p:pic>
      <p:sp>
        <p:nvSpPr>
          <p:cNvPr id="825" name="Google Shape;825;p19"/>
          <p:cNvSpPr/>
          <p:nvPr/>
        </p:nvSpPr>
        <p:spPr>
          <a:xfrm>
            <a:off x="8778240" y="3611880"/>
            <a:ext cx="2743200" cy="39126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B8C5D6"/>
              </a:buClr>
              <a:buSzPts val="1100"/>
              <a:buFont typeface="Arial"/>
              <a:buNone/>
            </a:pPr>
            <a:r>
              <a:rPr b="1" lang="en-US" sz="1100">
                <a:solidFill>
                  <a:srgbClr val="B8C5D6"/>
                </a:solidFill>
              </a:rPr>
              <a:t>Train a dedicated inconsistency-flagging model on top of that reviewed data</a:t>
            </a:r>
            <a:endParaRPr b="1" sz="1100">
              <a:solidFill>
                <a:schemeClr val="dk1"/>
              </a:solidFill>
              <a:latin typeface="Calibri"/>
              <a:ea typeface="Calibri"/>
              <a:cs typeface="Calibri"/>
              <a:sym typeface="Calibri"/>
            </a:endParaRPr>
          </a:p>
        </p:txBody>
      </p:sp>
      <p:cxnSp>
        <p:nvCxnSpPr>
          <p:cNvPr id="826" name="Google Shape;826;p19"/>
          <p:cNvCxnSpPr/>
          <p:nvPr/>
        </p:nvCxnSpPr>
        <p:spPr>
          <a:xfrm>
            <a:off x="8275320" y="4389120"/>
            <a:ext cx="3200400" cy="0"/>
          </a:xfrm>
          <a:prstGeom prst="straightConnector1">
            <a:avLst/>
          </a:prstGeom>
          <a:noFill/>
          <a:ln cap="flat" cmpd="sng" w="9525">
            <a:solidFill>
              <a:srgbClr val="2A4870"/>
            </a:solidFill>
            <a:prstDash val="solid"/>
            <a:round/>
            <a:headEnd len="sm" w="sm" type="none"/>
            <a:tailEnd len="sm" w="sm" type="none"/>
          </a:ln>
        </p:spPr>
      </p:cxnSp>
      <p:grpSp>
        <p:nvGrpSpPr>
          <p:cNvPr id="827" name="Google Shape;827;p19"/>
          <p:cNvGrpSpPr/>
          <p:nvPr/>
        </p:nvGrpSpPr>
        <p:grpSpPr>
          <a:xfrm>
            <a:off x="8275320" y="4579620"/>
            <a:ext cx="3246120" cy="594393"/>
            <a:chOff x="8275320" y="4434840"/>
            <a:chExt cx="3246120" cy="594393"/>
          </a:xfrm>
        </p:grpSpPr>
        <p:sp>
          <p:nvSpPr>
            <p:cNvPr id="828" name="Google Shape;828;p19"/>
            <p:cNvSpPr/>
            <p:nvPr/>
          </p:nvSpPr>
          <p:spPr>
            <a:xfrm>
              <a:off x="8275320" y="4480560"/>
              <a:ext cx="384048" cy="384048"/>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29" name="Google Shape;829;p19"/>
            <p:cNvPicPr preferRelativeResize="0"/>
            <p:nvPr/>
          </p:nvPicPr>
          <p:blipFill rotWithShape="1">
            <a:blip r:embed="rId13">
              <a:alphaModFix/>
            </a:blip>
            <a:srcRect b="0" l="0" r="0" t="0"/>
            <a:stretch/>
          </p:blipFill>
          <p:spPr>
            <a:xfrm>
              <a:off x="8321040" y="4526280"/>
              <a:ext cx="292608" cy="292608"/>
            </a:xfrm>
            <a:prstGeom prst="rect">
              <a:avLst/>
            </a:prstGeom>
            <a:noFill/>
            <a:ln>
              <a:noFill/>
            </a:ln>
          </p:spPr>
        </p:pic>
        <p:sp>
          <p:nvSpPr>
            <p:cNvPr id="830" name="Google Shape;830;p19"/>
            <p:cNvSpPr/>
            <p:nvPr/>
          </p:nvSpPr>
          <p:spPr>
            <a:xfrm>
              <a:off x="8778240" y="4434840"/>
              <a:ext cx="2743200" cy="59439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B8C5D6"/>
                </a:buClr>
                <a:buSzPts val="1100"/>
                <a:buFont typeface="Arial"/>
                <a:buNone/>
              </a:pPr>
              <a:r>
                <a:rPr b="1" lang="en-US" sz="1100">
                  <a:solidFill>
                    <a:srgbClr val="B8C5D6"/>
                  </a:solidFill>
                </a:rPr>
                <a:t>Surface results inside the assessor's existing GIS workflow rather than as a standalone tool</a:t>
              </a:r>
              <a:endParaRPr b="1" sz="1100">
                <a:solidFill>
                  <a:schemeClr val="dk1"/>
                </a:solidFill>
                <a:latin typeface="Calibri"/>
                <a:ea typeface="Calibri"/>
                <a:cs typeface="Calibri"/>
                <a:sym typeface="Calibri"/>
              </a:endParaRPr>
            </a:p>
          </p:txBody>
        </p:sp>
      </p:grpSp>
      <p:sp>
        <p:nvSpPr>
          <p:cNvPr id="831" name="Google Shape;831;p19"/>
          <p:cNvSpPr/>
          <p:nvPr/>
        </p:nvSpPr>
        <p:spPr>
          <a:xfrm>
            <a:off x="457200" y="5852160"/>
            <a:ext cx="11247120" cy="502920"/>
          </a:xfrm>
          <a:prstGeom prst="rect">
            <a:avLst/>
          </a:prstGeom>
          <a:solidFill>
            <a:srgbClr val="1F3052"/>
          </a:solidFill>
          <a:ln cap="flat" cmpd="sng" w="9525">
            <a:solidFill>
              <a:srgbClr val="2A487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2" name="Google Shape;832;p19"/>
          <p:cNvSpPr/>
          <p:nvPr/>
        </p:nvSpPr>
        <p:spPr>
          <a:xfrm>
            <a:off x="640080" y="5913120"/>
            <a:ext cx="36576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573"/>
              </a:buClr>
              <a:buSzPts val="800"/>
              <a:buFont typeface="Arial"/>
              <a:buNone/>
            </a:pPr>
            <a:r>
              <a:rPr b="1" lang="en-US" sz="800">
                <a:solidFill>
                  <a:srgbClr val="5B9573"/>
                </a:solidFill>
                <a:latin typeface="Arial"/>
                <a:ea typeface="Arial"/>
                <a:cs typeface="Arial"/>
                <a:sym typeface="Arial"/>
              </a:rPr>
              <a:t>PHASED ROLLOUT</a:t>
            </a:r>
            <a:endParaRPr sz="800">
              <a:solidFill>
                <a:schemeClr val="dk1"/>
              </a:solidFill>
              <a:latin typeface="Calibri"/>
              <a:ea typeface="Calibri"/>
              <a:cs typeface="Calibri"/>
              <a:sym typeface="Calibri"/>
            </a:endParaRPr>
          </a:p>
        </p:txBody>
      </p:sp>
      <p:sp>
        <p:nvSpPr>
          <p:cNvPr id="833" name="Google Shape;833;p19"/>
          <p:cNvSpPr/>
          <p:nvPr/>
        </p:nvSpPr>
        <p:spPr>
          <a:xfrm>
            <a:off x="640080" y="6175248"/>
            <a:ext cx="91440" cy="91440"/>
          </a:xfrm>
          <a:prstGeom prst="rect">
            <a:avLst/>
          </a:prstGeom>
          <a:solidFill>
            <a:srgbClr val="D4A547"/>
          </a:solidFill>
          <a:ln cap="flat" cmpd="sng" w="12700">
            <a:solidFill>
              <a:srgbClr val="D4A5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4" name="Google Shape;834;p19"/>
          <p:cNvSpPr/>
          <p:nvPr/>
        </p:nvSpPr>
        <p:spPr>
          <a:xfrm>
            <a:off x="777240" y="6129528"/>
            <a:ext cx="13716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0-3 months</a:t>
            </a:r>
            <a:endParaRPr sz="900">
              <a:solidFill>
                <a:schemeClr val="dk1"/>
              </a:solidFill>
              <a:latin typeface="Calibri"/>
              <a:ea typeface="Calibri"/>
              <a:cs typeface="Calibri"/>
              <a:sym typeface="Calibri"/>
            </a:endParaRPr>
          </a:p>
        </p:txBody>
      </p:sp>
      <p:sp>
        <p:nvSpPr>
          <p:cNvPr id="835" name="Google Shape;835;p19"/>
          <p:cNvSpPr/>
          <p:nvPr/>
        </p:nvSpPr>
        <p:spPr>
          <a:xfrm>
            <a:off x="2057400" y="6129528"/>
            <a:ext cx="2072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900"/>
              <a:buFont typeface="Arial"/>
              <a:buNone/>
            </a:pPr>
            <a:r>
              <a:rPr i="1" lang="en-US" sz="900">
                <a:solidFill>
                  <a:srgbClr val="B8C5D6"/>
                </a:solidFill>
                <a:latin typeface="Arial"/>
                <a:ea typeface="Arial"/>
                <a:cs typeface="Arial"/>
                <a:sym typeface="Arial"/>
              </a:rPr>
              <a:t>Establish ground truth</a:t>
            </a:r>
            <a:endParaRPr sz="900">
              <a:solidFill>
                <a:schemeClr val="dk1"/>
              </a:solidFill>
              <a:latin typeface="Calibri"/>
              <a:ea typeface="Calibri"/>
              <a:cs typeface="Calibri"/>
              <a:sym typeface="Calibri"/>
            </a:endParaRPr>
          </a:p>
        </p:txBody>
      </p:sp>
      <p:sp>
        <p:nvSpPr>
          <p:cNvPr id="836" name="Google Shape;836;p19"/>
          <p:cNvSpPr/>
          <p:nvPr/>
        </p:nvSpPr>
        <p:spPr>
          <a:xfrm>
            <a:off x="4267200" y="6175248"/>
            <a:ext cx="91440" cy="9144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7" name="Google Shape;837;p19"/>
          <p:cNvSpPr/>
          <p:nvPr/>
        </p:nvSpPr>
        <p:spPr>
          <a:xfrm>
            <a:off x="4404360" y="6129528"/>
            <a:ext cx="13716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3-6 months</a:t>
            </a:r>
            <a:endParaRPr sz="900">
              <a:solidFill>
                <a:schemeClr val="dk1"/>
              </a:solidFill>
              <a:latin typeface="Calibri"/>
              <a:ea typeface="Calibri"/>
              <a:cs typeface="Calibri"/>
              <a:sym typeface="Calibri"/>
            </a:endParaRPr>
          </a:p>
        </p:txBody>
      </p:sp>
      <p:sp>
        <p:nvSpPr>
          <p:cNvPr id="838" name="Google Shape;838;p19"/>
          <p:cNvSpPr/>
          <p:nvPr/>
        </p:nvSpPr>
        <p:spPr>
          <a:xfrm>
            <a:off x="5684520" y="6129528"/>
            <a:ext cx="2072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900"/>
              <a:buFont typeface="Arial"/>
              <a:buNone/>
            </a:pPr>
            <a:r>
              <a:rPr i="1" lang="en-US" sz="900">
                <a:solidFill>
                  <a:srgbClr val="B8C5D6"/>
                </a:solidFill>
                <a:latin typeface="Arial"/>
                <a:ea typeface="Arial"/>
                <a:cs typeface="Arial"/>
                <a:sym typeface="Arial"/>
              </a:rPr>
              <a:t>Iterate on the model</a:t>
            </a:r>
            <a:endParaRPr sz="900">
              <a:solidFill>
                <a:schemeClr val="dk1"/>
              </a:solidFill>
              <a:latin typeface="Calibri"/>
              <a:ea typeface="Calibri"/>
              <a:cs typeface="Calibri"/>
              <a:sym typeface="Calibri"/>
            </a:endParaRPr>
          </a:p>
        </p:txBody>
      </p:sp>
      <p:sp>
        <p:nvSpPr>
          <p:cNvPr id="839" name="Google Shape;839;p19"/>
          <p:cNvSpPr/>
          <p:nvPr/>
        </p:nvSpPr>
        <p:spPr>
          <a:xfrm>
            <a:off x="7894320" y="6175248"/>
            <a:ext cx="91440" cy="91440"/>
          </a:xfrm>
          <a:prstGeom prst="rect">
            <a:avLst/>
          </a:prstGeom>
          <a:solidFill>
            <a:srgbClr val="C8553D"/>
          </a:solidFill>
          <a:ln cap="flat" cmpd="sng" w="12700">
            <a:solidFill>
              <a:srgbClr val="C855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0" name="Google Shape;840;p19"/>
          <p:cNvSpPr/>
          <p:nvPr/>
        </p:nvSpPr>
        <p:spPr>
          <a:xfrm>
            <a:off x="8031480" y="6129528"/>
            <a:ext cx="13716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6-12 months</a:t>
            </a:r>
            <a:endParaRPr sz="900">
              <a:solidFill>
                <a:schemeClr val="dk1"/>
              </a:solidFill>
              <a:latin typeface="Calibri"/>
              <a:ea typeface="Calibri"/>
              <a:cs typeface="Calibri"/>
              <a:sym typeface="Calibri"/>
            </a:endParaRPr>
          </a:p>
        </p:txBody>
      </p:sp>
      <p:sp>
        <p:nvSpPr>
          <p:cNvPr id="841" name="Google Shape;841;p19"/>
          <p:cNvSpPr/>
          <p:nvPr/>
        </p:nvSpPr>
        <p:spPr>
          <a:xfrm>
            <a:off x="9311640" y="6129528"/>
            <a:ext cx="2072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6"/>
              </a:buClr>
              <a:buSzPts val="900"/>
              <a:buFont typeface="Arial"/>
              <a:buNone/>
            </a:pPr>
            <a:r>
              <a:rPr i="1" lang="en-US" sz="900">
                <a:solidFill>
                  <a:srgbClr val="B8C5D6"/>
                </a:solidFill>
                <a:latin typeface="Arial"/>
                <a:ea typeface="Arial"/>
                <a:cs typeface="Arial"/>
                <a:sym typeface="Arial"/>
              </a:rPr>
              <a:t>Deploy with assessor team</a:t>
            </a:r>
            <a:endParaRPr sz="900">
              <a:solidFill>
                <a:schemeClr val="dk1"/>
              </a:solidFill>
              <a:latin typeface="Calibri"/>
              <a:ea typeface="Calibri"/>
              <a:cs typeface="Calibri"/>
              <a:sym typeface="Calibri"/>
            </a:endParaRPr>
          </a:p>
        </p:txBody>
      </p:sp>
      <p:cxnSp>
        <p:nvCxnSpPr>
          <p:cNvPr id="842" name="Google Shape;842;p19"/>
          <p:cNvCxnSpPr/>
          <p:nvPr/>
        </p:nvCxnSpPr>
        <p:spPr>
          <a:xfrm>
            <a:off x="457200" y="6446520"/>
            <a:ext cx="11247120" cy="0"/>
          </a:xfrm>
          <a:prstGeom prst="straightConnector1">
            <a:avLst/>
          </a:prstGeom>
          <a:noFill/>
          <a:ln cap="flat" cmpd="sng" w="9525">
            <a:solidFill>
              <a:srgbClr val="3D5478"/>
            </a:solidFill>
            <a:prstDash val="solid"/>
            <a:round/>
            <a:headEnd len="sm" w="sm" type="none"/>
            <a:tailEnd len="sm" w="sm" type="none"/>
          </a:ln>
        </p:spPr>
      </p:cxnSp>
      <p:sp>
        <p:nvSpPr>
          <p:cNvPr id="843" name="Google Shape;843;p19"/>
          <p:cNvSpPr/>
          <p:nvPr/>
        </p:nvSpPr>
        <p:spPr>
          <a:xfrm>
            <a:off x="457200" y="6565392"/>
            <a:ext cx="9601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5A3"/>
              </a:buClr>
              <a:buSzPts val="800"/>
              <a:buFont typeface="Arial"/>
              <a:buNone/>
            </a:pPr>
            <a:r>
              <a:rPr i="1" lang="en-US" sz="800">
                <a:solidFill>
                  <a:srgbClr val="8B95A3"/>
                </a:solidFill>
                <a:latin typeface="Arial"/>
                <a:ea typeface="Arial"/>
                <a:cs typeface="Arial"/>
                <a:sym typeface="Arial"/>
              </a:rPr>
              <a:t>Phasing reflects relative effort, not committed timeline</a:t>
            </a:r>
            <a:endParaRPr sz="800">
              <a:solidFill>
                <a:schemeClr val="dk1"/>
              </a:solidFill>
              <a:latin typeface="Calibri"/>
              <a:ea typeface="Calibri"/>
              <a:cs typeface="Calibri"/>
              <a:sym typeface="Calibri"/>
            </a:endParaRPr>
          </a:p>
        </p:txBody>
      </p:sp>
      <p:sp>
        <p:nvSpPr>
          <p:cNvPr id="844" name="Google Shape;844;p19"/>
          <p:cNvSpPr/>
          <p:nvPr/>
        </p:nvSpPr>
        <p:spPr>
          <a:xfrm>
            <a:off x="10058400" y="6565392"/>
            <a:ext cx="164592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A3"/>
              </a:buClr>
              <a:buSzPts val="800"/>
              <a:buFont typeface="Arial"/>
              <a:buNone/>
            </a:pPr>
            <a:r>
              <a:rPr b="1" lang="en-US" sz="800">
                <a:solidFill>
                  <a:srgbClr val="8B95A3"/>
                </a:solidFill>
                <a:latin typeface="Arial"/>
                <a:ea typeface="Arial"/>
                <a:cs typeface="Arial"/>
                <a:sym typeface="Arial"/>
              </a:rPr>
              <a:t>18 / 19</a:t>
            </a:r>
            <a:endParaRPr sz="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849" name="Shape 849"/>
        <p:cNvGrpSpPr/>
        <p:nvPr/>
      </p:nvGrpSpPr>
      <p:grpSpPr>
        <a:xfrm>
          <a:off x="0" y="0"/>
          <a:ext cx="0" cy="0"/>
          <a:chOff x="0" y="0"/>
          <a:chExt cx="0" cy="0"/>
        </a:xfrm>
      </p:grpSpPr>
      <p:cxnSp>
        <p:nvCxnSpPr>
          <p:cNvPr id="850" name="Google Shape;850;p20"/>
          <p:cNvCxnSpPr/>
          <p:nvPr/>
        </p:nvCxnSpPr>
        <p:spPr>
          <a:xfrm>
            <a:off x="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51" name="Google Shape;851;p20"/>
          <p:cNvCxnSpPr/>
          <p:nvPr/>
        </p:nvCxnSpPr>
        <p:spPr>
          <a:xfrm>
            <a:off x="457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52" name="Google Shape;852;p20"/>
          <p:cNvCxnSpPr/>
          <p:nvPr/>
        </p:nvCxnSpPr>
        <p:spPr>
          <a:xfrm>
            <a:off x="914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53" name="Google Shape;853;p20"/>
          <p:cNvCxnSpPr/>
          <p:nvPr/>
        </p:nvCxnSpPr>
        <p:spPr>
          <a:xfrm>
            <a:off x="1371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54" name="Google Shape;854;p20"/>
          <p:cNvCxnSpPr/>
          <p:nvPr/>
        </p:nvCxnSpPr>
        <p:spPr>
          <a:xfrm>
            <a:off x="1828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55" name="Google Shape;855;p20"/>
          <p:cNvCxnSpPr/>
          <p:nvPr/>
        </p:nvCxnSpPr>
        <p:spPr>
          <a:xfrm>
            <a:off x="2286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56" name="Google Shape;856;p20"/>
          <p:cNvCxnSpPr/>
          <p:nvPr/>
        </p:nvCxnSpPr>
        <p:spPr>
          <a:xfrm>
            <a:off x="2743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57" name="Google Shape;857;p20"/>
          <p:cNvCxnSpPr/>
          <p:nvPr/>
        </p:nvCxnSpPr>
        <p:spPr>
          <a:xfrm>
            <a:off x="3200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58" name="Google Shape;858;p20"/>
          <p:cNvCxnSpPr/>
          <p:nvPr/>
        </p:nvCxnSpPr>
        <p:spPr>
          <a:xfrm>
            <a:off x="3657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59" name="Google Shape;859;p20"/>
          <p:cNvCxnSpPr/>
          <p:nvPr/>
        </p:nvCxnSpPr>
        <p:spPr>
          <a:xfrm>
            <a:off x="4114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60" name="Google Shape;860;p20"/>
          <p:cNvCxnSpPr/>
          <p:nvPr/>
        </p:nvCxnSpPr>
        <p:spPr>
          <a:xfrm>
            <a:off x="4572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61" name="Google Shape;861;p20"/>
          <p:cNvCxnSpPr/>
          <p:nvPr/>
        </p:nvCxnSpPr>
        <p:spPr>
          <a:xfrm>
            <a:off x="5029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62" name="Google Shape;862;p20"/>
          <p:cNvCxnSpPr/>
          <p:nvPr/>
        </p:nvCxnSpPr>
        <p:spPr>
          <a:xfrm>
            <a:off x="5486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63" name="Google Shape;863;p20"/>
          <p:cNvCxnSpPr/>
          <p:nvPr/>
        </p:nvCxnSpPr>
        <p:spPr>
          <a:xfrm>
            <a:off x="5943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64" name="Google Shape;864;p20"/>
          <p:cNvCxnSpPr/>
          <p:nvPr/>
        </p:nvCxnSpPr>
        <p:spPr>
          <a:xfrm>
            <a:off x="6400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65" name="Google Shape;865;p20"/>
          <p:cNvCxnSpPr/>
          <p:nvPr/>
        </p:nvCxnSpPr>
        <p:spPr>
          <a:xfrm>
            <a:off x="6858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66" name="Google Shape;866;p20"/>
          <p:cNvCxnSpPr/>
          <p:nvPr/>
        </p:nvCxnSpPr>
        <p:spPr>
          <a:xfrm>
            <a:off x="7315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67" name="Google Shape;867;p20"/>
          <p:cNvCxnSpPr/>
          <p:nvPr/>
        </p:nvCxnSpPr>
        <p:spPr>
          <a:xfrm>
            <a:off x="7772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68" name="Google Shape;868;p20"/>
          <p:cNvCxnSpPr/>
          <p:nvPr/>
        </p:nvCxnSpPr>
        <p:spPr>
          <a:xfrm>
            <a:off x="8229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69" name="Google Shape;869;p20"/>
          <p:cNvCxnSpPr/>
          <p:nvPr/>
        </p:nvCxnSpPr>
        <p:spPr>
          <a:xfrm>
            <a:off x="8686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70" name="Google Shape;870;p20"/>
          <p:cNvCxnSpPr/>
          <p:nvPr/>
        </p:nvCxnSpPr>
        <p:spPr>
          <a:xfrm>
            <a:off x="9144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71" name="Google Shape;871;p20"/>
          <p:cNvCxnSpPr/>
          <p:nvPr/>
        </p:nvCxnSpPr>
        <p:spPr>
          <a:xfrm>
            <a:off x="9601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72" name="Google Shape;872;p20"/>
          <p:cNvCxnSpPr/>
          <p:nvPr/>
        </p:nvCxnSpPr>
        <p:spPr>
          <a:xfrm>
            <a:off x="100584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73" name="Google Shape;873;p20"/>
          <p:cNvCxnSpPr/>
          <p:nvPr/>
        </p:nvCxnSpPr>
        <p:spPr>
          <a:xfrm>
            <a:off x="105156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74" name="Google Shape;874;p20"/>
          <p:cNvCxnSpPr/>
          <p:nvPr/>
        </p:nvCxnSpPr>
        <p:spPr>
          <a:xfrm>
            <a:off x="109728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75" name="Google Shape;875;p20"/>
          <p:cNvCxnSpPr/>
          <p:nvPr/>
        </p:nvCxnSpPr>
        <p:spPr>
          <a:xfrm>
            <a:off x="114300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76" name="Google Shape;876;p20"/>
          <p:cNvCxnSpPr/>
          <p:nvPr/>
        </p:nvCxnSpPr>
        <p:spPr>
          <a:xfrm>
            <a:off x="11887200" y="0"/>
            <a:ext cx="0" cy="6858000"/>
          </a:xfrm>
          <a:prstGeom prst="straightConnector1">
            <a:avLst/>
          </a:prstGeom>
          <a:noFill/>
          <a:ln cap="flat" cmpd="sng" w="9525">
            <a:solidFill>
              <a:srgbClr val="2A4870"/>
            </a:solidFill>
            <a:prstDash val="solid"/>
            <a:round/>
            <a:headEnd len="sm" w="sm" type="none"/>
            <a:tailEnd len="sm" w="sm" type="none"/>
          </a:ln>
        </p:spPr>
      </p:cxnSp>
      <p:cxnSp>
        <p:nvCxnSpPr>
          <p:cNvPr id="877" name="Google Shape;877;p20"/>
          <p:cNvCxnSpPr/>
          <p:nvPr/>
        </p:nvCxnSpPr>
        <p:spPr>
          <a:xfrm>
            <a:off x="0" y="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78" name="Google Shape;878;p20"/>
          <p:cNvCxnSpPr/>
          <p:nvPr/>
        </p:nvCxnSpPr>
        <p:spPr>
          <a:xfrm>
            <a:off x="0" y="4572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79" name="Google Shape;879;p20"/>
          <p:cNvCxnSpPr/>
          <p:nvPr/>
        </p:nvCxnSpPr>
        <p:spPr>
          <a:xfrm>
            <a:off x="0" y="9144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80" name="Google Shape;880;p20"/>
          <p:cNvCxnSpPr/>
          <p:nvPr/>
        </p:nvCxnSpPr>
        <p:spPr>
          <a:xfrm>
            <a:off x="0" y="13716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81" name="Google Shape;881;p20"/>
          <p:cNvCxnSpPr/>
          <p:nvPr/>
        </p:nvCxnSpPr>
        <p:spPr>
          <a:xfrm>
            <a:off x="0" y="18288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82" name="Google Shape;882;p20"/>
          <p:cNvCxnSpPr/>
          <p:nvPr/>
        </p:nvCxnSpPr>
        <p:spPr>
          <a:xfrm>
            <a:off x="0" y="22860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83" name="Google Shape;883;p20"/>
          <p:cNvCxnSpPr/>
          <p:nvPr/>
        </p:nvCxnSpPr>
        <p:spPr>
          <a:xfrm>
            <a:off x="0" y="27432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84" name="Google Shape;884;p20"/>
          <p:cNvCxnSpPr/>
          <p:nvPr/>
        </p:nvCxnSpPr>
        <p:spPr>
          <a:xfrm>
            <a:off x="0" y="32004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85" name="Google Shape;885;p20"/>
          <p:cNvCxnSpPr/>
          <p:nvPr/>
        </p:nvCxnSpPr>
        <p:spPr>
          <a:xfrm>
            <a:off x="0" y="36576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86" name="Google Shape;886;p20"/>
          <p:cNvCxnSpPr/>
          <p:nvPr/>
        </p:nvCxnSpPr>
        <p:spPr>
          <a:xfrm>
            <a:off x="0" y="41148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87" name="Google Shape;887;p20"/>
          <p:cNvCxnSpPr/>
          <p:nvPr/>
        </p:nvCxnSpPr>
        <p:spPr>
          <a:xfrm>
            <a:off x="0" y="45720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88" name="Google Shape;888;p20"/>
          <p:cNvCxnSpPr/>
          <p:nvPr/>
        </p:nvCxnSpPr>
        <p:spPr>
          <a:xfrm>
            <a:off x="0" y="50292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89" name="Google Shape;889;p20"/>
          <p:cNvCxnSpPr/>
          <p:nvPr/>
        </p:nvCxnSpPr>
        <p:spPr>
          <a:xfrm>
            <a:off x="0" y="54864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90" name="Google Shape;890;p20"/>
          <p:cNvCxnSpPr/>
          <p:nvPr/>
        </p:nvCxnSpPr>
        <p:spPr>
          <a:xfrm>
            <a:off x="0" y="59436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91" name="Google Shape;891;p20"/>
          <p:cNvCxnSpPr/>
          <p:nvPr/>
        </p:nvCxnSpPr>
        <p:spPr>
          <a:xfrm>
            <a:off x="0" y="64008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92" name="Google Shape;892;p20"/>
          <p:cNvCxnSpPr/>
          <p:nvPr/>
        </p:nvCxnSpPr>
        <p:spPr>
          <a:xfrm>
            <a:off x="0" y="6858000"/>
            <a:ext cx="12188952" cy="0"/>
          </a:xfrm>
          <a:prstGeom prst="straightConnector1">
            <a:avLst/>
          </a:prstGeom>
          <a:noFill/>
          <a:ln cap="flat" cmpd="sng" w="9525">
            <a:solidFill>
              <a:srgbClr val="2A4870"/>
            </a:solidFill>
            <a:prstDash val="solid"/>
            <a:round/>
            <a:headEnd len="sm" w="sm" type="none"/>
            <a:tailEnd len="sm" w="sm" type="none"/>
          </a:ln>
        </p:spPr>
      </p:cxnSp>
      <p:cxnSp>
        <p:nvCxnSpPr>
          <p:cNvPr id="893" name="Google Shape;893;p20"/>
          <p:cNvCxnSpPr/>
          <p:nvPr/>
        </p:nvCxnSpPr>
        <p:spPr>
          <a:xfrm>
            <a:off x="502920" y="640080"/>
            <a:ext cx="274320" cy="0"/>
          </a:xfrm>
          <a:prstGeom prst="straightConnector1">
            <a:avLst/>
          </a:prstGeom>
          <a:noFill/>
          <a:ln cap="flat" cmpd="sng" w="12700">
            <a:solidFill>
              <a:srgbClr val="5B9573"/>
            </a:solidFill>
            <a:prstDash val="solid"/>
            <a:round/>
            <a:headEnd len="sm" w="sm" type="none"/>
            <a:tailEnd len="sm" w="sm" type="none"/>
          </a:ln>
        </p:spPr>
      </p:cxnSp>
      <p:cxnSp>
        <p:nvCxnSpPr>
          <p:cNvPr id="894" name="Google Shape;894;p20"/>
          <p:cNvCxnSpPr/>
          <p:nvPr/>
        </p:nvCxnSpPr>
        <p:spPr>
          <a:xfrm>
            <a:off x="640080" y="502920"/>
            <a:ext cx="0" cy="274320"/>
          </a:xfrm>
          <a:prstGeom prst="straightConnector1">
            <a:avLst/>
          </a:prstGeom>
          <a:noFill/>
          <a:ln cap="flat" cmpd="sng" w="12700">
            <a:solidFill>
              <a:srgbClr val="5B9573"/>
            </a:solidFill>
            <a:prstDash val="solid"/>
            <a:round/>
            <a:headEnd len="sm" w="sm" type="none"/>
            <a:tailEnd len="sm" w="sm" type="none"/>
          </a:ln>
        </p:spPr>
      </p:cxnSp>
      <p:sp>
        <p:nvSpPr>
          <p:cNvPr id="895" name="Google Shape;895;p20"/>
          <p:cNvSpPr/>
          <p:nvPr/>
        </p:nvSpPr>
        <p:spPr>
          <a:xfrm>
            <a:off x="617220" y="617220"/>
            <a:ext cx="45720" cy="4572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896" name="Google Shape;896;p20"/>
          <p:cNvCxnSpPr/>
          <p:nvPr/>
        </p:nvCxnSpPr>
        <p:spPr>
          <a:xfrm>
            <a:off x="11411712" y="640080"/>
            <a:ext cx="274320" cy="0"/>
          </a:xfrm>
          <a:prstGeom prst="straightConnector1">
            <a:avLst/>
          </a:prstGeom>
          <a:noFill/>
          <a:ln cap="flat" cmpd="sng" w="12700">
            <a:solidFill>
              <a:srgbClr val="5B9573"/>
            </a:solidFill>
            <a:prstDash val="solid"/>
            <a:round/>
            <a:headEnd len="sm" w="sm" type="none"/>
            <a:tailEnd len="sm" w="sm" type="none"/>
          </a:ln>
        </p:spPr>
      </p:cxnSp>
      <p:cxnSp>
        <p:nvCxnSpPr>
          <p:cNvPr id="897" name="Google Shape;897;p20"/>
          <p:cNvCxnSpPr/>
          <p:nvPr/>
        </p:nvCxnSpPr>
        <p:spPr>
          <a:xfrm>
            <a:off x="11548872" y="502920"/>
            <a:ext cx="0" cy="274320"/>
          </a:xfrm>
          <a:prstGeom prst="straightConnector1">
            <a:avLst/>
          </a:prstGeom>
          <a:noFill/>
          <a:ln cap="flat" cmpd="sng" w="12700">
            <a:solidFill>
              <a:srgbClr val="5B9573"/>
            </a:solidFill>
            <a:prstDash val="solid"/>
            <a:round/>
            <a:headEnd len="sm" w="sm" type="none"/>
            <a:tailEnd len="sm" w="sm" type="none"/>
          </a:ln>
        </p:spPr>
      </p:cxnSp>
      <p:sp>
        <p:nvSpPr>
          <p:cNvPr id="898" name="Google Shape;898;p20"/>
          <p:cNvSpPr/>
          <p:nvPr/>
        </p:nvSpPr>
        <p:spPr>
          <a:xfrm>
            <a:off x="11526012" y="617220"/>
            <a:ext cx="45720" cy="4572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899" name="Google Shape;899;p20"/>
          <p:cNvCxnSpPr/>
          <p:nvPr/>
        </p:nvCxnSpPr>
        <p:spPr>
          <a:xfrm>
            <a:off x="502920" y="6217920"/>
            <a:ext cx="274320" cy="0"/>
          </a:xfrm>
          <a:prstGeom prst="straightConnector1">
            <a:avLst/>
          </a:prstGeom>
          <a:noFill/>
          <a:ln cap="flat" cmpd="sng" w="12700">
            <a:solidFill>
              <a:srgbClr val="5B9573"/>
            </a:solidFill>
            <a:prstDash val="solid"/>
            <a:round/>
            <a:headEnd len="sm" w="sm" type="none"/>
            <a:tailEnd len="sm" w="sm" type="none"/>
          </a:ln>
        </p:spPr>
      </p:cxnSp>
      <p:cxnSp>
        <p:nvCxnSpPr>
          <p:cNvPr id="900" name="Google Shape;900;p20"/>
          <p:cNvCxnSpPr/>
          <p:nvPr/>
        </p:nvCxnSpPr>
        <p:spPr>
          <a:xfrm>
            <a:off x="640080" y="6080760"/>
            <a:ext cx="0" cy="274320"/>
          </a:xfrm>
          <a:prstGeom prst="straightConnector1">
            <a:avLst/>
          </a:prstGeom>
          <a:noFill/>
          <a:ln cap="flat" cmpd="sng" w="12700">
            <a:solidFill>
              <a:srgbClr val="5B9573"/>
            </a:solidFill>
            <a:prstDash val="solid"/>
            <a:round/>
            <a:headEnd len="sm" w="sm" type="none"/>
            <a:tailEnd len="sm" w="sm" type="none"/>
          </a:ln>
        </p:spPr>
      </p:cxnSp>
      <p:sp>
        <p:nvSpPr>
          <p:cNvPr id="901" name="Google Shape;901;p20"/>
          <p:cNvSpPr/>
          <p:nvPr/>
        </p:nvSpPr>
        <p:spPr>
          <a:xfrm>
            <a:off x="617220" y="6195060"/>
            <a:ext cx="45720" cy="4572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902" name="Google Shape;902;p20"/>
          <p:cNvCxnSpPr/>
          <p:nvPr/>
        </p:nvCxnSpPr>
        <p:spPr>
          <a:xfrm>
            <a:off x="11411712" y="6217920"/>
            <a:ext cx="274320" cy="0"/>
          </a:xfrm>
          <a:prstGeom prst="straightConnector1">
            <a:avLst/>
          </a:prstGeom>
          <a:noFill/>
          <a:ln cap="flat" cmpd="sng" w="12700">
            <a:solidFill>
              <a:srgbClr val="5B9573"/>
            </a:solidFill>
            <a:prstDash val="solid"/>
            <a:round/>
            <a:headEnd len="sm" w="sm" type="none"/>
            <a:tailEnd len="sm" w="sm" type="none"/>
          </a:ln>
        </p:spPr>
      </p:cxnSp>
      <p:cxnSp>
        <p:nvCxnSpPr>
          <p:cNvPr id="903" name="Google Shape;903;p20"/>
          <p:cNvCxnSpPr/>
          <p:nvPr/>
        </p:nvCxnSpPr>
        <p:spPr>
          <a:xfrm>
            <a:off x="11548872" y="6080760"/>
            <a:ext cx="0" cy="274320"/>
          </a:xfrm>
          <a:prstGeom prst="straightConnector1">
            <a:avLst/>
          </a:prstGeom>
          <a:noFill/>
          <a:ln cap="flat" cmpd="sng" w="12700">
            <a:solidFill>
              <a:srgbClr val="5B9573"/>
            </a:solidFill>
            <a:prstDash val="solid"/>
            <a:round/>
            <a:headEnd len="sm" w="sm" type="none"/>
            <a:tailEnd len="sm" w="sm" type="none"/>
          </a:ln>
        </p:spPr>
      </p:cxnSp>
      <p:sp>
        <p:nvSpPr>
          <p:cNvPr id="904" name="Google Shape;904;p20"/>
          <p:cNvSpPr/>
          <p:nvPr/>
        </p:nvSpPr>
        <p:spPr>
          <a:xfrm>
            <a:off x="11526012" y="6195060"/>
            <a:ext cx="45720" cy="4572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05" name="Google Shape;905;p20"/>
          <p:cNvGrpSpPr/>
          <p:nvPr/>
        </p:nvGrpSpPr>
        <p:grpSpPr>
          <a:xfrm>
            <a:off x="914400" y="2697480"/>
            <a:ext cx="10744200" cy="1463040"/>
            <a:chOff x="914400" y="2834640"/>
            <a:chExt cx="10744200" cy="1463040"/>
          </a:xfrm>
        </p:grpSpPr>
        <p:sp>
          <p:nvSpPr>
            <p:cNvPr id="906" name="Google Shape;906;p20"/>
            <p:cNvSpPr/>
            <p:nvPr/>
          </p:nvSpPr>
          <p:spPr>
            <a:xfrm>
              <a:off x="914400" y="2834640"/>
              <a:ext cx="36576" cy="1463040"/>
            </a:xfrm>
            <a:prstGeom prst="rect">
              <a:avLst/>
            </a:prstGeom>
            <a:solidFill>
              <a:srgbClr val="5B9573"/>
            </a:solidFill>
            <a:ln cap="flat" cmpd="sng" w="12700">
              <a:solidFill>
                <a:srgbClr val="5B95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7" name="Google Shape;907;p20"/>
            <p:cNvSpPr/>
            <p:nvPr/>
          </p:nvSpPr>
          <p:spPr>
            <a:xfrm>
              <a:off x="1143000" y="2880360"/>
              <a:ext cx="105156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400"/>
                <a:buFont typeface="Arial"/>
                <a:buNone/>
              </a:pPr>
              <a:r>
                <a:rPr b="1" lang="en-US" sz="6400">
                  <a:solidFill>
                    <a:srgbClr val="FFFFFF"/>
                  </a:solidFill>
                  <a:latin typeface="Arial"/>
                  <a:ea typeface="Arial"/>
                  <a:cs typeface="Arial"/>
                  <a:sym typeface="Arial"/>
                </a:rPr>
                <a:t>Questions?</a:t>
              </a:r>
              <a:endParaRPr sz="6400">
                <a:solidFill>
                  <a:schemeClr val="dk1"/>
                </a:solidFill>
                <a:latin typeface="Calibri"/>
                <a:ea typeface="Calibri"/>
                <a:cs typeface="Calibri"/>
                <a:sym typeface="Calibri"/>
              </a:endParaRPr>
            </a:p>
          </p:txBody>
        </p:sp>
      </p:grpSp>
      <p:sp>
        <p:nvSpPr>
          <p:cNvPr id="908" name="Google Shape;908;p20"/>
          <p:cNvSpPr/>
          <p:nvPr/>
        </p:nvSpPr>
        <p:spPr>
          <a:xfrm>
            <a:off x="914400" y="5989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800">
                <a:solidFill>
                  <a:srgbClr val="5B9573"/>
                </a:solidFill>
                <a:latin typeface="Arial"/>
                <a:ea typeface="Arial"/>
                <a:cs typeface="Arial"/>
                <a:sym typeface="Arial"/>
              </a:rPr>
              <a:t>THANK YOU</a:t>
            </a:r>
            <a:endParaRPr sz="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2026-04-26T10:36:45Z</dcterms:created>
  <dc:creator>Mohamad Gong, Danish Azmi, Keane Albright, Brian Park</dc:creator>
</cp:coreProperties>
</file>